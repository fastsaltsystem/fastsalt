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3000000001" r:id="rId2"/>
  </p:sldMasterIdLst>
  <p:notesMasterIdLst>
    <p:notesMasterId r:id="rId25"/>
  </p:notesMasterIdLst>
  <p:sldIdLst>
    <p:sldId id="601" r:id="rId3"/>
    <p:sldId id="602" r:id="rId4"/>
    <p:sldId id="611" r:id="rId5"/>
    <p:sldId id="612" r:id="rId6"/>
    <p:sldId id="613" r:id="rId7"/>
    <p:sldId id="614" r:id="rId8"/>
    <p:sldId id="615" r:id="rId9"/>
    <p:sldId id="603" r:id="rId10"/>
    <p:sldId id="604" r:id="rId11"/>
    <p:sldId id="605" r:id="rId12"/>
    <p:sldId id="606" r:id="rId13"/>
    <p:sldId id="607" r:id="rId14"/>
    <p:sldId id="608" r:id="rId15"/>
    <p:sldId id="609" r:id="rId16"/>
    <p:sldId id="610" r:id="rId17"/>
    <p:sldId id="616" r:id="rId18"/>
    <p:sldId id="617" r:id="rId19"/>
    <p:sldId id="618" r:id="rId20"/>
    <p:sldId id="619" r:id="rId21"/>
    <p:sldId id="621" r:id="rId22"/>
    <p:sldId id="622" r:id="rId23"/>
    <p:sldId id="62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73"/>
    <p:restoredTop sz="78219"/>
  </p:normalViewPr>
  <p:slideViewPr>
    <p:cSldViewPr snapToGrid="0">
      <p:cViewPr varScale="1">
        <p:scale>
          <a:sx n="98" d="100"/>
          <a:sy n="98" d="100"/>
        </p:scale>
        <p:origin x="14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Today I will concentrate on the physical development: the core and vessel, maintenance access, the coolant system and the plant arrangement. We will also include University of Michigan safety-case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project investigates converting spent nuclear fuel into a crude salt feed, refining it into reactor fuel, using that fuel in WISTR, and recycling returned fuel. A separate molten-salt coolant transfers heat to the steam generators and power plant. </a:t>
            </a:r>
            <a:r>
              <a:rPr lang="en-US" dirty="0"/>
              <a:t>First I will review work done on safety analysis done at the University of Michigan.  Then I will talk about developing the core, reactor building and power plant details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dirty="0"/>
              <a:t>Extensive safety case analysis was done by post-doc Hangyu Lee in Won Sik Yang’s group at the University of Michigan.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dirty="0"/>
              <a:t>The system dynamics was modelled using</a:t>
            </a:r>
            <a:r>
              <a:rPr dirty="0"/>
              <a:t> SAM. </a:t>
            </a:r>
            <a:r>
              <a:rPr lang="en-US" dirty="0"/>
              <a:t> The steam generators and reactor vessels have integral air cooling.  There were 5 accident scenarios in which the the core was not scrammed: </a:t>
            </a:r>
            <a:r>
              <a:rPr dirty="0"/>
              <a:t>UTOP </a:t>
            </a:r>
            <a:r>
              <a:rPr lang="en-US" dirty="0"/>
              <a:t>or U</a:t>
            </a:r>
            <a:r>
              <a:rPr dirty="0"/>
              <a:t>nprotected </a:t>
            </a:r>
            <a:r>
              <a:rPr lang="en-US" dirty="0"/>
              <a:t>T</a:t>
            </a:r>
            <a:r>
              <a:rPr dirty="0"/>
              <a:t>ransient </a:t>
            </a:r>
            <a:r>
              <a:rPr lang="en-US" dirty="0"/>
              <a:t>O</a:t>
            </a:r>
            <a:r>
              <a:rPr dirty="0"/>
              <a:t>ver</a:t>
            </a:r>
            <a:r>
              <a:rPr lang="en-US" dirty="0"/>
              <a:t> Po</a:t>
            </a:r>
            <a:r>
              <a:rPr dirty="0"/>
              <a:t>wer</a:t>
            </a:r>
            <a:r>
              <a:rPr lang="en-US" dirty="0"/>
              <a:t> in which a weeks worth of fuel was instantaneously injected into the reactor</a:t>
            </a:r>
            <a:r>
              <a:rPr dirty="0"/>
              <a:t>, UPOS </a:t>
            </a:r>
            <a:r>
              <a:rPr lang="en-US" dirty="0"/>
              <a:t>or</a:t>
            </a:r>
            <a:r>
              <a:rPr dirty="0"/>
              <a:t> </a:t>
            </a:r>
            <a:r>
              <a:rPr lang="en-US" dirty="0"/>
              <a:t>U</a:t>
            </a:r>
            <a:r>
              <a:rPr dirty="0"/>
              <a:t>nprotected </a:t>
            </a:r>
            <a:r>
              <a:rPr lang="en-US" dirty="0"/>
              <a:t>P</a:t>
            </a:r>
            <a:r>
              <a:rPr dirty="0"/>
              <a:t>ump </a:t>
            </a:r>
            <a:r>
              <a:rPr lang="en-US" dirty="0"/>
              <a:t>O</a:t>
            </a:r>
            <a:r>
              <a:rPr dirty="0"/>
              <a:t>verspeed</a:t>
            </a:r>
            <a:r>
              <a:rPr lang="en-US" dirty="0"/>
              <a:t> where the power to the on or all pumps is doubled over 5 seconds</a:t>
            </a:r>
            <a:r>
              <a:rPr dirty="0"/>
              <a:t>, and ULOF </a:t>
            </a:r>
            <a:r>
              <a:rPr lang="en-US" dirty="0"/>
              <a:t>or</a:t>
            </a:r>
            <a:r>
              <a:rPr dirty="0"/>
              <a:t> </a:t>
            </a:r>
            <a:r>
              <a:rPr lang="en-US" dirty="0"/>
              <a:t>U</a:t>
            </a:r>
            <a:r>
              <a:rPr dirty="0"/>
              <a:t>nprotected </a:t>
            </a:r>
            <a:r>
              <a:rPr lang="en-US" dirty="0"/>
              <a:t>L</a:t>
            </a:r>
            <a:r>
              <a:rPr dirty="0"/>
              <a:t>oss of </a:t>
            </a:r>
            <a:r>
              <a:rPr lang="en-US" dirty="0"/>
              <a:t>F</a:t>
            </a:r>
            <a:r>
              <a:rPr dirty="0"/>
              <a:t>low</a:t>
            </a:r>
            <a:r>
              <a:rPr lang="en-US" dirty="0"/>
              <a:t> where one or all the pumps are stopped over 5 seconds.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dirty="0"/>
              <a:t>None of the unprotected scenarios resulted in the stainless-steel structure exceeding the design temperature limit.  The most stressful scenario was the loss of flow in all three pumps.  Even in this scenario, the temperature only briefly approaches its limit.  Not shown are the temperatures of fuel and coolant which easily  stayed within their limits.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dirty="0"/>
              <a:t>This is the result of a station blackout with the reactor scrammed (which is automatic on loss of power).  The temperature decreases for nearly three minutes and then gradually increases until decay heat reduces to the heat removal capacity of the steam generator air coolers and the reactor vessel air cooler.  The peak is reached after about 10 hours and decreases thereafter.  At no point does the fuel or coolant freeze.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en-US" dirty="0"/>
              <a:t>The WISTR demonstrates the ability to withstand transient accident scenarios without a scam.  After a scram, passive air cooling can keep the reactor within safe limits even with no station power.</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details.  </a:t>
            </a:r>
            <a:r>
              <a:rPr dirty="0"/>
              <a:t>The active core is 3.4 meters high and 3.8 meters in diameter. </a:t>
            </a:r>
            <a:r>
              <a:rPr lang="en-US" dirty="0"/>
              <a:t>Coolant flows through tubes within the fuel tanks. There are six sectors and</a:t>
            </a:r>
            <a:r>
              <a:rPr dirty="0"/>
              <a:t> six fuel regions within each</a:t>
            </a:r>
            <a:r>
              <a:rPr lang="en-US" dirty="0"/>
              <a:t> sector.  The six sectors allow convenient maintenance of the core.  Having six regions within them helps minimize the power peak and increases the overall power available.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Coolant enters the side of the vessel below the hot plenum, descends around the core, turns inward through the bottom plenum, and rises through the bottom reflector, coolant tubes and top reflector. The hot plenum distributes flow to the outlet legs. The</a:t>
            </a:r>
            <a:r>
              <a:rPr lang="en-US" dirty="0"/>
              <a:t>re are </a:t>
            </a:r>
            <a:r>
              <a:rPr dirty="0"/>
              <a:t>three coolant loops. </a:t>
            </a:r>
            <a:r>
              <a:rPr lang="en-US" dirty="0"/>
              <a:t>The section also exposes the Reactor Vessel Auxiliary Cooling System with its air path around the vessel.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narrow tanks sit between the core sectors. Each assembly has a primary and secondary chamber, each served by its own external reservoir and pressure module. Orange shows the tank envelopes and blue the service-tube</a:t>
            </a:r>
            <a:r>
              <a:rPr lang="en-US" dirty="0"/>
              <a:t>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maintenance concept strongly influences the vessel geometry. After shutdown, draining and service disconnection, the insulation and sector cap are removed</a:t>
            </a:r>
            <a:r>
              <a:rPr lang="en-US" dirty="0"/>
              <a:t> using the crane and a specially designed</a:t>
            </a:r>
            <a:r>
              <a:rPr dirty="0"/>
              <a:t> </a:t>
            </a:r>
            <a:r>
              <a:rPr lang="en-US" dirty="0"/>
              <a:t>tool.  The crane raises the sector, and t</a:t>
            </a:r>
            <a:r>
              <a:rPr dirty="0"/>
              <a:t>he four-bar linkage </a:t>
            </a:r>
            <a:r>
              <a:rPr lang="en-US" dirty="0"/>
              <a:t>moves it </a:t>
            </a:r>
            <a:r>
              <a:rPr dirty="0"/>
              <a:t>toward the vessel wall, where latches hold </a:t>
            </a:r>
            <a:r>
              <a:rPr lang="en-US" dirty="0"/>
              <a:t>it in </a:t>
            </a:r>
            <a:r>
              <a:rPr dirty="0"/>
              <a:t>the maintenance position. The top reflector and core can then be lifted separately. The left image shows the raised assembly and the right shows core removal. The hook arrangements </a:t>
            </a:r>
            <a:r>
              <a:rPr lang="en-US" dirty="0"/>
              <a:t>on the  insulated cap, top reflector, and core sector permit the </a:t>
            </a:r>
            <a:r>
              <a:rPr dirty="0"/>
              <a:t>use </a:t>
            </a:r>
            <a:r>
              <a:rPr lang="en-US" dirty="0"/>
              <a:t>of a </a:t>
            </a:r>
            <a:r>
              <a:rPr dirty="0"/>
              <a:t>common lifting tooling</a:t>
            </a:r>
            <a:r>
              <a:rPr lang="en-US" dirty="0"/>
              <a:t> that can be engaged and disengaged remotely.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t>
            </a:r>
            <a:r>
              <a:rPr dirty="0"/>
              <a:t>three steam generators</a:t>
            </a:r>
            <a:r>
              <a:rPr lang="en-US" dirty="0"/>
              <a:t> and </a:t>
            </a:r>
            <a:r>
              <a:rPr dirty="0"/>
              <a:t> cold-leg pumps </a:t>
            </a:r>
            <a:r>
              <a:rPr lang="en-US" dirty="0"/>
              <a:t>with</a:t>
            </a:r>
            <a:r>
              <a:rPr dirty="0"/>
              <a:t> large insulated salt pipes. </a:t>
            </a:r>
            <a:r>
              <a:rPr lang="en-US" dirty="0"/>
              <a:t>The salt pipes are approximately 1.4 m in diameter.  </a:t>
            </a:r>
            <a:r>
              <a:rPr dirty="0"/>
              <a:t>The coolant tank </a:t>
            </a:r>
            <a:r>
              <a:rPr lang="en-US" dirty="0"/>
              <a:t>may need to store the entire inventory of coolant salt during maintenance and is in </a:t>
            </a:r>
            <a:r>
              <a:rPr dirty="0"/>
              <a:t>an attached enclosure near </a:t>
            </a:r>
            <a:r>
              <a:rPr lang="en-US" dirty="0"/>
              <a:t>the </a:t>
            </a:r>
            <a:r>
              <a:rPr dirty="0"/>
              <a:t>coolant preparation</a:t>
            </a:r>
            <a:r>
              <a:rPr lang="en-US" dirty="0"/>
              <a:t> area</a:t>
            </a:r>
            <a:r>
              <a:rPr dirty="0"/>
              <a:t>. The model also provides room for fuel maintenance tanks, </a:t>
            </a:r>
            <a:r>
              <a:rPr lang="en-US" dirty="0"/>
              <a:t>absorber </a:t>
            </a:r>
            <a:r>
              <a:rPr dirty="0"/>
              <a:t>service modules, the catwalk and temporary laydown during maintenance. Hot and cold air ducts serve the vessel and other equipment. The steam-generator casing remains a provisional </a:t>
            </a:r>
            <a:r>
              <a:rPr lang="en-US" dirty="0"/>
              <a:t>17-meter</a:t>
            </a:r>
            <a:r>
              <a:rPr dirty="0"/>
              <a:t> visual envelope, distinct from the approximately </a:t>
            </a:r>
            <a:r>
              <a:rPr lang="en-US" dirty="0"/>
              <a:t>11.92-meter</a:t>
            </a:r>
            <a:r>
              <a:rPr dirty="0"/>
              <a:t> active length in the recent hydraulic workbook. </a:t>
            </a:r>
          </a:p>
          <a:p>
            <a:r>
              <a:rPr dirty="0"/>
              <a:t>Here is how those components fit inside the reactor building: the reactor and maintenance walkway in the center, surrounded by three steam generators, pumps, and the fuel-handling equipment.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is the same coolant system in a different view. The 3D model shows where the reactor, steam generators and pumps fit. The P&amp;ID records their connections, valves and instruments. Follow one hot line from the reactor to a steam generator, then the return through its pump. The other two loops repeat that arrangement. We use common equipment identifiers to connect these 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preliminary power conversion is a steam cycle with steam reheat between high pressure turbine and intermediate turbine.  It uses a portion of the steam from the steam generators for reheat.  It uses feedwater heaters to raise the input temperature to the steam generators to minimize the likelihood of freezing salt and raise overall efficiency The high-pressure boiler feed pump is </a:t>
            </a:r>
            <a:r>
              <a:rPr dirty="0"/>
              <a:t>motor-driven</a:t>
            </a:r>
            <a:r>
              <a:rPr lang="en-US" dirty="0"/>
              <a:t>, requires significant power, and raises the pressure to supercritical pressure of 24 MPa.  The estimated power output is around 670 MW for an efficiency of 44.7%.</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power-plant model now includes turbine casings, generators, condensers, reheaters, feedwater equipment and the principal piping paths. The selected draft uses motor-driven boiler feed pumps. Equipment exteriors </a:t>
            </a:r>
            <a:r>
              <a:rPr lang="en-US" dirty="0"/>
              <a:t>are</a:t>
            </a:r>
            <a:r>
              <a:rPr dirty="0"/>
              <a:t> illustrative, and the cycle calculation is preliminary.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dirty="0"/>
              <a:t>his as an iterative working process. I give the </a:t>
            </a:r>
            <a:r>
              <a:rPr lang="en-US" dirty="0"/>
              <a:t>EI</a:t>
            </a:r>
            <a:r>
              <a:rPr dirty="0"/>
              <a:t> </a:t>
            </a:r>
            <a:r>
              <a:rPr lang="en-US" dirty="0"/>
              <a:t>initial calculations, </a:t>
            </a:r>
            <a:r>
              <a:rPr dirty="0"/>
              <a:t>concrete requirement</a:t>
            </a:r>
            <a:r>
              <a:rPr lang="en-US" dirty="0"/>
              <a:t>s or goals</a:t>
            </a:r>
            <a:r>
              <a:rPr dirty="0"/>
              <a:t>. </a:t>
            </a:r>
            <a:r>
              <a:rPr lang="en-US" dirty="0"/>
              <a:t>It </a:t>
            </a:r>
            <a:r>
              <a:rPr dirty="0"/>
              <a:t>edits source files and produces a model view or readable calculation. I inspect it, correct the assumptions and ask for </a:t>
            </a:r>
            <a:r>
              <a:rPr lang="en-US" dirty="0"/>
              <a:t>more </a:t>
            </a:r>
            <a:r>
              <a:rPr dirty="0"/>
              <a:t>revision. The useful output is the working material that we can inspect and rerun. Git commits and pull requests let collaborators see exactly what changed.</a:t>
            </a:r>
            <a:r>
              <a:rPr lang="en-US" dirty="0"/>
              <a:t>  This is highly productive. What would take an engineering team weeks, can be accomplished in minutes.  It is really astounding.  The 3D design that you are seeing took a matter of about 2 weeks to accomplish by a single individual and CODEX (ChaGPT-6 Astra).</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tools </a:t>
            </a:r>
            <a:r>
              <a:rPr lang="en-US" dirty="0"/>
              <a:t>used are all open source, free to use, and ease EI and human collaboration.  </a:t>
            </a:r>
            <a:r>
              <a:rPr dirty="0"/>
              <a:t>Markdown </a:t>
            </a:r>
            <a:r>
              <a:rPr lang="en-US" dirty="0"/>
              <a:t>is easy to write, is presentable,</a:t>
            </a:r>
            <a:r>
              <a:rPr dirty="0"/>
              <a:t> and easy to compare between revisions. </a:t>
            </a:r>
            <a:r>
              <a:rPr dirty="0" err="1"/>
              <a:t>Hurmet</a:t>
            </a:r>
            <a:r>
              <a:rPr lang="en-US" dirty="0"/>
              <a:t> makes calculations easy, while showing the equations and results in Markdown files.</a:t>
            </a:r>
            <a:r>
              <a:rPr dirty="0"/>
              <a:t>. Python generates repeated geometry and supports calculation checks. </a:t>
            </a:r>
            <a:r>
              <a:rPr lang="en-US" dirty="0"/>
              <a:t>. Visual Studio code is programmer tool used for examining changes in the code and markdown files. </a:t>
            </a:r>
            <a:r>
              <a:rPr dirty="0"/>
              <a:t>Blender is the interactive inspection and rendering environment. GitHub makes the sources and review history available to the team. </a:t>
            </a:r>
            <a:r>
              <a:rPr lang="en-US" dirty="0"/>
              <a:t>  TOML is a specification language that can be used as a common resource for different tools.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dirty="0"/>
              <a:t>he University of Michigan NERS team </a:t>
            </a:r>
            <a:r>
              <a:rPr lang="en-US" dirty="0"/>
              <a:t>work on the </a:t>
            </a:r>
            <a:r>
              <a:rPr dirty="0"/>
              <a:t>neutronics and safety-case</a:t>
            </a:r>
            <a:r>
              <a:rPr lang="en-US" dirty="0"/>
              <a:t>s</a:t>
            </a:r>
            <a:r>
              <a:rPr dirty="0"/>
              <a:t> and Michigan State University students </a:t>
            </a:r>
            <a:r>
              <a:rPr lang="en-US" dirty="0"/>
              <a:t>are working on</a:t>
            </a:r>
            <a:r>
              <a:rPr dirty="0"/>
              <a:t> the steam-generator project. </a:t>
            </a:r>
            <a:r>
              <a:rPr lang="en-US" dirty="0"/>
              <a:t>Anyone can review the work done and make comments.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t>
            </a:r>
            <a:r>
              <a:rPr dirty="0" err="1"/>
              <a:t>fastSalt</a:t>
            </a:r>
            <a:r>
              <a:rPr dirty="0"/>
              <a:t> repository contains design records, calculations and studies. </a:t>
            </a:r>
            <a:r>
              <a:rPr dirty="0" err="1"/>
              <a:t>fastSaltModels</a:t>
            </a:r>
            <a:r>
              <a:rPr dirty="0"/>
              <a:t> contains the Python and Blender sources and preserved model results. Both repositories are publicly readable. </a:t>
            </a:r>
            <a:r>
              <a:rPr lang="en-US" dirty="0"/>
              <a:t>Start at the </a:t>
            </a:r>
            <a:r>
              <a:rPr dirty="0"/>
              <a:t>README and results pages first. Changes can be proposed and reviewed through GitHub.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93B9389-CF40-4FE3-AFB9-556D70A9418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35A1FFFF-7AA0-4B3A-A05E-543D18C48F6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7A0728C-A79B-4514-963E-26726C9959F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F317963-553B-4490-8958-64DA26460B7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AB47FA80-22A3-477C-8736-94C9D0E5164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AD19A14-7B20-41E7-829C-6426BE7AEB4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CF9374B-31E6-412E-BBED-90B10B6FE8F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A6305C6-8BEE-47DF-AA0C-10F6D0D67BD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D91C090-3558-45BC-98E2-38DDABB9ED1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5A25ED5-9D8D-4517-A57E-C1BA3649BA5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452636" y="2524376"/>
            <a:ext cx="9144000" cy="544765"/>
          </a:xfrm>
          <a:prstGeom prst="rect">
            <a:avLst/>
          </a:prstGeom>
        </p:spPr>
        <p:txBody>
          <a:bodyPr anchor="b"/>
          <a:lstStyle>
            <a:lvl1pPr algn="r">
              <a:defRPr sz="3600" b="1" baseline="0">
                <a:effectLst>
                  <a:innerShdw blurRad="63500" dist="50800" dir="2700000">
                    <a:prstClr val="black">
                      <a:alpha val="50000"/>
                    </a:prstClr>
                  </a:innerShdw>
                </a:effectLst>
              </a:defRPr>
            </a:lvl1pPr>
          </a:lstStyle>
          <a:p>
            <a:r>
              <a:rPr lang="en-US" dirty="0"/>
              <a:t>PRESENTATION TITLE</a:t>
            </a:r>
          </a:p>
        </p:txBody>
      </p:sp>
      <p:sp>
        <p:nvSpPr>
          <p:cNvPr id="3" name="Subtitle 2"/>
          <p:cNvSpPr>
            <a:spLocks noGrp="1"/>
          </p:cNvSpPr>
          <p:nvPr>
            <p:ph type="subTitle" idx="1" hasCustomPrompt="1"/>
          </p:nvPr>
        </p:nvSpPr>
        <p:spPr>
          <a:xfrm>
            <a:off x="1452636" y="3112673"/>
            <a:ext cx="9144000" cy="443326"/>
          </a:xfrm>
          <a:prstGeom prst="rect">
            <a:avLst/>
          </a:prstGeom>
        </p:spPr>
        <p:txBody>
          <a:bodyPr/>
          <a:lstStyle>
            <a:lvl1pPr marL="0" indent="0" algn="r">
              <a:buNone/>
              <a:defRPr sz="1500" baseline="0">
                <a:solidFill>
                  <a:schemeClr val="bg1">
                    <a:lumMod val="50000"/>
                  </a:schemeClr>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dirty="0"/>
              <a:t>Presenter 1, Presenter 2, Presenter 3, etc… </a:t>
            </a:r>
          </a:p>
        </p:txBody>
      </p:sp>
      <p:sp>
        <p:nvSpPr>
          <p:cNvPr id="7" name="TextBox 6"/>
          <p:cNvSpPr txBox="1"/>
          <p:nvPr userDrawn="1"/>
        </p:nvSpPr>
        <p:spPr>
          <a:xfrm>
            <a:off x="1452636" y="3555999"/>
            <a:ext cx="9144000" cy="300082"/>
          </a:xfrm>
          <a:prstGeom prst="rect">
            <a:avLst/>
          </a:prstGeom>
          <a:noFill/>
        </p:spPr>
        <p:txBody>
          <a:bodyPr wrap="square" rtlCol="0">
            <a:spAutoFit/>
          </a:bodyPr>
          <a:lstStyle/>
          <a:p>
            <a:pPr algn="r"/>
            <a:fld id="{B4C7E60D-03EA-4D13-AE32-EF0D96B78AA5}" type="datetime4">
              <a:rPr lang="en-US" sz="1350" smtClean="0">
                <a:solidFill>
                  <a:schemeClr val="bg1">
                    <a:lumMod val="50000"/>
                  </a:schemeClr>
                </a:solidFill>
              </a:rPr>
              <a:pPr algn="r"/>
              <a:t>October 25, 2026</a:t>
            </a:fld>
            <a:endParaRPr lang="en-US" sz="1350" dirty="0">
              <a:solidFill>
                <a:schemeClr val="bg1">
                  <a:lumMod val="50000"/>
                </a:schemeClr>
              </a:solidFill>
            </a:endParaRPr>
          </a:p>
        </p:txBody>
      </p:sp>
    </p:spTree>
    <p:extLst>
      <p:ext uri="{BB962C8B-B14F-4D97-AF65-F5344CB8AC3E}">
        <p14:creationId xmlns:p14="http://schemas.microsoft.com/office/powerpoint/2010/main" val="923772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C4F591-C224-3529-7390-AB6F52891B92}"/>
              </a:ext>
            </a:extLst>
          </p:cNvPr>
          <p:cNvSpPr txBox="1"/>
          <p:nvPr userDrawn="1"/>
        </p:nvSpPr>
        <p:spPr>
          <a:xfrm>
            <a:off x="1524000" y="4866993"/>
            <a:ext cx="9144000" cy="461665"/>
          </a:xfrm>
          <a:prstGeom prst="rect">
            <a:avLst/>
          </a:prstGeom>
          <a:noFill/>
        </p:spPr>
        <p:txBody>
          <a:bodyPr wrap="square" rtlCol="0">
            <a:spAutoFit/>
          </a:bodyPr>
          <a:lstStyle/>
          <a:p>
            <a:pPr algn="ctr"/>
            <a:r>
              <a:rPr lang="en-US" sz="2400" dirty="0">
                <a:solidFill>
                  <a:schemeClr val="bg1"/>
                </a:solidFill>
              </a:rPr>
              <a:t>August 23, 2026</a:t>
            </a:r>
          </a:p>
        </p:txBody>
      </p:sp>
      <p:pic>
        <p:nvPicPr>
          <p:cNvPr id="8" name="Picture 7">
            <a:extLst>
              <a:ext uri="{FF2B5EF4-FFF2-40B4-BE49-F238E27FC236}">
                <a16:creationId xmlns:a16="http://schemas.microsoft.com/office/drawing/2014/main" id="{69A5E045-577A-4FBD-9F4A-FC8DB490F353}"/>
              </a:ext>
            </a:extLst>
          </p:cNvPr>
          <p:cNvPicPr>
            <a:picLocks noChangeAspect="1"/>
          </p:cNvPicPr>
          <p:nvPr userDrawn="1"/>
        </p:nvPicPr>
        <p:blipFill>
          <a:blip r:embed="rId2"/>
          <a:stretch>
            <a:fillRect/>
          </a:stretch>
        </p:blipFill>
        <p:spPr>
          <a:xfrm>
            <a:off x="0" y="0"/>
            <a:ext cx="12192000" cy="6858000"/>
          </a:xfrm>
          <a:prstGeom prst="rect">
            <a:avLst/>
          </a:prstGeom>
          <a:noFill/>
        </p:spPr>
      </p:pic>
      <p:sp>
        <p:nvSpPr>
          <p:cNvPr id="4100" name="Rectangle 4"/>
          <p:cNvSpPr>
            <a:spLocks noGrp="1" noChangeArrowheads="1"/>
          </p:cNvSpPr>
          <p:nvPr>
            <p:ph type="ctrTitle" sz="quarter"/>
          </p:nvPr>
        </p:nvSpPr>
        <p:spPr>
          <a:xfrm>
            <a:off x="2228322" y="2093033"/>
            <a:ext cx="7735357" cy="535531"/>
          </a:xfrm>
          <a:noFill/>
          <a:ln w="12700">
            <a:noFill/>
            <a:miter lim="800000"/>
            <a:headEnd/>
            <a:tailEnd/>
          </a:ln>
          <a:effectLst/>
        </p:spPr>
        <p:txBody>
          <a:bodyPr vert="horz" wrap="square" lIns="91440" tIns="45720" rIns="91440" bIns="45720" numCol="1" anchor="t" anchorCtr="0" compatLnSpc="1">
            <a:prstTxWarp prst="textNoShape">
              <a:avLst/>
            </a:prstTxWarp>
            <a:spAutoFit/>
          </a:bodyPr>
          <a:lstStyle>
            <a:lvl1pPr>
              <a:defRPr lang="en-US" sz="3200" dirty="0">
                <a:ln>
                  <a:noFill/>
                </a:ln>
                <a:solidFill>
                  <a:schemeClr val="bg1"/>
                </a:solidFill>
                <a:effectLst/>
              </a:defRPr>
            </a:lvl1pPr>
          </a:lstStyle>
          <a:p>
            <a:pPr lvl="0"/>
            <a:r>
              <a:rPr lang="en-US" dirty="0"/>
              <a:t>Click to edit Master title style</a:t>
            </a:r>
          </a:p>
        </p:txBody>
      </p:sp>
      <p:sp>
        <p:nvSpPr>
          <p:cNvPr id="4101" name="Rectangle 5"/>
          <p:cNvSpPr>
            <a:spLocks noGrp="1" noChangeArrowheads="1"/>
          </p:cNvSpPr>
          <p:nvPr>
            <p:ph type="subTitle" sz="quarter" idx="1"/>
          </p:nvPr>
        </p:nvSpPr>
        <p:spPr>
          <a:xfrm>
            <a:off x="2218796" y="2890229"/>
            <a:ext cx="7754408" cy="451530"/>
          </a:xfrm>
          <a:ln w="12700"/>
        </p:spPr>
        <p:txBody>
          <a:bodyPr/>
          <a:lstStyle>
            <a:lvl1pPr marL="0" indent="0" algn="ctr">
              <a:lnSpc>
                <a:spcPct val="90000"/>
              </a:lnSpc>
              <a:spcBef>
                <a:spcPct val="0"/>
              </a:spcBef>
              <a:spcAft>
                <a:spcPct val="50000"/>
              </a:spcAft>
              <a:buFont typeface="Wingdings" pitchFamily="27" charset="2"/>
              <a:buNone/>
              <a:defRPr sz="2800" b="1" i="0">
                <a:solidFill>
                  <a:schemeClr val="bg1"/>
                </a:solidFill>
                <a:latin typeface="+mj-lt"/>
              </a:defRPr>
            </a:lvl1pPr>
          </a:lstStyle>
          <a:p>
            <a:r>
              <a:rPr lang="en-US"/>
              <a:t>Click to edit Master subtitle style</a:t>
            </a:r>
            <a:endParaRPr lang="en-US" dirty="0"/>
          </a:p>
        </p:txBody>
      </p:sp>
      <p:sp>
        <p:nvSpPr>
          <p:cNvPr id="4" name="Text Placeholder 3">
            <a:extLst>
              <a:ext uri="{FF2B5EF4-FFF2-40B4-BE49-F238E27FC236}">
                <a16:creationId xmlns:a16="http://schemas.microsoft.com/office/drawing/2014/main" id="{6422C2F9-5A02-C4EA-0C50-A6D464DCC49F}"/>
              </a:ext>
            </a:extLst>
          </p:cNvPr>
          <p:cNvSpPr>
            <a:spLocks noGrp="1"/>
          </p:cNvSpPr>
          <p:nvPr>
            <p:ph type="body" sz="quarter" idx="10" hasCustomPrompt="1"/>
          </p:nvPr>
        </p:nvSpPr>
        <p:spPr>
          <a:xfrm>
            <a:off x="1524000" y="4905708"/>
            <a:ext cx="9144000" cy="461963"/>
          </a:xfrm>
          <a:prstGeom prst="rect">
            <a:avLst/>
          </a:prstGeom>
        </p:spPr>
        <p:txBody>
          <a:bodyPr/>
          <a:lstStyle>
            <a:lvl1pPr marL="0" indent="0" algn="ctr">
              <a:buNone/>
              <a:defRPr sz="2400">
                <a:solidFill>
                  <a:schemeClr val="bg1"/>
                </a:solidFill>
              </a:defRPr>
            </a:lvl1pPr>
          </a:lstStyle>
          <a:p>
            <a:pPr lvl="0"/>
            <a:r>
              <a:rPr lang="en-US" dirty="0"/>
              <a:t>August 23, 2026</a:t>
            </a:r>
          </a:p>
        </p:txBody>
      </p:sp>
    </p:spTree>
    <p:extLst>
      <p:ext uri="{BB962C8B-B14F-4D97-AF65-F5344CB8AC3E}">
        <p14:creationId xmlns:p14="http://schemas.microsoft.com/office/powerpoint/2010/main" val="1269686107"/>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61434" y="874567"/>
            <a:ext cx="11222567" cy="1628138"/>
          </a:xfrm>
          <a:prstGeom prst="rect">
            <a:avLst/>
          </a:prstGeom>
        </p:spPr>
        <p:txBody>
          <a:bodyPr/>
          <a:lstStyle>
            <a:lvl1pPr marL="347663" indent="-347663">
              <a:buClr>
                <a:srgbClr val="C00000"/>
              </a:buClr>
              <a:defRPr sz="1800" baseline="0"/>
            </a:lvl1pPr>
            <a:lvl2pPr>
              <a:buClr>
                <a:srgbClr val="C00000"/>
              </a:buClr>
              <a:defRPr sz="1600" baseline="0"/>
            </a:lvl2pPr>
            <a:lvl3pPr>
              <a:buClr>
                <a:srgbClr val="C00000"/>
              </a:buClr>
              <a:defRPr sz="1400" baseline="0"/>
            </a:lvl3pPr>
            <a:lvl4pPr>
              <a:buClr>
                <a:srgbClr val="C00000"/>
              </a:buClr>
              <a:defRPr sz="1400" baseline="0"/>
            </a:lvl4pPr>
            <a:lvl5pPr>
              <a:buClr>
                <a:srgbClr val="C00000"/>
              </a:buClr>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29">
            <a:extLst>
              <a:ext uri="{FF2B5EF4-FFF2-40B4-BE49-F238E27FC236}">
                <a16:creationId xmlns:a16="http://schemas.microsoft.com/office/drawing/2014/main" id="{40AF3E8A-F870-42AD-9BA0-427B02CBEB9C}"/>
              </a:ext>
            </a:extLst>
          </p:cNvPr>
          <p:cNvSpPr>
            <a:spLocks noChangeArrowheads="1"/>
          </p:cNvSpPr>
          <p:nvPr userDrawn="1"/>
        </p:nvSpPr>
        <p:spPr bwMode="auto">
          <a:xfrm>
            <a:off x="5791200" y="6446432"/>
            <a:ext cx="609600" cy="381000"/>
          </a:xfrm>
          <a:prstGeom prst="rect">
            <a:avLst/>
          </a:prstGeom>
          <a:noFill/>
          <a:ln w="9525">
            <a:noFill/>
            <a:miter lim="800000"/>
            <a:headEnd/>
            <a:tailEnd/>
          </a:ln>
          <a:effectLst/>
        </p:spPr>
        <p:txBody>
          <a:bodyPr/>
          <a:lstStyle/>
          <a:p>
            <a:pPr algn="r">
              <a:defRPr/>
            </a:pPr>
            <a:fld id="{45FE0E5A-A608-420A-8CA0-9B4B009E4183}" type="slidenum">
              <a:rPr lang="en-US" sz="1400" b="0">
                <a:latin typeface="Times New Roman" panose="02020603050405020304" pitchFamily="18" charset="0"/>
                <a:cs typeface="Times New Roman" panose="02020603050405020304" pitchFamily="18" charset="0"/>
              </a:rPr>
              <a:pPr algn="r">
                <a:defRPr/>
              </a:pPr>
              <a:t>‹#›</a:t>
            </a:fld>
            <a:endParaRPr lang="en-US" sz="1400" b="0" dirty="0">
              <a:latin typeface="Times New Roman" panose="02020603050405020304" pitchFamily="18" charset="0"/>
              <a:cs typeface="Times New Roman" panose="02020603050405020304" pitchFamily="18" charset="0"/>
            </a:endParaRPr>
          </a:p>
        </p:txBody>
      </p:sp>
      <p:sp>
        <p:nvSpPr>
          <p:cNvPr id="5" name="Title 1"/>
          <p:cNvSpPr>
            <a:spLocks noGrp="1"/>
          </p:cNvSpPr>
          <p:nvPr>
            <p:ph type="title"/>
          </p:nvPr>
        </p:nvSpPr>
        <p:spPr>
          <a:xfrm>
            <a:off x="452968" y="330201"/>
            <a:ext cx="11267017" cy="406265"/>
          </a:xfrm>
          <a:noFill/>
          <a:ln w="9525">
            <a:noFill/>
            <a:miter lim="800000"/>
            <a:headEnd/>
            <a:tailEnd/>
          </a:ln>
          <a:effectLst/>
        </p:spPr>
        <p:txBody>
          <a:bodyPr vert="horz" wrap="square" lIns="91440" tIns="0" rIns="91440" bIns="45720" numCol="1" anchor="t" anchorCtr="0" compatLnSpc="1">
            <a:prstTxWarp prst="textNoShape">
              <a:avLst/>
            </a:prstTxWarp>
            <a:spAutoFit/>
          </a:bodyPr>
          <a:lstStyle>
            <a:lvl1pPr>
              <a:defRPr lang="en-US" baseline="0" dirty="0"/>
            </a:lvl1pPr>
          </a:lstStyle>
          <a:p>
            <a:pPr lvl="0"/>
            <a:r>
              <a:rPr lang="en-US"/>
              <a:t>Click to edit Master title style</a:t>
            </a:r>
            <a:endParaRPr lang="en-US" dirty="0"/>
          </a:p>
        </p:txBody>
      </p:sp>
    </p:spTree>
    <p:extLst>
      <p:ext uri="{BB962C8B-B14F-4D97-AF65-F5344CB8AC3E}">
        <p14:creationId xmlns:p14="http://schemas.microsoft.com/office/powerpoint/2010/main" val="312316996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3022735"/>
            <a:ext cx="10363200" cy="406265"/>
          </a:xfrm>
        </p:spPr>
        <p:txBody>
          <a:bodyPr/>
          <a:lstStyle>
            <a:lvl1pPr algn="l">
              <a:defRPr sz="2600" b="1" cap="none" baseline="0"/>
            </a:lvl1pPr>
          </a:lstStyle>
          <a:p>
            <a:r>
              <a:rPr lang="en-US" dirty="0"/>
              <a:t>Click to edit Master title style</a:t>
            </a:r>
          </a:p>
        </p:txBody>
      </p:sp>
    </p:spTree>
    <p:extLst>
      <p:ext uri="{BB962C8B-B14F-4D97-AF65-F5344CB8AC3E}">
        <p14:creationId xmlns:p14="http://schemas.microsoft.com/office/powerpoint/2010/main" val="3917231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a:effectLst/>
        </p:spPr>
        <p:txBody>
          <a:bodyPr vert="horz" wrap="square" lIns="91440" tIns="0" rIns="91440" bIns="45720" numCol="1" anchor="t" anchorCtr="0" compatLnSpc="1">
            <a:prstTxWarp prst="textNoShape">
              <a:avLst/>
            </a:prstTxWarp>
            <a:spAutoFit/>
          </a:bodyPr>
          <a:lstStyle>
            <a:lvl1pPr>
              <a:defRPr lang="en-US" baseline="0" dirty="0"/>
            </a:lvl1pPr>
          </a:lstStyle>
          <a:p>
            <a:pPr lvl="0"/>
            <a:r>
              <a:rPr lang="en-US"/>
              <a:t>Click to edit Master title style</a:t>
            </a:r>
            <a:endParaRPr lang="en-US" dirty="0"/>
          </a:p>
        </p:txBody>
      </p:sp>
      <p:sp>
        <p:nvSpPr>
          <p:cNvPr id="3" name="Content Placeholder 2"/>
          <p:cNvSpPr>
            <a:spLocks noGrp="1"/>
          </p:cNvSpPr>
          <p:nvPr>
            <p:ph sz="half" idx="1"/>
          </p:nvPr>
        </p:nvSpPr>
        <p:spPr>
          <a:xfrm>
            <a:off x="461434" y="934350"/>
            <a:ext cx="5187951" cy="2037481"/>
          </a:xfrm>
          <a:prstGeom prst="rect">
            <a:avLst/>
          </a:prstGeom>
        </p:spPr>
        <p:txBody>
          <a:bodyPr/>
          <a:lstStyle>
            <a:lvl1pPr>
              <a:buClr>
                <a:srgbClr val="C00000"/>
              </a:buClr>
              <a:defRPr sz="1800"/>
            </a:lvl1pPr>
            <a:lvl2pPr>
              <a:buClr>
                <a:srgbClr val="C00000"/>
              </a:buClr>
              <a:defRPr sz="1600"/>
            </a:lvl2pPr>
            <a:lvl3pPr>
              <a:buClr>
                <a:srgbClr val="C00000"/>
              </a:buClr>
              <a:defRPr sz="1400"/>
            </a:lvl3pPr>
            <a:lvl4pPr>
              <a:buClr>
                <a:srgbClr val="C00000"/>
              </a:buClr>
              <a:defRPr sz="1200"/>
            </a:lvl4pPr>
            <a:lvl5pPr>
              <a:buClr>
                <a:srgbClr val="C00000"/>
              </a:buCl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52584" y="934349"/>
            <a:ext cx="5190067" cy="2074414"/>
          </a:xfrm>
          <a:prstGeom prst="rect">
            <a:avLst/>
          </a:prstGeom>
        </p:spPr>
        <p:txBody>
          <a:bodyPr/>
          <a:lstStyle>
            <a:lvl1pPr>
              <a:buClr>
                <a:srgbClr val="C00000"/>
              </a:buClr>
              <a:defRPr sz="1800"/>
            </a:lvl1pPr>
            <a:lvl2pPr>
              <a:buClr>
                <a:srgbClr val="C00000"/>
              </a:buClr>
              <a:defRPr sz="1600"/>
            </a:lvl2pPr>
            <a:lvl3pPr>
              <a:buClr>
                <a:srgbClr val="C00000"/>
              </a:buClr>
              <a:defRPr sz="1400"/>
            </a:lvl3pPr>
            <a:lvl4pPr>
              <a:buClr>
                <a:srgbClr val="C00000"/>
              </a:buClr>
              <a:defRPr sz="1400"/>
            </a:lvl4pPr>
            <a:lvl5pPr>
              <a:buClr>
                <a:srgbClr val="C00000"/>
              </a:buClr>
              <a:defRPr sz="11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26950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7EB83-6BFF-8FEC-8CBE-BFED8B046C82}"/>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48C8F3C9-94D0-FC55-F2FE-1B9E5EF395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6CA1D994-CC38-8A86-2622-CB19E064EFF6}"/>
              </a:ext>
            </a:extLst>
          </p:cNvPr>
          <p:cNvSpPr>
            <a:spLocks noGrp="1"/>
          </p:cNvSpPr>
          <p:nvPr>
            <p:ph type="dt" sz="half" idx="10"/>
          </p:nvPr>
        </p:nvSpPr>
        <p:spPr/>
        <p:txBody>
          <a:bodyPr/>
          <a:lstStyle/>
          <a:p>
            <a:fld id="{BC447B15-299F-4D4B-9E9B-8A2F98149204}" type="datetimeFigureOut">
              <a:rPr lang="ko-KR" altLang="en-US" smtClean="0"/>
              <a:t>2026. 10. 25.</a:t>
            </a:fld>
            <a:endParaRPr lang="ko-KR" altLang="en-US" dirty="0"/>
          </a:p>
        </p:txBody>
      </p:sp>
      <p:sp>
        <p:nvSpPr>
          <p:cNvPr id="5" name="바닥글 개체 틀 4">
            <a:extLst>
              <a:ext uri="{FF2B5EF4-FFF2-40B4-BE49-F238E27FC236}">
                <a16:creationId xmlns:a16="http://schemas.microsoft.com/office/drawing/2014/main" id="{271E015B-8643-B9DB-FA9A-9E47186F5C5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FB5BDF4-B319-9E11-8BFE-A4E87FFC9300}"/>
              </a:ext>
            </a:extLst>
          </p:cNvPr>
          <p:cNvSpPr>
            <a:spLocks noGrp="1"/>
          </p:cNvSpPr>
          <p:nvPr>
            <p:ph type="sldNum" sz="quarter" idx="12"/>
          </p:nvPr>
        </p:nvSpPr>
        <p:spPr/>
        <p:txBody>
          <a:bodyPr/>
          <a:lstStyle/>
          <a:p>
            <a:fld id="{A96E7F72-741C-4C44-80D1-A58F1969EA6F}" type="slidenum">
              <a:rPr lang="ko-KR" altLang="en-US" smtClean="0"/>
              <a:t>‹#›</a:t>
            </a:fld>
            <a:endParaRPr lang="ko-KR" altLang="en-US"/>
          </a:p>
        </p:txBody>
      </p:sp>
    </p:spTree>
    <p:extLst>
      <p:ext uri="{BB962C8B-B14F-4D97-AF65-F5344CB8AC3E}">
        <p14:creationId xmlns:p14="http://schemas.microsoft.com/office/powerpoint/2010/main" val="10794427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80" name="Rectangle 8"/>
          <p:cNvSpPr>
            <a:spLocks noGrp="1" noChangeArrowheads="1"/>
          </p:cNvSpPr>
          <p:nvPr>
            <p:ph type="title"/>
          </p:nvPr>
        </p:nvSpPr>
        <p:spPr bwMode="auto">
          <a:xfrm>
            <a:off x="452968" y="330201"/>
            <a:ext cx="11267017" cy="406265"/>
          </a:xfrm>
          <a:prstGeom prst="rect">
            <a:avLst/>
          </a:prstGeom>
          <a:noFill/>
          <a:ln w="9525">
            <a:noFill/>
            <a:miter lim="800000"/>
            <a:headEnd/>
            <a:tailEnd/>
          </a:ln>
          <a:effectLst/>
        </p:spPr>
        <p:txBody>
          <a:bodyPr vert="horz" wrap="square" lIns="91440" tIns="0" rIns="91440" bIns="45720" numCol="1" anchor="t" anchorCtr="0" compatLnSpc="1">
            <a:prstTxWarp prst="textNoShape">
              <a:avLst/>
            </a:prstTxWarp>
            <a:spAutoFit/>
          </a:bodyPr>
          <a:lstStyle/>
          <a:p>
            <a:pPr lvl="0"/>
            <a:r>
              <a:rPr lang="en-US"/>
              <a:t>Click to edit Master title style</a:t>
            </a:r>
            <a:endParaRPr lang="en-US" dirty="0"/>
          </a:p>
        </p:txBody>
      </p:sp>
      <p:cxnSp>
        <p:nvCxnSpPr>
          <p:cNvPr id="11" name="Straight Connector 10"/>
          <p:cNvCxnSpPr/>
          <p:nvPr userDrawn="1"/>
        </p:nvCxnSpPr>
        <p:spPr>
          <a:xfrm>
            <a:off x="49825" y="6111400"/>
            <a:ext cx="12070080" cy="0"/>
          </a:xfrm>
          <a:prstGeom prst="line">
            <a:avLst/>
          </a:prstGeom>
        </p:spPr>
        <p:style>
          <a:lnRef idx="1">
            <a:schemeClr val="dk1"/>
          </a:lnRef>
          <a:fillRef idx="0">
            <a:schemeClr val="dk1"/>
          </a:fillRef>
          <a:effectRef idx="0">
            <a:schemeClr val="dk1"/>
          </a:effectRef>
          <a:fontRef idx="minor">
            <a:schemeClr val="tx1"/>
          </a:fontRef>
        </p:style>
      </p:cxnSp>
      <p:pic>
        <p:nvPicPr>
          <p:cNvPr id="20" name="Picture 19">
            <a:extLst>
              <a:ext uri="{FF2B5EF4-FFF2-40B4-BE49-F238E27FC236}">
                <a16:creationId xmlns:a16="http://schemas.microsoft.com/office/drawing/2014/main" id="{8E6B2AA6-7579-41A6-8291-2454539AB75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58613" y="6137101"/>
            <a:ext cx="2395311" cy="689447"/>
          </a:xfrm>
          <a:prstGeom prst="rect">
            <a:avLst/>
          </a:prstGeom>
          <a:ln>
            <a:noFill/>
          </a:ln>
        </p:spPr>
      </p:pic>
      <p:pic>
        <p:nvPicPr>
          <p:cNvPr id="21" name="Picture 20"/>
          <p:cNvPicPr/>
          <p:nvPr userDrawn="1"/>
        </p:nvPicPr>
        <p:blipFill>
          <a:blip r:embed="rId9" cstate="print">
            <a:extLst>
              <a:ext uri="{28A0092B-C50C-407E-A947-70E740481C1C}">
                <a14:useLocalDpi xmlns:a14="http://schemas.microsoft.com/office/drawing/2010/main" val="0"/>
              </a:ext>
            </a:extLst>
          </a:blip>
          <a:stretch>
            <a:fillRect/>
          </a:stretch>
        </p:blipFill>
        <p:spPr>
          <a:xfrm>
            <a:off x="10685803" y="6131857"/>
            <a:ext cx="1364827" cy="694690"/>
          </a:xfrm>
          <a:prstGeom prst="rect">
            <a:avLst/>
          </a:prstGeom>
        </p:spPr>
      </p:pic>
    </p:spTree>
    <p:extLst>
      <p:ext uri="{BB962C8B-B14F-4D97-AF65-F5344CB8AC3E}">
        <p14:creationId xmlns:p14="http://schemas.microsoft.com/office/powerpoint/2010/main" val="1582288708"/>
      </p:ext>
    </p:extLst>
  </p:cSld>
  <p:clrMap bg1="lt1" tx1="dk1" bg2="lt2" tx2="dk2" accent1="accent1" accent2="accent2" accent3="accent3" accent4="accent4" accent5="accent5" accent6="accent6" hlink="hlink" folHlink="folHlink"/>
  <p:sldLayoutIdLst>
    <p:sldLayoutId id="3000000002" r:id="rId1"/>
    <p:sldLayoutId id="3000000003" r:id="rId2"/>
    <p:sldLayoutId id="3000000004" r:id="rId3"/>
    <p:sldLayoutId id="3000000005" r:id="rId4"/>
    <p:sldLayoutId id="2147483655" r:id="rId5"/>
    <p:sldLayoutId id="2147483656" r:id="rId6"/>
  </p:sldLayoutIdLst>
  <p:txStyles>
    <p:titleStyle>
      <a:lvl1pPr algn="ctr" rtl="0" eaLnBrk="1" fontAlgn="base" hangingPunct="1">
        <a:lnSpc>
          <a:spcPct val="90000"/>
        </a:lnSpc>
        <a:spcBef>
          <a:spcPct val="0"/>
        </a:spcBef>
        <a:spcAft>
          <a:spcPct val="0"/>
        </a:spcAft>
        <a:defRPr lang="en-US" sz="2600" b="1" i="0" baseline="0" dirty="0">
          <a:solidFill>
            <a:schemeClr val="accent2"/>
          </a:solidFill>
          <a:effectLst>
            <a:outerShdw blurRad="38100" dist="38100" dir="2700000" algn="tl">
              <a:srgbClr val="DDDDDD"/>
            </a:outerShdw>
          </a:effectLst>
          <a:latin typeface="+mj-lt"/>
          <a:ea typeface="ＭＳ Ｐゴシック" pitchFamily="-112" charset="-128"/>
          <a:cs typeface="ＭＳ Ｐゴシック" pitchFamily="-112" charset="-128"/>
        </a:defRPr>
      </a:lvl1pPr>
      <a:lvl2pPr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ea typeface="ＭＳ Ｐゴシック" pitchFamily="-112" charset="-128"/>
          <a:cs typeface="ＭＳ Ｐゴシック" pitchFamily="-112" charset="-128"/>
        </a:defRPr>
      </a:lvl2pPr>
      <a:lvl3pPr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ea typeface="ＭＳ Ｐゴシック" pitchFamily="-112" charset="-128"/>
          <a:cs typeface="ＭＳ Ｐゴシック" pitchFamily="-112" charset="-128"/>
        </a:defRPr>
      </a:lvl3pPr>
      <a:lvl4pPr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ea typeface="ＭＳ Ｐゴシック" pitchFamily="-112" charset="-128"/>
          <a:cs typeface="ＭＳ Ｐゴシック" pitchFamily="-112" charset="-128"/>
        </a:defRPr>
      </a:lvl4pPr>
      <a:lvl5pPr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ea typeface="ＭＳ Ｐゴシック" pitchFamily="-112" charset="-128"/>
          <a:cs typeface="ＭＳ Ｐゴシック" pitchFamily="-112" charset="-128"/>
        </a:defRPr>
      </a:lvl5pPr>
      <a:lvl6pPr marL="457200"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defRPr>
      </a:lvl6pPr>
      <a:lvl7pPr marL="914400"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defRPr>
      </a:lvl7pPr>
      <a:lvl8pPr marL="1371600"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defRPr>
      </a:lvl8pPr>
      <a:lvl9pPr marL="1828800" algn="ctr" rtl="0" eaLnBrk="1" fontAlgn="base" hangingPunct="1">
        <a:lnSpc>
          <a:spcPct val="90000"/>
        </a:lnSpc>
        <a:spcBef>
          <a:spcPct val="0"/>
        </a:spcBef>
        <a:spcAft>
          <a:spcPct val="0"/>
        </a:spcAft>
        <a:defRPr sz="2200" b="1" i="1">
          <a:solidFill>
            <a:schemeClr val="accent2"/>
          </a:solidFill>
          <a:effectLst>
            <a:outerShdw blurRad="38100" dist="38100" dir="2700000" algn="tl">
              <a:srgbClr val="DDDDDD"/>
            </a:outerShdw>
          </a:effectLst>
          <a:latin typeface="Arial" pitchFamily="27" charset="0"/>
        </a:defRPr>
      </a:lvl9pPr>
    </p:titleStyle>
    <p:bodyStyle>
      <a:lvl1pPr marL="282575" indent="-282575" algn="l" rtl="0" eaLnBrk="1" fontAlgn="base" hangingPunct="1">
        <a:spcBef>
          <a:spcPct val="10000"/>
        </a:spcBef>
        <a:spcAft>
          <a:spcPct val="10000"/>
        </a:spcAft>
        <a:buClr>
          <a:srgbClr val="800000"/>
        </a:buClr>
        <a:buFont typeface="Wingdings" charset="2"/>
        <a:buChar char="n"/>
        <a:defRPr sz="2200">
          <a:solidFill>
            <a:schemeClr val="tx1"/>
          </a:solidFill>
          <a:latin typeface="+mn-lt"/>
          <a:ea typeface="ＭＳ Ｐゴシック" pitchFamily="-112" charset="-128"/>
          <a:cs typeface="ＭＳ Ｐゴシック" pitchFamily="-112" charset="-128"/>
        </a:defRPr>
      </a:lvl1pPr>
      <a:lvl2pPr marL="685800" indent="-288925" algn="l" rtl="0" eaLnBrk="1" fontAlgn="base" hangingPunct="1">
        <a:spcBef>
          <a:spcPct val="10000"/>
        </a:spcBef>
        <a:spcAft>
          <a:spcPct val="10000"/>
        </a:spcAft>
        <a:buClr>
          <a:srgbClr val="800000"/>
        </a:buClr>
        <a:buFont typeface="Arial" charset="0"/>
        <a:buChar char="–"/>
        <a:defRPr sz="2000">
          <a:solidFill>
            <a:schemeClr val="tx1"/>
          </a:solidFill>
          <a:latin typeface="+mn-lt"/>
          <a:ea typeface="ＭＳ Ｐゴシック" pitchFamily="27" charset="-128"/>
        </a:defRPr>
      </a:lvl2pPr>
      <a:lvl3pPr marL="968375" indent="-168275" algn="l" rtl="0" eaLnBrk="1" fontAlgn="base" hangingPunct="1">
        <a:spcBef>
          <a:spcPct val="10000"/>
        </a:spcBef>
        <a:spcAft>
          <a:spcPct val="10000"/>
        </a:spcAft>
        <a:buClr>
          <a:srgbClr val="800000"/>
        </a:buClr>
        <a:buFont typeface="Times" charset="0"/>
        <a:buChar char="•"/>
        <a:defRPr sz="1800" i="1">
          <a:solidFill>
            <a:schemeClr val="tx1"/>
          </a:solidFill>
          <a:latin typeface="+mn-lt"/>
          <a:ea typeface="ＭＳ Ｐゴシック" pitchFamily="27" charset="-128"/>
        </a:defRPr>
      </a:lvl3pPr>
      <a:lvl4pPr marL="1363663" indent="-280988" algn="l" rtl="0" eaLnBrk="1" fontAlgn="base" hangingPunct="1">
        <a:spcBef>
          <a:spcPct val="10000"/>
        </a:spcBef>
        <a:spcAft>
          <a:spcPct val="10000"/>
        </a:spcAft>
        <a:buClr>
          <a:srgbClr val="800000"/>
        </a:buClr>
        <a:buFont typeface="Times" charset="0"/>
        <a:buChar char="–"/>
        <a:defRPr sz="1600">
          <a:solidFill>
            <a:schemeClr val="tx1"/>
          </a:solidFill>
          <a:latin typeface="+mn-lt"/>
          <a:ea typeface="ＭＳ Ｐゴシック" pitchFamily="27" charset="-128"/>
        </a:defRPr>
      </a:lvl4pPr>
      <a:lvl5pPr marL="1652588" indent="-174625" algn="l" rtl="0" eaLnBrk="1" fontAlgn="base" hangingPunct="1">
        <a:spcBef>
          <a:spcPct val="10000"/>
        </a:spcBef>
        <a:spcAft>
          <a:spcPct val="10000"/>
        </a:spcAft>
        <a:buClr>
          <a:srgbClr val="800000"/>
        </a:buClr>
        <a:buFont typeface="Times" charset="0"/>
        <a:buChar char="•"/>
        <a:defRPr sz="1400" i="1">
          <a:solidFill>
            <a:schemeClr val="tx1"/>
          </a:solidFill>
          <a:latin typeface="+mn-lt"/>
          <a:ea typeface="ＭＳ Ｐゴシック" pitchFamily="27" charset="-128"/>
        </a:defRPr>
      </a:lvl5pPr>
      <a:lvl6pPr marL="2109788" indent="-174625" algn="l" rtl="0" eaLnBrk="1" fontAlgn="base" hangingPunct="1">
        <a:spcBef>
          <a:spcPct val="10000"/>
        </a:spcBef>
        <a:spcAft>
          <a:spcPct val="10000"/>
        </a:spcAft>
        <a:buClr>
          <a:srgbClr val="800000"/>
        </a:buClr>
        <a:buFont typeface="Times" pitchFamily="27" charset="0"/>
        <a:buChar char="•"/>
        <a:defRPr i="1">
          <a:solidFill>
            <a:schemeClr val="tx1"/>
          </a:solidFill>
          <a:latin typeface="+mn-lt"/>
          <a:ea typeface="ＭＳ Ｐゴシック" pitchFamily="27" charset="-128"/>
        </a:defRPr>
      </a:lvl6pPr>
      <a:lvl7pPr marL="2566988" indent="-174625" algn="l" rtl="0" eaLnBrk="1" fontAlgn="base" hangingPunct="1">
        <a:spcBef>
          <a:spcPct val="10000"/>
        </a:spcBef>
        <a:spcAft>
          <a:spcPct val="10000"/>
        </a:spcAft>
        <a:buClr>
          <a:srgbClr val="800000"/>
        </a:buClr>
        <a:buFont typeface="Times" pitchFamily="27" charset="0"/>
        <a:buChar char="•"/>
        <a:defRPr i="1">
          <a:solidFill>
            <a:schemeClr val="tx1"/>
          </a:solidFill>
          <a:latin typeface="+mn-lt"/>
          <a:ea typeface="ＭＳ Ｐゴシック" pitchFamily="27" charset="-128"/>
        </a:defRPr>
      </a:lvl7pPr>
      <a:lvl8pPr marL="3024188" indent="-174625" algn="l" rtl="0" eaLnBrk="1" fontAlgn="base" hangingPunct="1">
        <a:spcBef>
          <a:spcPct val="10000"/>
        </a:spcBef>
        <a:spcAft>
          <a:spcPct val="10000"/>
        </a:spcAft>
        <a:buClr>
          <a:srgbClr val="800000"/>
        </a:buClr>
        <a:buFont typeface="Times" pitchFamily="27" charset="0"/>
        <a:buChar char="•"/>
        <a:defRPr i="1">
          <a:solidFill>
            <a:schemeClr val="tx1"/>
          </a:solidFill>
          <a:latin typeface="+mn-lt"/>
          <a:ea typeface="ＭＳ Ｐゴシック" pitchFamily="27" charset="-128"/>
        </a:defRPr>
      </a:lvl8pPr>
      <a:lvl9pPr marL="3481388" indent="-174625" algn="l" rtl="0" eaLnBrk="1" fontAlgn="base" hangingPunct="1">
        <a:spcBef>
          <a:spcPct val="10000"/>
        </a:spcBef>
        <a:spcAft>
          <a:spcPct val="10000"/>
        </a:spcAft>
        <a:buClr>
          <a:srgbClr val="800000"/>
        </a:buClr>
        <a:buFont typeface="Times" pitchFamily="27" charset="0"/>
        <a:buChar char="•"/>
        <a:defRPr i="1">
          <a:solidFill>
            <a:schemeClr val="tx1"/>
          </a:solidFill>
          <a:latin typeface="+mn-lt"/>
          <a:ea typeface="ＭＳ Ｐゴシック" pitchFamily="2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6.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over title">
            <a:extLst>
              <a:ext uri="{FF2B5EF4-FFF2-40B4-BE49-F238E27FC236}">
                <a16:creationId xmlns:a16="http://schemas.microsoft.com/office/drawing/2014/main" id="{BA431EAB-6C7C-4E43-96FA-37C371C9BDD2}"/>
              </a:ext>
            </a:extLst>
          </p:cNvPr>
          <p:cNvSpPr>
            <a:spLocks noGrp="1"/>
          </p:cNvSpPr>
          <p:nvPr/>
        </p:nvSpPr>
        <p:spPr>
          <a:xfrm>
            <a:off x="762000" y="1428750"/>
            <a:ext cx="10668000" cy="1066800"/>
          </a:xfrm>
          <a:prstGeom prst="rect">
            <a:avLst/>
          </a:prstGeom>
          <a:noFill/>
          <a:ln w="0">
            <a:noFill/>
          </a:ln>
        </p:spPr>
        <p:txBody>
          <a:bodyPr anchor="ctr"/>
          <a:lstStyle>
            <a:defPPr algn="ctr">
              <a:defRPr sz="3600" b="1">
                <a:solidFill>
                  <a:srgbClr val="161616"/>
                </a:solidFill>
              </a:defRPr>
            </a:defPPr>
          </a:lstStyle>
          <a:p>
            <a:pPr algn="ctr">
              <a:defRPr sz="3600" b="1">
                <a:solidFill>
                  <a:srgbClr val="161616"/>
                </a:solidFill>
              </a:defRPr>
            </a:pPr>
            <a:r>
              <a:rPr sz="3600" b="1">
                <a:solidFill>
                  <a:srgbClr val="161616"/>
                </a:solidFill>
              </a:rPr>
              <a:t>Fast Salt System</a:t>
            </a:r>
          </a:p>
          <a:p>
            <a:pPr algn="ctr">
              <a:defRPr sz="3600" b="1">
                <a:solidFill>
                  <a:srgbClr val="161616"/>
                </a:solidFill>
              </a:defRPr>
            </a:pPr>
            <a:r>
              <a:rPr sz="3600" b="1">
                <a:solidFill>
                  <a:srgbClr val="161616"/>
                </a:solidFill>
              </a:rPr>
              <a:t>Progress</a:t>
            </a:r>
          </a:p>
        </p:txBody>
      </p:sp>
      <p:sp>
        <p:nvSpPr>
          <p:cNvPr id="2" name="Cover subject">
            <a:extLst>
              <a:ext uri="{FF2B5EF4-FFF2-40B4-BE49-F238E27FC236}">
                <a16:creationId xmlns:a16="http://schemas.microsoft.com/office/drawing/2014/main" id="{55E19E86-0857-4857-93A2-C542639CAD91}"/>
              </a:ext>
            </a:extLst>
          </p:cNvPr>
          <p:cNvSpPr>
            <a:spLocks noGrp="1"/>
          </p:cNvSpPr>
          <p:nvPr/>
        </p:nvSpPr>
        <p:spPr>
          <a:xfrm>
            <a:off x="762000" y="2619375"/>
            <a:ext cx="10668000" cy="400050"/>
          </a:xfrm>
          <a:prstGeom prst="rect">
            <a:avLst/>
          </a:prstGeom>
          <a:noFill/>
          <a:ln w="0">
            <a:noFill/>
          </a:ln>
        </p:spPr>
        <p:txBody>
          <a:bodyPr anchor="ctr"/>
          <a:lstStyle>
            <a:defPPr algn="ctr">
              <a:defRPr sz="1950" b="0">
                <a:solidFill>
                  <a:srgbClr val="161616"/>
                </a:solidFill>
              </a:defRPr>
            </a:defPPr>
          </a:lstStyle>
          <a:p>
            <a:pPr algn="ctr">
              <a:defRPr sz="1950" b="0">
                <a:solidFill>
                  <a:srgbClr val="161616"/>
                </a:solidFill>
              </a:defRPr>
            </a:pPr>
            <a:r>
              <a:rPr lang="en-US" sz="1950" b="0" dirty="0">
                <a:solidFill>
                  <a:srgbClr val="161616"/>
                </a:solidFill>
              </a:rPr>
              <a:t>Safety analysis, and </a:t>
            </a:r>
            <a:r>
              <a:rPr lang="en-US" sz="1950" dirty="0">
                <a:solidFill>
                  <a:srgbClr val="161616"/>
                </a:solidFill>
              </a:rPr>
              <a:t>c</a:t>
            </a:r>
            <a:r>
              <a:rPr sz="1950" b="0" dirty="0">
                <a:solidFill>
                  <a:srgbClr val="161616"/>
                </a:solidFill>
              </a:rPr>
              <a:t>ore, vessel</a:t>
            </a:r>
            <a:r>
              <a:rPr lang="en-US" sz="1950" b="0" dirty="0">
                <a:solidFill>
                  <a:srgbClr val="161616"/>
                </a:solidFill>
              </a:rPr>
              <a:t>,</a:t>
            </a:r>
            <a:r>
              <a:rPr sz="1950" b="0" dirty="0">
                <a:solidFill>
                  <a:srgbClr val="161616"/>
                </a:solidFill>
              </a:rPr>
              <a:t> and plant development</a:t>
            </a:r>
          </a:p>
        </p:txBody>
      </p:sp>
      <p:sp>
        <p:nvSpPr>
          <p:cNvPr id="3" name="Workshop and date">
            <a:extLst>
              <a:ext uri="{FF2B5EF4-FFF2-40B4-BE49-F238E27FC236}">
                <a16:creationId xmlns:a16="http://schemas.microsoft.com/office/drawing/2014/main" id="{B685C5D8-EFD5-4FE1-9BFA-5C987C1E0BB2}"/>
              </a:ext>
            </a:extLst>
          </p:cNvPr>
          <p:cNvSpPr>
            <a:spLocks noGrp="1"/>
          </p:cNvSpPr>
          <p:nvPr/>
        </p:nvSpPr>
        <p:spPr>
          <a:xfrm>
            <a:off x="762000" y="3476625"/>
            <a:ext cx="10668000" cy="857250"/>
          </a:xfrm>
          <a:prstGeom prst="rect">
            <a:avLst/>
          </a:prstGeom>
          <a:noFill/>
          <a:ln w="0">
            <a:noFill/>
          </a:ln>
        </p:spPr>
        <p:txBody>
          <a:bodyPr anchor="ctr"/>
          <a:lstStyle>
            <a:defPPr algn="ctr">
              <a:defRPr sz="2550" b="1">
                <a:solidFill>
                  <a:srgbClr val="161616"/>
                </a:solidFill>
              </a:defRPr>
            </a:defPPr>
          </a:lstStyle>
          <a:p>
            <a:pPr algn="ctr">
              <a:defRPr sz="2550" b="1">
                <a:solidFill>
                  <a:srgbClr val="161616"/>
                </a:solidFill>
              </a:defRPr>
            </a:pPr>
            <a:r>
              <a:rPr sz="2550" b="1">
                <a:solidFill>
                  <a:srgbClr val="161616"/>
                </a:solidFill>
              </a:rPr>
              <a:t>2026 Molten Salt Workshop</a:t>
            </a:r>
          </a:p>
          <a:p>
            <a:pPr algn="ctr">
              <a:defRPr sz="2550" b="1">
                <a:solidFill>
                  <a:srgbClr val="161616"/>
                </a:solidFill>
              </a:defRPr>
            </a:pPr>
            <a:r>
              <a:rPr sz="2550" b="1">
                <a:solidFill>
                  <a:srgbClr val="161616"/>
                </a:solidFill>
              </a:rPr>
              <a:t>October 27–29, 2026</a:t>
            </a:r>
          </a:p>
        </p:txBody>
      </p:sp>
      <p:sp>
        <p:nvSpPr>
          <p:cNvPr id="4" name="Presenter">
            <a:extLst>
              <a:ext uri="{FF2B5EF4-FFF2-40B4-BE49-F238E27FC236}">
                <a16:creationId xmlns:a16="http://schemas.microsoft.com/office/drawing/2014/main" id="{8713A5A6-1533-4701-AA1D-695C72705B16}"/>
              </a:ext>
            </a:extLst>
          </p:cNvPr>
          <p:cNvSpPr>
            <a:spLocks noGrp="1"/>
          </p:cNvSpPr>
          <p:nvPr/>
        </p:nvSpPr>
        <p:spPr>
          <a:xfrm>
            <a:off x="762000" y="5048250"/>
            <a:ext cx="10668000" cy="457200"/>
          </a:xfrm>
          <a:prstGeom prst="rect">
            <a:avLst/>
          </a:prstGeom>
          <a:noFill/>
          <a:ln w="0">
            <a:noFill/>
          </a:ln>
        </p:spPr>
        <p:txBody>
          <a:bodyPr anchor="ctr"/>
          <a:lstStyle>
            <a:defPPr algn="ctr">
              <a:defRPr sz="2400" b="1">
                <a:solidFill>
                  <a:srgbClr val="161616"/>
                </a:solidFill>
              </a:defRPr>
            </a:defPPr>
          </a:lstStyle>
          <a:p>
            <a:pPr algn="ctr">
              <a:defRPr sz="2400" b="1">
                <a:solidFill>
                  <a:srgbClr val="161616"/>
                </a:solidFill>
              </a:defRPr>
            </a:pPr>
            <a:r>
              <a:rPr sz="2400" b="1">
                <a:solidFill>
                  <a:srgbClr val="161616"/>
                </a:solidFill>
              </a:rPr>
              <a:t>Thomas Wielenga, Ph.D., P.E.</a:t>
            </a:r>
          </a:p>
        </p:txBody>
      </p:sp>
      <p:sp>
        <p:nvSpPr>
          <p:cNvPr id="5" name="Affiliation">
            <a:extLst>
              <a:ext uri="{FF2B5EF4-FFF2-40B4-BE49-F238E27FC236}">
                <a16:creationId xmlns:a16="http://schemas.microsoft.com/office/drawing/2014/main" id="{F90C68AD-077E-47C4-8327-412265379A22}"/>
              </a:ext>
            </a:extLst>
          </p:cNvPr>
          <p:cNvSpPr>
            <a:spLocks noGrp="1"/>
          </p:cNvSpPr>
          <p:nvPr/>
        </p:nvSpPr>
        <p:spPr>
          <a:xfrm>
            <a:off x="762000" y="5619750"/>
            <a:ext cx="10668000" cy="400050"/>
          </a:xfrm>
          <a:prstGeom prst="rect">
            <a:avLst/>
          </a:prstGeom>
          <a:noFill/>
          <a:ln w="0">
            <a:noFill/>
          </a:ln>
        </p:spPr>
        <p:txBody>
          <a:bodyPr anchor="ctr"/>
          <a:lstStyle>
            <a:defPPr algn="ctr">
              <a:defRPr sz="2100" b="1">
                <a:solidFill>
                  <a:srgbClr val="161616"/>
                </a:solidFill>
              </a:defRPr>
            </a:defPPr>
          </a:lstStyle>
          <a:p>
            <a:pPr algn="ctr">
              <a:defRPr sz="2100" b="1">
                <a:solidFill>
                  <a:srgbClr val="161616"/>
                </a:solidFill>
              </a:defRPr>
            </a:pPr>
            <a:r>
              <a:rPr sz="2100" b="1">
                <a:solidFill>
                  <a:srgbClr val="161616"/>
                </a:solidFill>
              </a:rPr>
              <a:t>Wielenga Innovation Foundation, Inc.</a:t>
            </a:r>
          </a:p>
        </p:txBody>
      </p:sp>
      <p:pic>
        <p:nvPicPr>
          <p:cNvPr id="6" name="Picture 5">
            <a:extLst>
              <a:ext uri="{FF2B5EF4-FFF2-40B4-BE49-F238E27FC236}">
                <a16:creationId xmlns:a16="http://schemas.microsoft.com/office/drawing/2014/main" id="{A0EFFA69-7759-43FE-9855-3A79122B40AF}"/>
              </a:ext>
            </a:extLst>
          </p:cNvPr>
          <p:cNvPicPr>
            <a:picLocks noChangeAspect="1"/>
          </p:cNvPicPr>
          <p:nvPr/>
        </p:nvPicPr>
        <p:blipFill>
          <a:blip r:embed="rId3"/>
          <a:stretch/>
        </p:blipFill>
        <p:spPr>
          <a:xfrm>
            <a:off x="9104312" y="6333563"/>
            <a:ext cx="2035183" cy="456162"/>
          </a:xfrm>
          <a:prstGeom prst="rect">
            <a:avLst/>
          </a:prstGeom>
        </p:spPr>
      </p:pic>
      <p:pic>
        <p:nvPicPr>
          <p:cNvPr id="7" name="Picture 6">
            <a:extLst>
              <a:ext uri="{FF2B5EF4-FFF2-40B4-BE49-F238E27FC236}">
                <a16:creationId xmlns:a16="http://schemas.microsoft.com/office/drawing/2014/main" id="{A8BAC0E1-826A-47C8-868F-B9B946E1164E}"/>
              </a:ext>
            </a:extLst>
          </p:cNvPr>
          <p:cNvPicPr>
            <a:picLocks noChangeAspect="1"/>
          </p:cNvPicPr>
          <p:nvPr/>
        </p:nvPicPr>
        <p:blipFill>
          <a:blip r:embed="rId4"/>
          <a:stretch/>
        </p:blipFill>
        <p:spPr>
          <a:xfrm>
            <a:off x="457200" y="6116631"/>
            <a:ext cx="2514600" cy="609600"/>
          </a:xfrm>
          <a:prstGeom prst="rect">
            <a:avLst/>
          </a:prstGeom>
        </p:spPr>
      </p:pic>
      <p:pic>
        <p:nvPicPr>
          <p:cNvPr id="8" name="Picture 7">
            <a:extLst>
              <a:ext uri="{FF2B5EF4-FFF2-40B4-BE49-F238E27FC236}">
                <a16:creationId xmlns:a16="http://schemas.microsoft.com/office/drawing/2014/main" id="{5916177C-A3C9-44BF-91E8-AF0F631CCCC8}"/>
              </a:ext>
            </a:extLst>
          </p:cNvPr>
          <p:cNvPicPr>
            <a:picLocks noChangeAspect="1"/>
          </p:cNvPicPr>
          <p:nvPr/>
        </p:nvPicPr>
        <p:blipFill>
          <a:blip r:embed="rId5"/>
          <a:stretch/>
        </p:blipFill>
        <p:spPr>
          <a:xfrm>
            <a:off x="3060697" y="6421432"/>
            <a:ext cx="1092203" cy="215901"/>
          </a:xfrm>
          <a:prstGeom prst="rect">
            <a:avLst/>
          </a:prstGeom>
        </p:spPr>
      </p:pic>
    </p:spTree>
    <p:extLst>
      <p:ext uri="{BB962C8B-B14F-4D97-AF65-F5344CB8AC3E}">
        <p14:creationId xmlns:p14="http://schemas.microsoft.com/office/powerpoint/2010/main" val="612948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3CF2E7-E344-4E5A-97FD-7C96615965BE}"/>
              </a:ext>
            </a:extLst>
          </p:cNvPr>
          <p:cNvSpPr>
            <a:spLocks noGrp="1"/>
          </p:cNvSpPr>
          <p:nvPr/>
        </p:nvSpPr>
        <p:spPr>
          <a:xfrm>
            <a:off x="476250" y="1381125"/>
            <a:ext cx="619125" cy="457200"/>
          </a:xfrm>
          <a:prstGeom prst="rect">
            <a:avLst/>
          </a:prstGeom>
          <a:noFill/>
          <a:ln w="0">
            <a:noFill/>
          </a:ln>
        </p:spPr>
        <p:txBody>
          <a:bodyPr lIns="0" tIns="0" rIns="0" bIns="0" anchor="t"/>
          <a:lstStyle>
            <a:defPPr>
              <a:defRPr sz="2250" b="1">
                <a:solidFill>
                  <a:srgbClr val="9C5724"/>
                </a:solidFill>
                <a:latin typeface="Arial"/>
                <a:ea typeface="Arial"/>
                <a:cs typeface="Arial"/>
              </a:defRPr>
            </a:defPPr>
          </a:lstStyle>
          <a:p>
            <a:pPr>
              <a:defRPr sz="2250" b="1">
                <a:solidFill>
                  <a:srgbClr val="9C5724"/>
                </a:solidFill>
                <a:latin typeface="Arial"/>
                <a:ea typeface="Arial"/>
                <a:cs typeface="Arial"/>
              </a:defRPr>
            </a:pPr>
            <a:r>
              <a:rPr sz="2250" b="1">
                <a:solidFill>
                  <a:srgbClr val="9C5724"/>
                </a:solidFill>
                <a:latin typeface="Arial"/>
                <a:ea typeface="Arial"/>
                <a:cs typeface="Arial"/>
              </a:rPr>
              <a:t>01</a:t>
            </a:r>
          </a:p>
        </p:txBody>
      </p:sp>
      <p:sp>
        <p:nvSpPr>
          <p:cNvPr id="3" name="Rectangle 2">
            <a:extLst>
              <a:ext uri="{FF2B5EF4-FFF2-40B4-BE49-F238E27FC236}">
                <a16:creationId xmlns:a16="http://schemas.microsoft.com/office/drawing/2014/main" id="{9E5C7BE7-AC3B-44A2-856E-C1F2B4D72300}"/>
              </a:ext>
            </a:extLst>
          </p:cNvPr>
          <p:cNvSpPr>
            <a:spLocks noGrp="1"/>
          </p:cNvSpPr>
          <p:nvPr/>
        </p:nvSpPr>
        <p:spPr>
          <a:xfrm>
            <a:off x="1238250" y="1381125"/>
            <a:ext cx="3619500" cy="523875"/>
          </a:xfrm>
          <a:prstGeom prst="rect">
            <a:avLst/>
          </a:prstGeom>
          <a:noFill/>
          <a:ln w="0">
            <a:noFill/>
          </a:ln>
        </p:spPr>
        <p:txBody>
          <a:bodyPr lIns="0" tIns="0" rIns="0" bIns="0" anchor="t"/>
          <a:lstStyle>
            <a:defPPr>
              <a:defRPr sz="2250" b="1">
                <a:solidFill>
                  <a:srgbClr val="143D48"/>
                </a:solidFill>
                <a:latin typeface="Arial"/>
                <a:ea typeface="Arial"/>
                <a:cs typeface="Arial"/>
              </a:defRPr>
            </a:defPPr>
          </a:lstStyle>
          <a:p>
            <a:pPr>
              <a:defRPr sz="2250" b="1">
                <a:solidFill>
                  <a:srgbClr val="143D48"/>
                </a:solidFill>
                <a:latin typeface="Arial"/>
                <a:ea typeface="Arial"/>
                <a:cs typeface="Arial"/>
              </a:defRPr>
            </a:pPr>
            <a:r>
              <a:rPr sz="2250" b="1">
                <a:solidFill>
                  <a:srgbClr val="143D48"/>
                </a:solidFill>
                <a:latin typeface="Arial"/>
                <a:ea typeface="Arial"/>
                <a:cs typeface="Arial"/>
              </a:rPr>
              <a:t>Convert spent fuel</a:t>
            </a:r>
          </a:p>
        </p:txBody>
      </p:sp>
      <p:sp>
        <p:nvSpPr>
          <p:cNvPr id="4" name="Rectangle 3">
            <a:extLst>
              <a:ext uri="{FF2B5EF4-FFF2-40B4-BE49-F238E27FC236}">
                <a16:creationId xmlns:a16="http://schemas.microsoft.com/office/drawing/2014/main" id="{B3D2370C-755C-4BB9-B1E3-A6D2B9E49E93}"/>
              </a:ext>
            </a:extLst>
          </p:cNvPr>
          <p:cNvSpPr>
            <a:spLocks noGrp="1"/>
          </p:cNvSpPr>
          <p:nvPr/>
        </p:nvSpPr>
        <p:spPr>
          <a:xfrm>
            <a:off x="4953000" y="1381125"/>
            <a:ext cx="6524625" cy="619125"/>
          </a:xfrm>
          <a:prstGeom prst="rect">
            <a:avLst/>
          </a:prstGeom>
          <a:noFill/>
          <a:ln w="0">
            <a:noFill/>
          </a:ln>
        </p:spPr>
        <p:txBody>
          <a:bodyPr lIns="0" tIns="0" rIns="0" bIns="0" anchor="t"/>
          <a:lstStyle>
            <a:defPPr>
              <a:defRPr sz="2175" b="0">
                <a:solidFill>
                  <a:srgbClr val="29434A"/>
                </a:solidFill>
                <a:latin typeface="Arial"/>
                <a:ea typeface="Arial"/>
                <a:cs typeface="Arial"/>
              </a:defRPr>
            </a:defPPr>
          </a:lstStyle>
          <a:p>
            <a:pPr>
              <a:defRPr sz="2175" b="0">
                <a:solidFill>
                  <a:srgbClr val="29434A"/>
                </a:solidFill>
                <a:latin typeface="Arial"/>
                <a:ea typeface="Arial"/>
                <a:cs typeface="Arial"/>
              </a:defRPr>
            </a:pPr>
            <a:r>
              <a:rPr sz="2175" b="0">
                <a:solidFill>
                  <a:srgbClr val="29434A"/>
                </a:solidFill>
                <a:latin typeface="Arial"/>
                <a:ea typeface="Arial"/>
                <a:cs typeface="Arial"/>
              </a:rPr>
              <a:t>Prepare a crude chloride salt feed.</a:t>
            </a:r>
          </a:p>
        </p:txBody>
      </p:sp>
      <p:sp>
        <p:nvSpPr>
          <p:cNvPr id="5" name="Rectangle 4">
            <a:extLst>
              <a:ext uri="{FF2B5EF4-FFF2-40B4-BE49-F238E27FC236}">
                <a16:creationId xmlns:a16="http://schemas.microsoft.com/office/drawing/2014/main" id="{60040151-6EDE-44BB-B3B4-5A290D9CA4BA}"/>
              </a:ext>
            </a:extLst>
          </p:cNvPr>
          <p:cNvSpPr>
            <a:spLocks noGrp="1"/>
          </p:cNvSpPr>
          <p:nvPr/>
        </p:nvSpPr>
        <p:spPr>
          <a:xfrm>
            <a:off x="476250" y="2409825"/>
            <a:ext cx="619125" cy="457200"/>
          </a:xfrm>
          <a:prstGeom prst="rect">
            <a:avLst/>
          </a:prstGeom>
          <a:noFill/>
          <a:ln w="0">
            <a:noFill/>
          </a:ln>
        </p:spPr>
        <p:txBody>
          <a:bodyPr lIns="0" tIns="0" rIns="0" bIns="0" anchor="t"/>
          <a:lstStyle>
            <a:defPPr>
              <a:defRPr sz="2250" b="1">
                <a:solidFill>
                  <a:srgbClr val="9C5724"/>
                </a:solidFill>
                <a:latin typeface="Arial"/>
                <a:ea typeface="Arial"/>
                <a:cs typeface="Arial"/>
              </a:defRPr>
            </a:defPPr>
          </a:lstStyle>
          <a:p>
            <a:pPr>
              <a:defRPr sz="2250" b="1">
                <a:solidFill>
                  <a:srgbClr val="9C5724"/>
                </a:solidFill>
                <a:latin typeface="Arial"/>
                <a:ea typeface="Arial"/>
                <a:cs typeface="Arial"/>
              </a:defRPr>
            </a:pPr>
            <a:r>
              <a:rPr sz="2250" b="1">
                <a:solidFill>
                  <a:srgbClr val="9C5724"/>
                </a:solidFill>
                <a:latin typeface="Arial"/>
                <a:ea typeface="Arial"/>
                <a:cs typeface="Arial"/>
              </a:rPr>
              <a:t>02</a:t>
            </a:r>
          </a:p>
        </p:txBody>
      </p:sp>
      <p:sp>
        <p:nvSpPr>
          <p:cNvPr id="6" name="Rectangle 5">
            <a:extLst>
              <a:ext uri="{FF2B5EF4-FFF2-40B4-BE49-F238E27FC236}">
                <a16:creationId xmlns:a16="http://schemas.microsoft.com/office/drawing/2014/main" id="{E999F9A6-AA9A-444C-B123-6B1FC70316D2}"/>
              </a:ext>
            </a:extLst>
          </p:cNvPr>
          <p:cNvSpPr>
            <a:spLocks noGrp="1"/>
          </p:cNvSpPr>
          <p:nvPr/>
        </p:nvSpPr>
        <p:spPr>
          <a:xfrm>
            <a:off x="1238250" y="2409825"/>
            <a:ext cx="3619500" cy="523875"/>
          </a:xfrm>
          <a:prstGeom prst="rect">
            <a:avLst/>
          </a:prstGeom>
          <a:noFill/>
          <a:ln w="0">
            <a:noFill/>
          </a:ln>
        </p:spPr>
        <p:txBody>
          <a:bodyPr lIns="0" tIns="0" rIns="0" bIns="0" anchor="t"/>
          <a:lstStyle>
            <a:defPPr>
              <a:defRPr sz="2250" b="1">
                <a:solidFill>
                  <a:srgbClr val="143D48"/>
                </a:solidFill>
                <a:latin typeface="Arial"/>
                <a:ea typeface="Arial"/>
                <a:cs typeface="Arial"/>
              </a:defRPr>
            </a:defPPr>
          </a:lstStyle>
          <a:p>
            <a:pPr>
              <a:defRPr sz="2250" b="1">
                <a:solidFill>
                  <a:srgbClr val="143D48"/>
                </a:solidFill>
                <a:latin typeface="Arial"/>
                <a:ea typeface="Arial"/>
                <a:cs typeface="Arial"/>
              </a:defRPr>
            </a:pPr>
            <a:r>
              <a:rPr sz="2250" b="1">
                <a:solidFill>
                  <a:srgbClr val="143D48"/>
                </a:solidFill>
                <a:latin typeface="Arial"/>
                <a:ea typeface="Arial"/>
                <a:cs typeface="Arial"/>
              </a:rPr>
              <a:t>Refine and recycle</a:t>
            </a:r>
          </a:p>
        </p:txBody>
      </p:sp>
      <p:sp>
        <p:nvSpPr>
          <p:cNvPr id="7" name="Rectangle 6">
            <a:extLst>
              <a:ext uri="{FF2B5EF4-FFF2-40B4-BE49-F238E27FC236}">
                <a16:creationId xmlns:a16="http://schemas.microsoft.com/office/drawing/2014/main" id="{DEAFD013-F1D3-4268-A060-FF0BCEBB6AEF}"/>
              </a:ext>
            </a:extLst>
          </p:cNvPr>
          <p:cNvSpPr>
            <a:spLocks noGrp="1"/>
          </p:cNvSpPr>
          <p:nvPr/>
        </p:nvSpPr>
        <p:spPr>
          <a:xfrm>
            <a:off x="4953000" y="2409825"/>
            <a:ext cx="6524625" cy="619125"/>
          </a:xfrm>
          <a:prstGeom prst="rect">
            <a:avLst/>
          </a:prstGeom>
          <a:noFill/>
          <a:ln w="0">
            <a:noFill/>
          </a:ln>
        </p:spPr>
        <p:txBody>
          <a:bodyPr lIns="0" tIns="0" rIns="0" bIns="0" anchor="t"/>
          <a:lstStyle>
            <a:defPPr>
              <a:defRPr sz="2175" b="0">
                <a:solidFill>
                  <a:srgbClr val="29434A"/>
                </a:solidFill>
                <a:latin typeface="Arial"/>
                <a:ea typeface="Arial"/>
                <a:cs typeface="Arial"/>
              </a:defRPr>
            </a:defPPr>
          </a:lstStyle>
          <a:p>
            <a:pPr>
              <a:defRPr sz="2175" b="0">
                <a:solidFill>
                  <a:srgbClr val="29434A"/>
                </a:solidFill>
                <a:latin typeface="Arial"/>
                <a:ea typeface="Arial"/>
                <a:cs typeface="Arial"/>
              </a:defRPr>
            </a:pPr>
            <a:r>
              <a:rPr sz="2175" b="0">
                <a:solidFill>
                  <a:srgbClr val="29434A"/>
                </a:solidFill>
                <a:latin typeface="Arial"/>
                <a:ea typeface="Arial"/>
                <a:cs typeface="Arial"/>
              </a:rPr>
              <a:t>Prepare fuel salt and process returned fuel.</a:t>
            </a:r>
          </a:p>
        </p:txBody>
      </p:sp>
      <p:sp>
        <p:nvSpPr>
          <p:cNvPr id="8" name="Rectangle 7">
            <a:extLst>
              <a:ext uri="{FF2B5EF4-FFF2-40B4-BE49-F238E27FC236}">
                <a16:creationId xmlns:a16="http://schemas.microsoft.com/office/drawing/2014/main" id="{B6EDAAAD-9D17-4CF3-9C2E-0E9771B582F3}"/>
              </a:ext>
            </a:extLst>
          </p:cNvPr>
          <p:cNvSpPr>
            <a:spLocks noGrp="1"/>
          </p:cNvSpPr>
          <p:nvPr/>
        </p:nvSpPr>
        <p:spPr>
          <a:xfrm>
            <a:off x="476250" y="3438525"/>
            <a:ext cx="619125" cy="457200"/>
          </a:xfrm>
          <a:prstGeom prst="rect">
            <a:avLst/>
          </a:prstGeom>
          <a:noFill/>
          <a:ln w="0">
            <a:noFill/>
          </a:ln>
        </p:spPr>
        <p:txBody>
          <a:bodyPr lIns="0" tIns="0" rIns="0" bIns="0" anchor="t"/>
          <a:lstStyle>
            <a:defPPr>
              <a:defRPr sz="2250" b="1">
                <a:solidFill>
                  <a:srgbClr val="9C5724"/>
                </a:solidFill>
                <a:latin typeface="Arial"/>
                <a:ea typeface="Arial"/>
                <a:cs typeface="Arial"/>
              </a:defRPr>
            </a:defPPr>
          </a:lstStyle>
          <a:p>
            <a:pPr>
              <a:defRPr sz="2250" b="1">
                <a:solidFill>
                  <a:srgbClr val="9C5724"/>
                </a:solidFill>
                <a:latin typeface="Arial"/>
                <a:ea typeface="Arial"/>
                <a:cs typeface="Arial"/>
              </a:defRPr>
            </a:pPr>
            <a:r>
              <a:rPr sz="2250" b="1">
                <a:solidFill>
                  <a:srgbClr val="9C5724"/>
                </a:solidFill>
                <a:latin typeface="Arial"/>
                <a:ea typeface="Arial"/>
                <a:cs typeface="Arial"/>
              </a:rPr>
              <a:t>03</a:t>
            </a:r>
          </a:p>
        </p:txBody>
      </p:sp>
      <p:sp>
        <p:nvSpPr>
          <p:cNvPr id="9" name="Rectangle 8">
            <a:extLst>
              <a:ext uri="{FF2B5EF4-FFF2-40B4-BE49-F238E27FC236}">
                <a16:creationId xmlns:a16="http://schemas.microsoft.com/office/drawing/2014/main" id="{4FCD8E90-18D5-4A2D-893D-764F233FE79F}"/>
              </a:ext>
            </a:extLst>
          </p:cNvPr>
          <p:cNvSpPr>
            <a:spLocks noGrp="1"/>
          </p:cNvSpPr>
          <p:nvPr/>
        </p:nvSpPr>
        <p:spPr>
          <a:xfrm>
            <a:off x="1238250" y="3438525"/>
            <a:ext cx="3619500" cy="523875"/>
          </a:xfrm>
          <a:prstGeom prst="rect">
            <a:avLst/>
          </a:prstGeom>
          <a:noFill/>
          <a:ln w="0">
            <a:noFill/>
          </a:ln>
        </p:spPr>
        <p:txBody>
          <a:bodyPr lIns="0" tIns="0" rIns="0" bIns="0" anchor="t"/>
          <a:lstStyle>
            <a:defPPr>
              <a:defRPr sz="2250" b="1">
                <a:solidFill>
                  <a:srgbClr val="143D48"/>
                </a:solidFill>
                <a:latin typeface="Arial"/>
                <a:ea typeface="Arial"/>
                <a:cs typeface="Arial"/>
              </a:defRPr>
            </a:defPPr>
          </a:lstStyle>
          <a:p>
            <a:pPr>
              <a:defRPr sz="2250" b="1">
                <a:solidFill>
                  <a:srgbClr val="143D48"/>
                </a:solidFill>
                <a:latin typeface="Arial"/>
                <a:ea typeface="Arial"/>
                <a:cs typeface="Arial"/>
              </a:defRPr>
            </a:pPr>
            <a:r>
              <a:rPr sz="2250" b="1">
                <a:solidFill>
                  <a:srgbClr val="143D48"/>
                </a:solidFill>
                <a:latin typeface="Arial"/>
                <a:ea typeface="Arial"/>
                <a:cs typeface="Arial"/>
              </a:rPr>
              <a:t>Produce heat in WISTR</a:t>
            </a:r>
          </a:p>
        </p:txBody>
      </p:sp>
      <p:sp>
        <p:nvSpPr>
          <p:cNvPr id="10" name="Rectangle 9">
            <a:extLst>
              <a:ext uri="{FF2B5EF4-FFF2-40B4-BE49-F238E27FC236}">
                <a16:creationId xmlns:a16="http://schemas.microsoft.com/office/drawing/2014/main" id="{253BF6D6-61F5-455E-96BF-CF41437218B7}"/>
              </a:ext>
            </a:extLst>
          </p:cNvPr>
          <p:cNvSpPr>
            <a:spLocks noGrp="1"/>
          </p:cNvSpPr>
          <p:nvPr/>
        </p:nvSpPr>
        <p:spPr>
          <a:xfrm>
            <a:off x="4953000" y="3438525"/>
            <a:ext cx="6524625" cy="619125"/>
          </a:xfrm>
          <a:prstGeom prst="rect">
            <a:avLst/>
          </a:prstGeom>
          <a:noFill/>
          <a:ln w="0">
            <a:noFill/>
          </a:ln>
        </p:spPr>
        <p:txBody>
          <a:bodyPr lIns="0" tIns="0" rIns="0" bIns="0" anchor="t"/>
          <a:lstStyle>
            <a:defPPr>
              <a:defRPr sz="2175" b="0">
                <a:solidFill>
                  <a:srgbClr val="29434A"/>
                </a:solidFill>
                <a:latin typeface="Arial"/>
                <a:ea typeface="Arial"/>
                <a:cs typeface="Arial"/>
              </a:defRPr>
            </a:defPPr>
          </a:lstStyle>
          <a:p>
            <a:pPr>
              <a:defRPr sz="2175" b="0">
                <a:solidFill>
                  <a:srgbClr val="29434A"/>
                </a:solidFill>
                <a:latin typeface="Arial"/>
                <a:ea typeface="Arial"/>
                <a:cs typeface="Arial"/>
              </a:defRPr>
            </a:pPr>
            <a:r>
              <a:rPr sz="2175" b="0">
                <a:solidFill>
                  <a:srgbClr val="29434A"/>
                </a:solidFill>
                <a:latin typeface="Arial"/>
                <a:ea typeface="Arial"/>
                <a:cs typeface="Arial"/>
              </a:rPr>
              <a:t>Keep fuel salt and circulating coolant separate.</a:t>
            </a:r>
          </a:p>
        </p:txBody>
      </p:sp>
      <p:sp>
        <p:nvSpPr>
          <p:cNvPr id="11" name="Rectangle 10">
            <a:extLst>
              <a:ext uri="{FF2B5EF4-FFF2-40B4-BE49-F238E27FC236}">
                <a16:creationId xmlns:a16="http://schemas.microsoft.com/office/drawing/2014/main" id="{DF298F80-A676-4ACF-A295-F3455604928E}"/>
              </a:ext>
            </a:extLst>
          </p:cNvPr>
          <p:cNvSpPr>
            <a:spLocks noGrp="1"/>
          </p:cNvSpPr>
          <p:nvPr/>
        </p:nvSpPr>
        <p:spPr>
          <a:xfrm>
            <a:off x="476250" y="4467225"/>
            <a:ext cx="619125" cy="457200"/>
          </a:xfrm>
          <a:prstGeom prst="rect">
            <a:avLst/>
          </a:prstGeom>
          <a:noFill/>
          <a:ln w="0">
            <a:noFill/>
          </a:ln>
        </p:spPr>
        <p:txBody>
          <a:bodyPr lIns="0" tIns="0" rIns="0" bIns="0" anchor="t"/>
          <a:lstStyle>
            <a:defPPr>
              <a:defRPr sz="2250" b="1">
                <a:solidFill>
                  <a:srgbClr val="9C5724"/>
                </a:solidFill>
                <a:latin typeface="Arial"/>
                <a:ea typeface="Arial"/>
                <a:cs typeface="Arial"/>
              </a:defRPr>
            </a:defPPr>
          </a:lstStyle>
          <a:p>
            <a:pPr>
              <a:defRPr sz="2250" b="1">
                <a:solidFill>
                  <a:srgbClr val="9C5724"/>
                </a:solidFill>
                <a:latin typeface="Arial"/>
                <a:ea typeface="Arial"/>
                <a:cs typeface="Arial"/>
              </a:defRPr>
            </a:pPr>
            <a:r>
              <a:rPr sz="2250" b="1">
                <a:solidFill>
                  <a:srgbClr val="9C5724"/>
                </a:solidFill>
                <a:latin typeface="Arial"/>
                <a:ea typeface="Arial"/>
                <a:cs typeface="Arial"/>
              </a:rPr>
              <a:t>04</a:t>
            </a:r>
          </a:p>
        </p:txBody>
      </p:sp>
      <p:sp>
        <p:nvSpPr>
          <p:cNvPr id="12" name="Rectangle 11">
            <a:extLst>
              <a:ext uri="{FF2B5EF4-FFF2-40B4-BE49-F238E27FC236}">
                <a16:creationId xmlns:a16="http://schemas.microsoft.com/office/drawing/2014/main" id="{2C3381CF-92BA-4089-A11F-8B72DF82818A}"/>
              </a:ext>
            </a:extLst>
          </p:cNvPr>
          <p:cNvSpPr>
            <a:spLocks noGrp="1"/>
          </p:cNvSpPr>
          <p:nvPr/>
        </p:nvSpPr>
        <p:spPr>
          <a:xfrm>
            <a:off x="1238250" y="4467225"/>
            <a:ext cx="3619500" cy="523875"/>
          </a:xfrm>
          <a:prstGeom prst="rect">
            <a:avLst/>
          </a:prstGeom>
          <a:noFill/>
          <a:ln w="0">
            <a:noFill/>
          </a:ln>
        </p:spPr>
        <p:txBody>
          <a:bodyPr lIns="0" tIns="0" rIns="0" bIns="0" anchor="t"/>
          <a:lstStyle>
            <a:defPPr>
              <a:defRPr sz="2250" b="1">
                <a:solidFill>
                  <a:srgbClr val="143D48"/>
                </a:solidFill>
                <a:latin typeface="Arial"/>
                <a:ea typeface="Arial"/>
                <a:cs typeface="Arial"/>
              </a:defRPr>
            </a:defPPr>
          </a:lstStyle>
          <a:p>
            <a:pPr>
              <a:defRPr sz="2250" b="1">
                <a:solidFill>
                  <a:srgbClr val="143D48"/>
                </a:solidFill>
                <a:latin typeface="Arial"/>
                <a:ea typeface="Arial"/>
                <a:cs typeface="Arial"/>
              </a:defRPr>
            </a:pPr>
            <a:r>
              <a:rPr sz="2250" b="1">
                <a:solidFill>
                  <a:srgbClr val="143D48"/>
                </a:solidFill>
                <a:latin typeface="Arial"/>
                <a:ea typeface="Arial"/>
                <a:cs typeface="Arial"/>
              </a:rPr>
              <a:t>Generate electricity</a:t>
            </a:r>
          </a:p>
        </p:txBody>
      </p:sp>
      <p:sp>
        <p:nvSpPr>
          <p:cNvPr id="13" name="Rectangle 12">
            <a:extLst>
              <a:ext uri="{FF2B5EF4-FFF2-40B4-BE49-F238E27FC236}">
                <a16:creationId xmlns:a16="http://schemas.microsoft.com/office/drawing/2014/main" id="{E3E46215-DDB7-417A-8392-4C078D03E6A6}"/>
              </a:ext>
            </a:extLst>
          </p:cNvPr>
          <p:cNvSpPr>
            <a:spLocks noGrp="1"/>
          </p:cNvSpPr>
          <p:nvPr/>
        </p:nvSpPr>
        <p:spPr>
          <a:xfrm>
            <a:off x="4953000" y="4467225"/>
            <a:ext cx="6524625" cy="619125"/>
          </a:xfrm>
          <a:prstGeom prst="rect">
            <a:avLst/>
          </a:prstGeom>
          <a:noFill/>
          <a:ln w="0">
            <a:noFill/>
          </a:ln>
        </p:spPr>
        <p:txBody>
          <a:bodyPr lIns="0" tIns="0" rIns="0" bIns="0" anchor="t"/>
          <a:lstStyle>
            <a:defPPr>
              <a:defRPr sz="2175" b="0">
                <a:solidFill>
                  <a:srgbClr val="29434A"/>
                </a:solidFill>
                <a:latin typeface="Arial"/>
                <a:ea typeface="Arial"/>
                <a:cs typeface="Arial"/>
              </a:defRPr>
            </a:defPPr>
          </a:lstStyle>
          <a:p>
            <a:pPr>
              <a:defRPr sz="2175" b="0">
                <a:solidFill>
                  <a:srgbClr val="29434A"/>
                </a:solidFill>
                <a:latin typeface="Arial"/>
                <a:ea typeface="Arial"/>
                <a:cs typeface="Arial"/>
              </a:defRPr>
            </a:pPr>
            <a:r>
              <a:rPr sz="2175" b="0">
                <a:solidFill>
                  <a:srgbClr val="29434A"/>
                </a:solidFill>
                <a:latin typeface="Arial"/>
                <a:ea typeface="Arial"/>
                <a:cs typeface="Arial"/>
              </a:rPr>
              <a:t>Transfer heat through three steam-generator loops.</a:t>
            </a:r>
          </a:p>
        </p:txBody>
      </p:sp>
      <p:sp>
        <p:nvSpPr>
          <p:cNvPr id="14" name="Rectangle 13">
            <a:extLst>
              <a:ext uri="{FF2B5EF4-FFF2-40B4-BE49-F238E27FC236}">
                <a16:creationId xmlns:a16="http://schemas.microsoft.com/office/drawing/2014/main" id="{C1988E48-A26D-4074-A5DC-7D0D0D3080AF}"/>
              </a:ext>
            </a:extLst>
          </p:cNvPr>
          <p:cNvSpPr>
            <a:spLocks noGrp="1"/>
          </p:cNvSpPr>
          <p:nvPr/>
        </p:nvSpPr>
        <p:spPr>
          <a:xfrm>
            <a:off x="1238250" y="5743575"/>
            <a:ext cx="10287000" cy="438150"/>
          </a:xfrm>
          <a:prstGeom prst="rect">
            <a:avLst/>
          </a:prstGeom>
          <a:noFill/>
          <a:ln w="0">
            <a:noFill/>
          </a:ln>
        </p:spPr>
        <p:txBody>
          <a:bodyPr lIns="0" tIns="0" rIns="0" bIns="0" anchor="t"/>
          <a:lstStyle>
            <a:defPPr>
              <a:defRPr sz="1950" b="1">
                <a:solidFill>
                  <a:srgbClr val="143D48"/>
                </a:solidFill>
                <a:latin typeface="Arial"/>
                <a:ea typeface="Arial"/>
                <a:cs typeface="Arial"/>
              </a:defRPr>
            </a:defPPr>
          </a:lstStyle>
          <a:p>
            <a:pPr>
              <a:defRPr sz="1950" b="1">
                <a:solidFill>
                  <a:srgbClr val="143D48"/>
                </a:solidFill>
                <a:latin typeface="Arial"/>
                <a:ea typeface="Arial"/>
                <a:cs typeface="Arial"/>
              </a:defRPr>
            </a:pPr>
            <a:r>
              <a:rPr sz="1950" b="1">
                <a:solidFill>
                  <a:srgbClr val="143D48"/>
                </a:solidFill>
                <a:latin typeface="Arial"/>
                <a:ea typeface="Arial"/>
                <a:cs typeface="Arial"/>
              </a:rPr>
              <a:t>Design targets: 1,500 MW thermal / 600 MW electric</a:t>
            </a:r>
          </a:p>
        </p:txBody>
      </p:sp>
      <p:sp>
        <p:nvSpPr>
          <p:cNvPr id="1015" name="Workshop heading">
            <a:extLst>
              <a:ext uri="{FF2B5EF4-FFF2-40B4-BE49-F238E27FC236}">
                <a16:creationId xmlns:a16="http://schemas.microsoft.com/office/drawing/2014/main" id="{0A2FCB8E-81EC-4AAA-80FE-E4B1DCEB1F3F}"/>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The Fast Salt System</a:t>
            </a:r>
          </a:p>
        </p:txBody>
      </p:sp>
      <p:sp>
        <p:nvSpPr>
          <p:cNvPr id="1016" name="Slide number">
            <a:extLst>
              <a:ext uri="{FF2B5EF4-FFF2-40B4-BE49-F238E27FC236}">
                <a16:creationId xmlns:a16="http://schemas.microsoft.com/office/drawing/2014/main" id="{0E60178B-4D5D-480A-9A71-D9AE2CD9B429}"/>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2</a:t>
            </a:r>
          </a:p>
        </p:txBody>
      </p:sp>
      <p:pic>
        <p:nvPicPr>
          <p:cNvPr id="2016" name="Picture 2015">
            <a:extLst>
              <a:ext uri="{FF2B5EF4-FFF2-40B4-BE49-F238E27FC236}">
                <a16:creationId xmlns:a16="http://schemas.microsoft.com/office/drawing/2014/main" id="{FE231588-64F6-474E-9AB0-CADB07FCBAE5}"/>
              </a:ext>
            </a:extLst>
          </p:cNvPr>
          <p:cNvPicPr>
            <a:picLocks noChangeAspect="1"/>
          </p:cNvPicPr>
          <p:nvPr/>
        </p:nvPicPr>
        <p:blipFill>
          <a:blip r:embed="rId3"/>
          <a:stretch/>
        </p:blipFill>
        <p:spPr>
          <a:xfrm>
            <a:off x="4226292" y="6401829"/>
            <a:ext cx="2035183" cy="456162"/>
          </a:xfrm>
          <a:prstGeom prst="rect">
            <a:avLst/>
          </a:prstGeom>
        </p:spPr>
      </p:pic>
      <p:pic>
        <p:nvPicPr>
          <p:cNvPr id="2017" name="Picture 2016">
            <a:extLst>
              <a:ext uri="{FF2B5EF4-FFF2-40B4-BE49-F238E27FC236}">
                <a16:creationId xmlns:a16="http://schemas.microsoft.com/office/drawing/2014/main" id="{C1E95E98-BB0B-485E-836B-54BE3C42A4AA}"/>
              </a:ext>
            </a:extLst>
          </p:cNvPr>
          <p:cNvPicPr>
            <a:picLocks noChangeAspect="1"/>
          </p:cNvPicPr>
          <p:nvPr/>
        </p:nvPicPr>
        <p:blipFill>
          <a:blip r:embed="rId4"/>
          <a:stretch/>
        </p:blipFill>
        <p:spPr>
          <a:xfrm>
            <a:off x="284921" y="6340481"/>
            <a:ext cx="1994449" cy="483503"/>
          </a:xfrm>
          <a:prstGeom prst="rect">
            <a:avLst/>
          </a:prstGeom>
        </p:spPr>
      </p:pic>
      <p:pic>
        <p:nvPicPr>
          <p:cNvPr id="2018" name="Picture 2017">
            <a:extLst>
              <a:ext uri="{FF2B5EF4-FFF2-40B4-BE49-F238E27FC236}">
                <a16:creationId xmlns:a16="http://schemas.microsoft.com/office/drawing/2014/main" id="{30DEF8AC-1ED3-43A1-990C-43EFA815564E}"/>
              </a:ext>
            </a:extLst>
          </p:cNvPr>
          <p:cNvPicPr>
            <a:picLocks noChangeAspect="1"/>
          </p:cNvPicPr>
          <p:nvPr/>
        </p:nvPicPr>
        <p:blipFill>
          <a:blip r:embed="rId5"/>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1831881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8EBEA9-89F3-ACF2-7BD1-439EE6097BB5}"/>
              </a:ext>
            </a:extLst>
          </p:cNvPr>
          <p:cNvSpPr>
            <a:spLocks noGrp="1"/>
          </p:cNvSpPr>
          <p:nvPr>
            <p:ph type="ctrTitle" sz="quarter"/>
          </p:nvPr>
        </p:nvSpPr>
        <p:spPr/>
        <p:txBody>
          <a:bodyPr/>
          <a:lstStyle/>
          <a:p>
            <a:r>
              <a:rPr lang="en-US" dirty="0"/>
              <a:t>WISTR Safety Analysis</a:t>
            </a:r>
          </a:p>
        </p:txBody>
      </p:sp>
      <p:sp>
        <p:nvSpPr>
          <p:cNvPr id="2" name="Subtitle 1">
            <a:extLst>
              <a:ext uri="{FF2B5EF4-FFF2-40B4-BE49-F238E27FC236}">
                <a16:creationId xmlns:a16="http://schemas.microsoft.com/office/drawing/2014/main" id="{42C2AEDF-31D9-B7E7-27A9-2BA2C526EEE8}"/>
              </a:ext>
            </a:extLst>
          </p:cNvPr>
          <p:cNvSpPr>
            <a:spLocks noGrp="1"/>
          </p:cNvSpPr>
          <p:nvPr>
            <p:ph type="subTitle" sz="quarter" idx="1"/>
          </p:nvPr>
        </p:nvSpPr>
        <p:spPr/>
        <p:txBody>
          <a:bodyPr/>
          <a:lstStyle/>
          <a:p>
            <a:r>
              <a:rPr lang="en-US" dirty="0"/>
              <a:t>Hangyu Lee and Won Sik Yang</a:t>
            </a:r>
          </a:p>
        </p:txBody>
      </p:sp>
      <p:sp>
        <p:nvSpPr>
          <p:cNvPr id="6" name="Text Placeholder 5">
            <a:extLst>
              <a:ext uri="{FF2B5EF4-FFF2-40B4-BE49-F238E27FC236}">
                <a16:creationId xmlns:a16="http://schemas.microsoft.com/office/drawing/2014/main" id="{A5A29ECA-FACF-6701-0278-23BA50B48705}"/>
              </a:ext>
            </a:extLst>
          </p:cNvPr>
          <p:cNvSpPr>
            <a:spLocks noGrp="1"/>
          </p:cNvSpPr>
          <p:nvPr>
            <p:ph type="body" sz="quarter" idx="10"/>
          </p:nvPr>
        </p:nvSpPr>
        <p:spPr/>
        <p:txBody>
          <a:bodyPr/>
          <a:lstStyle/>
          <a:p>
            <a:r>
              <a:rPr lang="en-US"/>
              <a:t>October 28, </a:t>
            </a:r>
            <a:r>
              <a:rPr lang="en-US" dirty="0"/>
              <a:t>2026</a:t>
            </a:r>
          </a:p>
        </p:txBody>
      </p:sp>
    </p:spTree>
    <p:extLst>
      <p:ext uri="{BB962C8B-B14F-4D97-AF65-F5344CB8AC3E}">
        <p14:creationId xmlns:p14="http://schemas.microsoft.com/office/powerpoint/2010/main" val="1306149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8589FE79-26AA-2AFF-C6F3-D85375D61214}"/>
              </a:ext>
            </a:extLst>
          </p:cNvPr>
          <p:cNvSpPr>
            <a:spLocks noGrp="1"/>
          </p:cNvSpPr>
          <p:nvPr>
            <p:ph idx="1"/>
          </p:nvPr>
        </p:nvSpPr>
        <p:spPr>
          <a:xfrm>
            <a:off x="461434" y="874567"/>
            <a:ext cx="5634566" cy="4810364"/>
          </a:xfrm>
        </p:spPr>
        <p:txBody>
          <a:bodyPr/>
          <a:lstStyle/>
          <a:p>
            <a:r>
              <a:rPr lang="en-US" altLang="ko-KR" dirty="0"/>
              <a:t>One-dimensional SAM model of the primary circuit</a:t>
            </a:r>
          </a:p>
          <a:p>
            <a:pPr lvl="1"/>
            <a:r>
              <a:rPr lang="en-US" altLang="ko-KR" dirty="0"/>
              <a:t>Six radial regions, each with an interior and a near-wall channel, and fuel salt as the heat structure</a:t>
            </a:r>
          </a:p>
          <a:p>
            <a:pPr lvl="1"/>
            <a:r>
              <a:rPr lang="en-US" altLang="ko-KR" dirty="0"/>
              <a:t>Dual-loop configuration equivalent to three loops so that single-loop failure could be examined</a:t>
            </a:r>
          </a:p>
          <a:p>
            <a:pPr lvl="1"/>
            <a:r>
              <a:rPr lang="en-US" altLang="ko-KR" dirty="0"/>
              <a:t>U-tube supercritical steam generator with air passages (SGACS)</a:t>
            </a:r>
            <a:endParaRPr lang="en-US" altLang="ko-KR" strike="sngStrike" dirty="0"/>
          </a:p>
          <a:p>
            <a:pPr lvl="1"/>
            <a:r>
              <a:rPr lang="en-US" altLang="ko-KR" dirty="0"/>
              <a:t>Air cooling around reactor vessel (RVACS)</a:t>
            </a:r>
          </a:p>
          <a:p>
            <a:pPr lvl="1"/>
            <a:r>
              <a:rPr lang="en-US" altLang="ko-KR" dirty="0"/>
              <a:t>SGACS and RVACS with 30 m natural-</a:t>
            </a:r>
            <a:r>
              <a:rPr lang="en-US" altLang="ko-KR" dirty="0" err="1"/>
              <a:t>draftt</a:t>
            </a:r>
            <a:r>
              <a:rPr lang="en-US" altLang="ko-KR" dirty="0"/>
              <a:t> air paths</a:t>
            </a:r>
          </a:p>
          <a:p>
            <a:r>
              <a:rPr lang="en-US" altLang="ko-KR" dirty="0"/>
              <a:t>Point kinetics with spatially dependent reactivity feedback (evaluated with PERSENT) and ANS-5.1 decay heat</a:t>
            </a:r>
          </a:p>
          <a:p>
            <a:r>
              <a:rPr lang="en-US" altLang="ko-KR" dirty="0"/>
              <a:t>Shutdown worth of absorber salt injection systems evaluated from OpenMC and the absorber salt injection kinetics</a:t>
            </a:r>
          </a:p>
        </p:txBody>
      </p:sp>
      <p:sp>
        <p:nvSpPr>
          <p:cNvPr id="3" name="Title 2">
            <a:extLst>
              <a:ext uri="{FF2B5EF4-FFF2-40B4-BE49-F238E27FC236}">
                <a16:creationId xmlns:a16="http://schemas.microsoft.com/office/drawing/2014/main" id="{547FDB1E-D5F8-5A7E-0443-271BD5E07E41}"/>
              </a:ext>
            </a:extLst>
          </p:cNvPr>
          <p:cNvSpPr>
            <a:spLocks noGrp="1"/>
          </p:cNvSpPr>
          <p:nvPr>
            <p:ph type="title"/>
          </p:nvPr>
        </p:nvSpPr>
        <p:spPr/>
        <p:txBody>
          <a:bodyPr/>
          <a:lstStyle/>
          <a:p>
            <a:r>
              <a:rPr lang="en-US" altLang="ko-KR" dirty="0"/>
              <a:t>SAM </a:t>
            </a:r>
            <a:r>
              <a:rPr lang="en-US" altLang="ko-KR" dirty="0" err="1"/>
              <a:t>Nodalization</a:t>
            </a:r>
            <a:r>
              <a:rPr lang="en-US" altLang="ko-KR" dirty="0"/>
              <a:t> Diagram for WISTR Reactor Coolant System</a:t>
            </a:r>
            <a:endParaRPr lang="ko-KR" altLang="en-US" dirty="0"/>
          </a:p>
        </p:txBody>
      </p:sp>
      <p:pic>
        <p:nvPicPr>
          <p:cNvPr id="23" name="Picture 22">
            <a:extLst>
              <a:ext uri="{FF2B5EF4-FFF2-40B4-BE49-F238E27FC236}">
                <a16:creationId xmlns:a16="http://schemas.microsoft.com/office/drawing/2014/main" id="{9A179F68-5395-F21B-9DEC-FBE654C70980}"/>
              </a:ext>
            </a:extLst>
          </p:cNvPr>
          <p:cNvPicPr>
            <a:picLocks noChangeAspect="1"/>
          </p:cNvPicPr>
          <p:nvPr/>
        </p:nvPicPr>
        <p:blipFill>
          <a:blip r:embed="rId3"/>
          <a:stretch>
            <a:fillRect/>
          </a:stretch>
        </p:blipFill>
        <p:spPr>
          <a:xfrm>
            <a:off x="6431388" y="1023817"/>
            <a:ext cx="5299178" cy="4810365"/>
          </a:xfrm>
          <a:prstGeom prst="rect">
            <a:avLst/>
          </a:prstGeom>
        </p:spPr>
      </p:pic>
    </p:spTree>
    <p:extLst>
      <p:ext uri="{BB962C8B-B14F-4D97-AF65-F5344CB8AC3E}">
        <p14:creationId xmlns:p14="http://schemas.microsoft.com/office/powerpoint/2010/main" val="3648043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D6195B-6C85-1CC3-51A5-05C3A29F9254}"/>
              </a:ext>
            </a:extLst>
          </p:cNvPr>
          <p:cNvSpPr>
            <a:spLocks noGrp="1"/>
          </p:cNvSpPr>
          <p:nvPr>
            <p:ph type="title"/>
          </p:nvPr>
        </p:nvSpPr>
        <p:spPr/>
        <p:txBody>
          <a:bodyPr/>
          <a:lstStyle/>
          <a:p>
            <a:r>
              <a:rPr lang="en-US" altLang="ko-KR" dirty="0"/>
              <a:t>Wall Temperature Evolution in Unprotected Accidents</a:t>
            </a:r>
            <a:endParaRPr lang="ko-KR" altLang="en-US" dirty="0"/>
          </a:p>
        </p:txBody>
      </p:sp>
      <p:pic>
        <p:nvPicPr>
          <p:cNvPr id="6" name="Content Placeholder 5">
            <a:extLst>
              <a:ext uri="{FF2B5EF4-FFF2-40B4-BE49-F238E27FC236}">
                <a16:creationId xmlns:a16="http://schemas.microsoft.com/office/drawing/2014/main" id="{90D18D71-934A-3CF8-1F03-F3A83BC126DD}"/>
              </a:ext>
            </a:extLst>
          </p:cNvPr>
          <p:cNvPicPr>
            <a:picLocks noGrp="1" noChangeAspect="1"/>
          </p:cNvPicPr>
          <p:nvPr>
            <p:ph idx="1"/>
          </p:nvPr>
        </p:nvPicPr>
        <p:blipFill>
          <a:blip r:embed="rId3"/>
          <a:stretch>
            <a:fillRect/>
          </a:stretch>
        </p:blipFill>
        <p:spPr>
          <a:xfrm>
            <a:off x="2538740" y="1060704"/>
            <a:ext cx="7095472" cy="4736592"/>
          </a:xfrm>
          <a:prstGeom prst="rect">
            <a:avLst/>
          </a:prstGeom>
        </p:spPr>
      </p:pic>
    </p:spTree>
    <p:extLst>
      <p:ext uri="{BB962C8B-B14F-4D97-AF65-F5344CB8AC3E}">
        <p14:creationId xmlns:p14="http://schemas.microsoft.com/office/powerpoint/2010/main" val="2469346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C0C9B3-2672-2650-C826-E3737691E2F5}"/>
              </a:ext>
            </a:extLst>
          </p:cNvPr>
          <p:cNvSpPr>
            <a:spLocks noGrp="1"/>
          </p:cNvSpPr>
          <p:nvPr>
            <p:ph type="title"/>
          </p:nvPr>
        </p:nvSpPr>
        <p:spPr/>
        <p:txBody>
          <a:bodyPr/>
          <a:lstStyle/>
          <a:p>
            <a:r>
              <a:rPr lang="en-US" altLang="ko-KR" dirty="0"/>
              <a:t>Wall Temperature Evolution in Protected SBO Scenario</a:t>
            </a:r>
            <a:endParaRPr lang="ko-KR" altLang="en-US" dirty="0"/>
          </a:p>
        </p:txBody>
      </p:sp>
      <p:sp>
        <p:nvSpPr>
          <p:cNvPr id="10" name="Content Placeholder 9">
            <a:extLst>
              <a:ext uri="{FF2B5EF4-FFF2-40B4-BE49-F238E27FC236}">
                <a16:creationId xmlns:a16="http://schemas.microsoft.com/office/drawing/2014/main" id="{25B3E075-5891-3CA3-1BAE-940422BF6C3A}"/>
              </a:ext>
            </a:extLst>
          </p:cNvPr>
          <p:cNvSpPr>
            <a:spLocks noGrp="1"/>
          </p:cNvSpPr>
          <p:nvPr>
            <p:ph idx="1"/>
          </p:nvPr>
        </p:nvSpPr>
        <p:spPr/>
        <p:txBody>
          <a:bodyPr/>
          <a:lstStyle/>
          <a:p>
            <a:r>
              <a:rPr lang="en-US" altLang="ko-KR" dirty="0"/>
              <a:t>Initial decrease due to the reactor shutdown and pump coast down</a:t>
            </a:r>
          </a:p>
          <a:p>
            <a:r>
              <a:rPr lang="en-US" altLang="ko-KR" dirty="0"/>
              <a:t>Then increase due to decay heat until the decay heat removal capacity matches the decay heat</a:t>
            </a:r>
            <a:endParaRPr lang="ko-KR" altLang="en-US" dirty="0"/>
          </a:p>
        </p:txBody>
      </p:sp>
      <p:pic>
        <p:nvPicPr>
          <p:cNvPr id="5" name="Picture 4">
            <a:extLst>
              <a:ext uri="{FF2B5EF4-FFF2-40B4-BE49-F238E27FC236}">
                <a16:creationId xmlns:a16="http://schemas.microsoft.com/office/drawing/2014/main" id="{8CF0566D-1ADF-8D44-8349-D85B6EFBB6D4}"/>
              </a:ext>
            </a:extLst>
          </p:cNvPr>
          <p:cNvPicPr>
            <a:picLocks noChangeAspect="1"/>
          </p:cNvPicPr>
          <p:nvPr/>
        </p:nvPicPr>
        <p:blipFill>
          <a:blip r:embed="rId3"/>
          <a:stretch>
            <a:fillRect/>
          </a:stretch>
        </p:blipFill>
        <p:spPr>
          <a:xfrm>
            <a:off x="2824692" y="1688636"/>
            <a:ext cx="6496050" cy="4140832"/>
          </a:xfrm>
          <a:prstGeom prst="rect">
            <a:avLst/>
          </a:prstGeom>
        </p:spPr>
      </p:pic>
    </p:spTree>
    <p:extLst>
      <p:ext uri="{BB962C8B-B14F-4D97-AF65-F5344CB8AC3E}">
        <p14:creationId xmlns:p14="http://schemas.microsoft.com/office/powerpoint/2010/main" val="2263233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0AFDE6A-8E29-2E58-B1E0-C7D1A01EEE59}"/>
              </a:ext>
            </a:extLst>
          </p:cNvPr>
          <p:cNvSpPr>
            <a:spLocks noGrp="1"/>
          </p:cNvSpPr>
          <p:nvPr>
            <p:ph idx="1"/>
          </p:nvPr>
        </p:nvSpPr>
        <p:spPr>
          <a:xfrm>
            <a:off x="461434" y="874566"/>
            <a:ext cx="11222567" cy="4769878"/>
          </a:xfrm>
        </p:spPr>
        <p:txBody>
          <a:bodyPr/>
          <a:lstStyle/>
          <a:p>
            <a:r>
              <a:rPr lang="en-US" altLang="ko-KR" dirty="0"/>
              <a:t>WISTR safety features</a:t>
            </a:r>
          </a:p>
          <a:p>
            <a:pPr lvl="1"/>
            <a:r>
              <a:rPr lang="en-US" altLang="ko-KR" dirty="0"/>
              <a:t>Static liquid fuel gives a strong, prompt negative feedback.</a:t>
            </a:r>
          </a:p>
          <a:p>
            <a:pPr lvl="1"/>
            <a:r>
              <a:rPr lang="en-US" altLang="ko-KR" dirty="0"/>
              <a:t>Shutdown and decay heat removal need no electric power (absorber injection systems, SGACS, and </a:t>
            </a:r>
            <a:r>
              <a:rPr lang="en-US" altLang="ko-KR" dirty="0" err="1"/>
              <a:t>RVACS</a:t>
            </a:r>
            <a:r>
              <a:rPr lang="en-US" altLang="ko-KR" dirty="0"/>
              <a:t>).</a:t>
            </a:r>
          </a:p>
          <a:p>
            <a:r>
              <a:rPr lang="en-US" altLang="ko-KR" dirty="0"/>
              <a:t>Safety analysis study</a:t>
            </a:r>
          </a:p>
          <a:p>
            <a:pPr lvl="1"/>
            <a:r>
              <a:rPr lang="en-US" altLang="ko-KR" dirty="0"/>
              <a:t>SAM safety analysis models of the WISTR primary circuit with spatially dependent thermal feedback and passive heat removal systems were developed.</a:t>
            </a:r>
          </a:p>
          <a:p>
            <a:pPr lvl="1"/>
            <a:r>
              <a:rPr lang="en-US" altLang="ko-KR" dirty="0"/>
              <a:t>Margins to the fuel and structural design limits were quantified.</a:t>
            </a:r>
            <a:endParaRPr lang="en-US" altLang="ko-KR" strike="sngStrike" dirty="0"/>
          </a:p>
          <a:p>
            <a:r>
              <a:rPr lang="en-US" altLang="ko-KR" dirty="0"/>
              <a:t>Demonstrated inherent power self-regulation under various unprotected scenarios</a:t>
            </a:r>
          </a:p>
          <a:p>
            <a:pPr lvl="1"/>
            <a:r>
              <a:rPr lang="en-US" altLang="ko-KR" dirty="0"/>
              <a:t>Strong negative fuel expansion feedback effectively shuts down the reactor.</a:t>
            </a:r>
          </a:p>
          <a:p>
            <a:pPr lvl="1"/>
            <a:r>
              <a:rPr lang="en-US" altLang="ko-KR" dirty="0"/>
              <a:t>Reactor power and temperatures approach stable conditions without SCRAM in the selected UTOP, </a:t>
            </a:r>
            <a:r>
              <a:rPr lang="en-US" altLang="ko-KR" dirty="0" err="1"/>
              <a:t>UPOS</a:t>
            </a:r>
            <a:r>
              <a:rPr lang="en-US" altLang="ko-KR" dirty="0"/>
              <a:t>, and ULOF scenarios.</a:t>
            </a:r>
          </a:p>
          <a:p>
            <a:r>
              <a:rPr lang="en-US" altLang="ko-KR" dirty="0"/>
              <a:t>Confirmed passive decay heat removal capability</a:t>
            </a:r>
          </a:p>
          <a:p>
            <a:pPr lvl="1"/>
            <a:r>
              <a:rPr lang="en-US" altLang="ko-KR" dirty="0"/>
              <a:t>SGACS and </a:t>
            </a:r>
            <a:r>
              <a:rPr lang="en-US" altLang="ko-KR" dirty="0" err="1"/>
              <a:t>RVACS</a:t>
            </a:r>
            <a:r>
              <a:rPr lang="en-US" altLang="ko-KR" dirty="0"/>
              <a:t> provide long-term decay heat removal through natural air circulation.</a:t>
            </a:r>
          </a:p>
          <a:p>
            <a:pPr lvl="1"/>
            <a:r>
              <a:rPr lang="en-US" altLang="ko-KR" dirty="0"/>
              <a:t>In the protected SBO scenario, decay heat is removed passively through SGACS.</a:t>
            </a:r>
          </a:p>
        </p:txBody>
      </p:sp>
      <p:sp>
        <p:nvSpPr>
          <p:cNvPr id="3" name="Title 2">
            <a:extLst>
              <a:ext uri="{FF2B5EF4-FFF2-40B4-BE49-F238E27FC236}">
                <a16:creationId xmlns:a16="http://schemas.microsoft.com/office/drawing/2014/main" id="{FED83C1F-CAA6-9F0D-0B9F-9DE8A21907E6}"/>
              </a:ext>
            </a:extLst>
          </p:cNvPr>
          <p:cNvSpPr>
            <a:spLocks noGrp="1"/>
          </p:cNvSpPr>
          <p:nvPr>
            <p:ph type="title"/>
          </p:nvPr>
        </p:nvSpPr>
        <p:spPr/>
        <p:txBody>
          <a:bodyPr/>
          <a:lstStyle/>
          <a:p>
            <a:r>
              <a:rPr lang="en-US" altLang="ko-KR" dirty="0"/>
              <a:t>Conclusions</a:t>
            </a:r>
            <a:endParaRPr lang="ko-KR" altLang="en-US" dirty="0"/>
          </a:p>
        </p:txBody>
      </p:sp>
    </p:spTree>
    <p:extLst>
      <p:ext uri="{BB962C8B-B14F-4D97-AF65-F5344CB8AC3E}">
        <p14:creationId xmlns:p14="http://schemas.microsoft.com/office/powerpoint/2010/main" val="522830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5AD570-D6CF-4227-A84E-C54B72E1BA1E}"/>
              </a:ext>
            </a:extLst>
          </p:cNvPr>
          <p:cNvPicPr>
            <a:picLocks noChangeAspect="1"/>
          </p:cNvPicPr>
          <p:nvPr/>
        </p:nvPicPr>
        <p:blipFill>
          <a:blip r:embed="rId3"/>
          <a:srcRect l="5000" t="6000" r="5000" b="6000"/>
          <a:stretch/>
        </p:blipFill>
        <p:spPr>
          <a:xfrm>
            <a:off x="1335665" y="1190625"/>
            <a:ext cx="4091420" cy="4000500"/>
          </a:xfrm>
          <a:prstGeom prst="rect">
            <a:avLst/>
          </a:prstGeom>
        </p:spPr>
      </p:pic>
      <p:pic>
        <p:nvPicPr>
          <p:cNvPr id="3" name="Picture 2">
            <a:extLst>
              <a:ext uri="{FF2B5EF4-FFF2-40B4-BE49-F238E27FC236}">
                <a16:creationId xmlns:a16="http://schemas.microsoft.com/office/drawing/2014/main" id="{2E9CF422-2D26-4575-BB06-AD17F022BEC4}"/>
              </a:ext>
            </a:extLst>
          </p:cNvPr>
          <p:cNvPicPr>
            <a:picLocks noChangeAspect="1"/>
          </p:cNvPicPr>
          <p:nvPr/>
        </p:nvPicPr>
        <p:blipFill>
          <a:blip r:embed="rId4"/>
          <a:srcRect l="28000" t="9000" r="27000" b="10000"/>
          <a:stretch/>
        </p:blipFill>
        <p:spPr>
          <a:xfrm>
            <a:off x="7484181" y="1143000"/>
            <a:ext cx="3033889" cy="4095750"/>
          </a:xfrm>
          <a:prstGeom prst="rect">
            <a:avLst/>
          </a:prstGeom>
        </p:spPr>
      </p:pic>
      <p:sp>
        <p:nvSpPr>
          <p:cNvPr id="4" name="Rectangle 3">
            <a:extLst>
              <a:ext uri="{FF2B5EF4-FFF2-40B4-BE49-F238E27FC236}">
                <a16:creationId xmlns:a16="http://schemas.microsoft.com/office/drawing/2014/main" id="{06DBE9C8-93C5-49B3-8A55-D7A359E39198}"/>
              </a:ext>
            </a:extLst>
          </p:cNvPr>
          <p:cNvSpPr>
            <a:spLocks noGrp="1"/>
          </p:cNvSpPr>
          <p:nvPr/>
        </p:nvSpPr>
        <p:spPr>
          <a:xfrm>
            <a:off x="476250" y="5572125"/>
            <a:ext cx="3714750" cy="581025"/>
          </a:xfrm>
          <a:prstGeom prst="rect">
            <a:avLst/>
          </a:prstGeom>
          <a:noFill/>
          <a:ln w="0">
            <a:noFill/>
          </a:ln>
        </p:spPr>
        <p:txBody>
          <a:bodyPr lIns="0" tIns="0" rIns="0" bIns="0" anchor="t"/>
          <a:lstStyle>
            <a:defPPr>
              <a:defRPr sz="1875" b="1">
                <a:solidFill>
                  <a:srgbClr val="143D48"/>
                </a:solidFill>
                <a:latin typeface="Arial"/>
                <a:ea typeface="Arial"/>
                <a:cs typeface="Arial"/>
              </a:defRPr>
            </a:defPPr>
          </a:lstStyle>
          <a:p>
            <a:pPr>
              <a:defRPr sz="1875" b="1">
                <a:solidFill>
                  <a:srgbClr val="143D48"/>
                </a:solidFill>
                <a:latin typeface="Arial"/>
                <a:ea typeface="Arial"/>
                <a:cs typeface="Arial"/>
              </a:defRPr>
            </a:pPr>
            <a:r>
              <a:rPr sz="1875" b="1">
                <a:solidFill>
                  <a:srgbClr val="143D48"/>
                </a:solidFill>
                <a:latin typeface="Arial"/>
                <a:ea typeface="Arial"/>
                <a:cs typeface="Arial"/>
              </a:rPr>
              <a:t>3.8 m core diameter</a:t>
            </a:r>
          </a:p>
        </p:txBody>
      </p:sp>
      <p:sp>
        <p:nvSpPr>
          <p:cNvPr id="5" name="Rectangle 4">
            <a:extLst>
              <a:ext uri="{FF2B5EF4-FFF2-40B4-BE49-F238E27FC236}">
                <a16:creationId xmlns:a16="http://schemas.microsoft.com/office/drawing/2014/main" id="{EAE94ECD-749D-4839-A583-6C1AFE3BE849}"/>
              </a:ext>
            </a:extLst>
          </p:cNvPr>
          <p:cNvSpPr>
            <a:spLocks noGrp="1"/>
          </p:cNvSpPr>
          <p:nvPr/>
        </p:nvSpPr>
        <p:spPr>
          <a:xfrm>
            <a:off x="4381500" y="5572125"/>
            <a:ext cx="3714750" cy="581025"/>
          </a:xfrm>
          <a:prstGeom prst="rect">
            <a:avLst/>
          </a:prstGeom>
          <a:noFill/>
          <a:ln w="0">
            <a:noFill/>
          </a:ln>
        </p:spPr>
        <p:txBody>
          <a:bodyPr lIns="0" tIns="0" rIns="0" bIns="0" anchor="t"/>
          <a:lstStyle>
            <a:defPPr>
              <a:defRPr sz="1875" b="1">
                <a:solidFill>
                  <a:srgbClr val="143D48"/>
                </a:solidFill>
                <a:latin typeface="Arial"/>
                <a:ea typeface="Arial"/>
                <a:cs typeface="Arial"/>
              </a:defRPr>
            </a:defPPr>
          </a:lstStyle>
          <a:p>
            <a:pPr>
              <a:defRPr sz="1875" b="1">
                <a:solidFill>
                  <a:srgbClr val="143D48"/>
                </a:solidFill>
                <a:latin typeface="Arial"/>
                <a:ea typeface="Arial"/>
                <a:cs typeface="Arial"/>
              </a:defRPr>
            </a:pPr>
            <a:r>
              <a:rPr sz="1875" b="1">
                <a:solidFill>
                  <a:srgbClr val="143D48"/>
                </a:solidFill>
                <a:latin typeface="Arial"/>
                <a:ea typeface="Arial"/>
                <a:cs typeface="Arial"/>
              </a:rPr>
              <a:t>3.4 m active height</a:t>
            </a:r>
          </a:p>
        </p:txBody>
      </p:sp>
      <p:sp>
        <p:nvSpPr>
          <p:cNvPr id="6" name="Rectangle 5">
            <a:extLst>
              <a:ext uri="{FF2B5EF4-FFF2-40B4-BE49-F238E27FC236}">
                <a16:creationId xmlns:a16="http://schemas.microsoft.com/office/drawing/2014/main" id="{097B739D-FA5A-4FC3-8482-74F86BFD76D4}"/>
              </a:ext>
            </a:extLst>
          </p:cNvPr>
          <p:cNvSpPr>
            <a:spLocks noGrp="1"/>
          </p:cNvSpPr>
          <p:nvPr/>
        </p:nvSpPr>
        <p:spPr>
          <a:xfrm>
            <a:off x="8286750" y="5572125"/>
            <a:ext cx="3714750" cy="581025"/>
          </a:xfrm>
          <a:prstGeom prst="rect">
            <a:avLst/>
          </a:prstGeom>
          <a:noFill/>
          <a:ln w="0">
            <a:noFill/>
          </a:ln>
        </p:spPr>
        <p:txBody>
          <a:bodyPr lIns="0" tIns="0" rIns="0" bIns="0" anchor="t"/>
          <a:lstStyle>
            <a:defPPr>
              <a:defRPr sz="1875" b="1">
                <a:solidFill>
                  <a:srgbClr val="143D48"/>
                </a:solidFill>
                <a:latin typeface="Arial"/>
                <a:ea typeface="Arial"/>
                <a:cs typeface="Arial"/>
              </a:defRPr>
            </a:defPPr>
          </a:lstStyle>
          <a:p>
            <a:pPr>
              <a:defRPr sz="1875" b="1">
                <a:solidFill>
                  <a:srgbClr val="143D48"/>
                </a:solidFill>
                <a:latin typeface="Arial"/>
                <a:ea typeface="Arial"/>
                <a:cs typeface="Arial"/>
              </a:defRPr>
            </a:pPr>
            <a:r>
              <a:rPr sz="1875" b="1">
                <a:solidFill>
                  <a:srgbClr val="143D48"/>
                </a:solidFill>
                <a:latin typeface="Arial"/>
                <a:ea typeface="Arial"/>
                <a:cs typeface="Arial"/>
              </a:rPr>
              <a:t>Coolant tubes through fuel tanks</a:t>
            </a:r>
          </a:p>
        </p:txBody>
      </p:sp>
      <p:sp>
        <p:nvSpPr>
          <p:cNvPr id="7" name="Rectangle 6">
            <a:extLst>
              <a:ext uri="{FF2B5EF4-FFF2-40B4-BE49-F238E27FC236}">
                <a16:creationId xmlns:a16="http://schemas.microsoft.com/office/drawing/2014/main" id="{3A8B6E37-B864-4B2E-B3E0-BBCE0316EC11}"/>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Current geometry concept. Fuel-region partitions remain to model.</a:t>
            </a:r>
          </a:p>
        </p:txBody>
      </p:sp>
      <p:sp>
        <p:nvSpPr>
          <p:cNvPr id="1008" name="Workshop heading">
            <a:extLst>
              <a:ext uri="{FF2B5EF4-FFF2-40B4-BE49-F238E27FC236}">
                <a16:creationId xmlns:a16="http://schemas.microsoft.com/office/drawing/2014/main" id="{FF85AD50-ABA6-4D87-94A4-12B43B1BCCE5}"/>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Six removable core sectors</a:t>
            </a:r>
          </a:p>
        </p:txBody>
      </p:sp>
      <p:sp>
        <p:nvSpPr>
          <p:cNvPr id="1009" name="Slide number">
            <a:extLst>
              <a:ext uri="{FF2B5EF4-FFF2-40B4-BE49-F238E27FC236}">
                <a16:creationId xmlns:a16="http://schemas.microsoft.com/office/drawing/2014/main" id="{02D359F4-3D97-477F-9EF3-91E79B606A4A}"/>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3</a:t>
            </a:r>
          </a:p>
        </p:txBody>
      </p:sp>
      <p:pic>
        <p:nvPicPr>
          <p:cNvPr id="2009" name="Picture 2008">
            <a:extLst>
              <a:ext uri="{FF2B5EF4-FFF2-40B4-BE49-F238E27FC236}">
                <a16:creationId xmlns:a16="http://schemas.microsoft.com/office/drawing/2014/main" id="{4BF8FA86-FFD6-4844-9439-1E2E9FA530C3}"/>
              </a:ext>
            </a:extLst>
          </p:cNvPr>
          <p:cNvPicPr>
            <a:picLocks noChangeAspect="1"/>
          </p:cNvPicPr>
          <p:nvPr/>
        </p:nvPicPr>
        <p:blipFill>
          <a:blip r:embed="rId5"/>
          <a:stretch/>
        </p:blipFill>
        <p:spPr>
          <a:xfrm>
            <a:off x="4226292" y="6401829"/>
            <a:ext cx="2035183" cy="456162"/>
          </a:xfrm>
          <a:prstGeom prst="rect">
            <a:avLst/>
          </a:prstGeom>
        </p:spPr>
      </p:pic>
      <p:pic>
        <p:nvPicPr>
          <p:cNvPr id="2010" name="Picture 2009">
            <a:extLst>
              <a:ext uri="{FF2B5EF4-FFF2-40B4-BE49-F238E27FC236}">
                <a16:creationId xmlns:a16="http://schemas.microsoft.com/office/drawing/2014/main" id="{EC71CA19-B15E-4750-91D7-1C9EEE7C3336}"/>
              </a:ext>
            </a:extLst>
          </p:cNvPr>
          <p:cNvPicPr>
            <a:picLocks noChangeAspect="1"/>
          </p:cNvPicPr>
          <p:nvPr/>
        </p:nvPicPr>
        <p:blipFill>
          <a:blip r:embed="rId6"/>
          <a:stretch/>
        </p:blipFill>
        <p:spPr>
          <a:xfrm>
            <a:off x="284921" y="6340481"/>
            <a:ext cx="1994449" cy="483503"/>
          </a:xfrm>
          <a:prstGeom prst="rect">
            <a:avLst/>
          </a:prstGeom>
        </p:spPr>
      </p:pic>
      <p:pic>
        <p:nvPicPr>
          <p:cNvPr id="2011" name="Picture 2010">
            <a:extLst>
              <a:ext uri="{FF2B5EF4-FFF2-40B4-BE49-F238E27FC236}">
                <a16:creationId xmlns:a16="http://schemas.microsoft.com/office/drawing/2014/main" id="{6DBDB068-BEFD-4B7A-8756-13D03A611FD4}"/>
              </a:ext>
            </a:extLst>
          </p:cNvPr>
          <p:cNvPicPr>
            <a:picLocks noChangeAspect="1"/>
          </p:cNvPicPr>
          <p:nvPr/>
        </p:nvPicPr>
        <p:blipFill>
          <a:blip r:embed="rId7"/>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625927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3616C2-6EBE-4159-95C7-7F19E1EFB919}"/>
              </a:ext>
            </a:extLst>
          </p:cNvPr>
          <p:cNvPicPr>
            <a:picLocks noChangeAspect="1"/>
          </p:cNvPicPr>
          <p:nvPr/>
        </p:nvPicPr>
        <p:blipFill>
          <a:blip r:embed="rId3"/>
          <a:srcRect l="8000" t="19000" r="8000" b="17000"/>
          <a:stretch/>
        </p:blipFill>
        <p:spPr>
          <a:xfrm>
            <a:off x="400050" y="1373641"/>
            <a:ext cx="7810500" cy="4463143"/>
          </a:xfrm>
          <a:prstGeom prst="rect">
            <a:avLst/>
          </a:prstGeom>
        </p:spPr>
      </p:pic>
      <p:sp>
        <p:nvSpPr>
          <p:cNvPr id="3" name="Rectangle 2">
            <a:extLst>
              <a:ext uri="{FF2B5EF4-FFF2-40B4-BE49-F238E27FC236}">
                <a16:creationId xmlns:a16="http://schemas.microsoft.com/office/drawing/2014/main" id="{86D6059B-7594-4CCD-85CC-53C0DC97387A}"/>
              </a:ext>
            </a:extLst>
          </p:cNvPr>
          <p:cNvSpPr>
            <a:spLocks noGrp="1"/>
          </p:cNvSpPr>
          <p:nvPr/>
        </p:nvSpPr>
        <p:spPr>
          <a:xfrm>
            <a:off x="8572500" y="1524000"/>
            <a:ext cx="3143250" cy="1238250"/>
          </a:xfrm>
          <a:prstGeom prst="rect">
            <a:avLst/>
          </a:prstGeom>
          <a:noFill/>
          <a:ln w="0">
            <a:noFill/>
          </a:ln>
        </p:spPr>
        <p:txBody>
          <a:bodyPr lIns="0" tIns="0" rIns="0" bIns="0" anchor="t"/>
          <a:lstStyle>
            <a:defPPr>
              <a:defRPr sz="2100" b="1">
                <a:solidFill>
                  <a:srgbClr val="143D48"/>
                </a:solidFill>
                <a:latin typeface="Arial"/>
                <a:ea typeface="Arial"/>
                <a:cs typeface="Arial"/>
              </a:defRPr>
            </a:defPPr>
          </a:lstStyle>
          <a:p>
            <a:pPr>
              <a:defRPr sz="2100" b="1">
                <a:solidFill>
                  <a:srgbClr val="143D48"/>
                </a:solidFill>
                <a:latin typeface="Arial"/>
                <a:ea typeface="Arial"/>
                <a:cs typeface="Arial"/>
              </a:defRPr>
            </a:pPr>
            <a:r>
              <a:rPr sz="2100" b="1">
                <a:solidFill>
                  <a:srgbClr val="143D48"/>
                </a:solidFill>
                <a:latin typeface="Arial"/>
                <a:ea typeface="Arial"/>
                <a:cs typeface="Arial"/>
              </a:rPr>
              <a:t>Side inlet into the downcomer</a:t>
            </a:r>
          </a:p>
        </p:txBody>
      </p:sp>
      <p:sp>
        <p:nvSpPr>
          <p:cNvPr id="4" name="Rectangle 3">
            <a:extLst>
              <a:ext uri="{FF2B5EF4-FFF2-40B4-BE49-F238E27FC236}">
                <a16:creationId xmlns:a16="http://schemas.microsoft.com/office/drawing/2014/main" id="{0429BD79-F48D-4F43-8125-1C7B68DA07A9}"/>
              </a:ext>
            </a:extLst>
          </p:cNvPr>
          <p:cNvSpPr>
            <a:spLocks noGrp="1"/>
          </p:cNvSpPr>
          <p:nvPr/>
        </p:nvSpPr>
        <p:spPr>
          <a:xfrm>
            <a:off x="8572500" y="2924175"/>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Inward below the core, then upward through the tubes</a:t>
            </a:r>
          </a:p>
        </p:txBody>
      </p:sp>
      <p:sp>
        <p:nvSpPr>
          <p:cNvPr id="5" name="Rectangle 4">
            <a:extLst>
              <a:ext uri="{FF2B5EF4-FFF2-40B4-BE49-F238E27FC236}">
                <a16:creationId xmlns:a16="http://schemas.microsoft.com/office/drawing/2014/main" id="{6178318D-B6A6-4A23-8FB0-6A81AC11EEFF}"/>
              </a:ext>
            </a:extLst>
          </p:cNvPr>
          <p:cNvSpPr>
            <a:spLocks noGrp="1"/>
          </p:cNvSpPr>
          <p:nvPr/>
        </p:nvSpPr>
        <p:spPr>
          <a:xfrm>
            <a:off x="8572500" y="4324350"/>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Hot plenum supplies three outlet legs</a:t>
            </a:r>
          </a:p>
        </p:txBody>
      </p:sp>
      <p:sp>
        <p:nvSpPr>
          <p:cNvPr id="6" name="Rectangle 5">
            <a:extLst>
              <a:ext uri="{FF2B5EF4-FFF2-40B4-BE49-F238E27FC236}">
                <a16:creationId xmlns:a16="http://schemas.microsoft.com/office/drawing/2014/main" id="{8A912AE8-47E2-4E35-B247-B9011F083EF5}"/>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Section view of the coolant and vessel-air paths.</a:t>
            </a:r>
          </a:p>
        </p:txBody>
      </p:sp>
      <p:sp>
        <p:nvSpPr>
          <p:cNvPr id="1007" name="Workshop heading">
            <a:extLst>
              <a:ext uri="{FF2B5EF4-FFF2-40B4-BE49-F238E27FC236}">
                <a16:creationId xmlns:a16="http://schemas.microsoft.com/office/drawing/2014/main" id="{19646CFE-6845-4C28-8BE9-2165F911F319}"/>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Vessel and coolant path</a:t>
            </a:r>
          </a:p>
        </p:txBody>
      </p:sp>
      <p:sp>
        <p:nvSpPr>
          <p:cNvPr id="1008" name="Slide number">
            <a:extLst>
              <a:ext uri="{FF2B5EF4-FFF2-40B4-BE49-F238E27FC236}">
                <a16:creationId xmlns:a16="http://schemas.microsoft.com/office/drawing/2014/main" id="{CD393A6D-3E4C-4713-A2BA-37F13F5FA63E}"/>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4</a:t>
            </a:r>
          </a:p>
        </p:txBody>
      </p:sp>
      <p:pic>
        <p:nvPicPr>
          <p:cNvPr id="2008" name="Picture 2007">
            <a:extLst>
              <a:ext uri="{FF2B5EF4-FFF2-40B4-BE49-F238E27FC236}">
                <a16:creationId xmlns:a16="http://schemas.microsoft.com/office/drawing/2014/main" id="{44AF739D-00AD-40DC-822C-029E4DE05F94}"/>
              </a:ext>
            </a:extLst>
          </p:cNvPr>
          <p:cNvPicPr>
            <a:picLocks noChangeAspect="1"/>
          </p:cNvPicPr>
          <p:nvPr/>
        </p:nvPicPr>
        <p:blipFill>
          <a:blip r:embed="rId4"/>
          <a:stretch/>
        </p:blipFill>
        <p:spPr>
          <a:xfrm>
            <a:off x="4226292" y="6401829"/>
            <a:ext cx="2035183" cy="456162"/>
          </a:xfrm>
          <a:prstGeom prst="rect">
            <a:avLst/>
          </a:prstGeom>
        </p:spPr>
      </p:pic>
      <p:pic>
        <p:nvPicPr>
          <p:cNvPr id="2009" name="Picture 2008">
            <a:extLst>
              <a:ext uri="{FF2B5EF4-FFF2-40B4-BE49-F238E27FC236}">
                <a16:creationId xmlns:a16="http://schemas.microsoft.com/office/drawing/2014/main" id="{CE747F24-740D-42FC-9AA9-99B5E54A0C4E}"/>
              </a:ext>
            </a:extLst>
          </p:cNvPr>
          <p:cNvPicPr>
            <a:picLocks noChangeAspect="1"/>
          </p:cNvPicPr>
          <p:nvPr/>
        </p:nvPicPr>
        <p:blipFill>
          <a:blip r:embed="rId5"/>
          <a:stretch/>
        </p:blipFill>
        <p:spPr>
          <a:xfrm>
            <a:off x="284921" y="6340481"/>
            <a:ext cx="1994449" cy="483503"/>
          </a:xfrm>
          <a:prstGeom prst="rect">
            <a:avLst/>
          </a:prstGeom>
        </p:spPr>
      </p:pic>
      <p:pic>
        <p:nvPicPr>
          <p:cNvPr id="2010" name="Picture 2009">
            <a:extLst>
              <a:ext uri="{FF2B5EF4-FFF2-40B4-BE49-F238E27FC236}">
                <a16:creationId xmlns:a16="http://schemas.microsoft.com/office/drawing/2014/main" id="{907B3C83-1140-496F-924C-B0A18C73162F}"/>
              </a:ext>
            </a:extLst>
          </p:cNvPr>
          <p:cNvPicPr>
            <a:picLocks noChangeAspect="1"/>
          </p:cNvPicPr>
          <p:nvPr/>
        </p:nvPicPr>
        <p:blipFill>
          <a:blip r:embed="rId6"/>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754241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5B0627-46E2-413F-AEFD-AACA97C0D0F2}"/>
              </a:ext>
            </a:extLst>
          </p:cNvPr>
          <p:cNvPicPr>
            <a:picLocks noChangeAspect="1"/>
          </p:cNvPicPr>
          <p:nvPr/>
        </p:nvPicPr>
        <p:blipFill>
          <a:blip r:embed="rId3"/>
          <a:srcRect/>
          <a:stretch/>
        </p:blipFill>
        <p:spPr>
          <a:xfrm>
            <a:off x="1226820" y="1200150"/>
            <a:ext cx="6156960" cy="4810125"/>
          </a:xfrm>
          <a:prstGeom prst="rect">
            <a:avLst/>
          </a:prstGeom>
        </p:spPr>
      </p:pic>
      <p:sp>
        <p:nvSpPr>
          <p:cNvPr id="3" name="Rectangle 2">
            <a:extLst>
              <a:ext uri="{FF2B5EF4-FFF2-40B4-BE49-F238E27FC236}">
                <a16:creationId xmlns:a16="http://schemas.microsoft.com/office/drawing/2014/main" id="{5AA7B19D-F96D-4C9F-83F5-06B59C68AD75}"/>
              </a:ext>
            </a:extLst>
          </p:cNvPr>
          <p:cNvSpPr>
            <a:spLocks noGrp="1"/>
          </p:cNvSpPr>
          <p:nvPr/>
        </p:nvSpPr>
        <p:spPr>
          <a:xfrm>
            <a:off x="8572500" y="1524000"/>
            <a:ext cx="3143250" cy="1238250"/>
          </a:xfrm>
          <a:prstGeom prst="rect">
            <a:avLst/>
          </a:prstGeom>
          <a:noFill/>
          <a:ln w="0">
            <a:noFill/>
          </a:ln>
        </p:spPr>
        <p:txBody>
          <a:bodyPr lIns="0" tIns="0" rIns="0" bIns="0" anchor="t"/>
          <a:lstStyle>
            <a:defPPr>
              <a:defRPr sz="2100" b="1">
                <a:solidFill>
                  <a:srgbClr val="143D48"/>
                </a:solidFill>
                <a:latin typeface="Arial"/>
                <a:ea typeface="Arial"/>
                <a:cs typeface="Arial"/>
              </a:defRPr>
            </a:defPPr>
          </a:lstStyle>
          <a:p>
            <a:pPr>
              <a:defRPr sz="2100" b="1">
                <a:solidFill>
                  <a:srgbClr val="143D48"/>
                </a:solidFill>
                <a:latin typeface="Arial"/>
                <a:ea typeface="Arial"/>
                <a:cs typeface="Arial"/>
              </a:defRPr>
            </a:pPr>
            <a:r>
              <a:rPr sz="2100" b="1">
                <a:solidFill>
                  <a:srgbClr val="143D48"/>
                </a:solidFill>
                <a:latin typeface="Arial"/>
                <a:ea typeface="Arial"/>
                <a:cs typeface="Arial"/>
              </a:rPr>
              <a:t>Six radial tank assemblies</a:t>
            </a:r>
          </a:p>
        </p:txBody>
      </p:sp>
      <p:sp>
        <p:nvSpPr>
          <p:cNvPr id="4" name="Rectangle 3">
            <a:extLst>
              <a:ext uri="{FF2B5EF4-FFF2-40B4-BE49-F238E27FC236}">
                <a16:creationId xmlns:a16="http://schemas.microsoft.com/office/drawing/2014/main" id="{9C90E60B-8A6E-411D-9809-5D9FC4124F96}"/>
              </a:ext>
            </a:extLst>
          </p:cNvPr>
          <p:cNvSpPr>
            <a:spLocks noGrp="1"/>
          </p:cNvSpPr>
          <p:nvPr/>
        </p:nvSpPr>
        <p:spPr>
          <a:xfrm>
            <a:off x="8572500" y="2924175"/>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Primary and secondary chamber in each assembly</a:t>
            </a:r>
          </a:p>
        </p:txBody>
      </p:sp>
      <p:sp>
        <p:nvSpPr>
          <p:cNvPr id="5" name="Rectangle 4">
            <a:extLst>
              <a:ext uri="{FF2B5EF4-FFF2-40B4-BE49-F238E27FC236}">
                <a16:creationId xmlns:a16="http://schemas.microsoft.com/office/drawing/2014/main" id="{6B66E573-B2EB-4DF8-889B-051BDB0F0727}"/>
              </a:ext>
            </a:extLst>
          </p:cNvPr>
          <p:cNvSpPr>
            <a:spLocks noGrp="1"/>
          </p:cNvSpPr>
          <p:nvPr/>
        </p:nvSpPr>
        <p:spPr>
          <a:xfrm>
            <a:off x="8572500" y="4324350"/>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Twelve reservoir and pressure-module circuits</a:t>
            </a:r>
          </a:p>
        </p:txBody>
      </p:sp>
      <p:sp>
        <p:nvSpPr>
          <p:cNvPr id="6" name="Rectangle 5">
            <a:extLst>
              <a:ext uri="{FF2B5EF4-FFF2-40B4-BE49-F238E27FC236}">
                <a16:creationId xmlns:a16="http://schemas.microsoft.com/office/drawing/2014/main" id="{A0ED03EC-2266-4949-B6BE-5CF3D0756A5C}"/>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Illustration: chamber partitions and bottom-feed routes remain to model.</a:t>
            </a:r>
          </a:p>
        </p:txBody>
      </p:sp>
      <p:sp>
        <p:nvSpPr>
          <p:cNvPr id="1007" name="Workshop heading">
            <a:extLst>
              <a:ext uri="{FF2B5EF4-FFF2-40B4-BE49-F238E27FC236}">
                <a16:creationId xmlns:a16="http://schemas.microsoft.com/office/drawing/2014/main" id="{3FD88E0A-706C-4D8B-A05A-3E66CC84740D}"/>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Absorber tanks and service connections</a:t>
            </a:r>
          </a:p>
        </p:txBody>
      </p:sp>
      <p:sp>
        <p:nvSpPr>
          <p:cNvPr id="1008" name="Slide number">
            <a:extLst>
              <a:ext uri="{FF2B5EF4-FFF2-40B4-BE49-F238E27FC236}">
                <a16:creationId xmlns:a16="http://schemas.microsoft.com/office/drawing/2014/main" id="{49FF5466-DA37-4854-8492-099BB93BE832}"/>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5</a:t>
            </a:r>
          </a:p>
        </p:txBody>
      </p:sp>
      <p:pic>
        <p:nvPicPr>
          <p:cNvPr id="2008" name="Picture 2007">
            <a:extLst>
              <a:ext uri="{FF2B5EF4-FFF2-40B4-BE49-F238E27FC236}">
                <a16:creationId xmlns:a16="http://schemas.microsoft.com/office/drawing/2014/main" id="{F18B7E7B-6536-46CE-8798-7CEFEC087526}"/>
              </a:ext>
            </a:extLst>
          </p:cNvPr>
          <p:cNvPicPr>
            <a:picLocks noChangeAspect="1"/>
          </p:cNvPicPr>
          <p:nvPr/>
        </p:nvPicPr>
        <p:blipFill>
          <a:blip r:embed="rId4"/>
          <a:stretch/>
        </p:blipFill>
        <p:spPr>
          <a:xfrm>
            <a:off x="4226292" y="6401829"/>
            <a:ext cx="2035183" cy="456162"/>
          </a:xfrm>
          <a:prstGeom prst="rect">
            <a:avLst/>
          </a:prstGeom>
        </p:spPr>
      </p:pic>
      <p:pic>
        <p:nvPicPr>
          <p:cNvPr id="2009" name="Picture 2008">
            <a:extLst>
              <a:ext uri="{FF2B5EF4-FFF2-40B4-BE49-F238E27FC236}">
                <a16:creationId xmlns:a16="http://schemas.microsoft.com/office/drawing/2014/main" id="{D5E426ED-5780-42AD-808C-6501FDC1F9B6}"/>
              </a:ext>
            </a:extLst>
          </p:cNvPr>
          <p:cNvPicPr>
            <a:picLocks noChangeAspect="1"/>
          </p:cNvPicPr>
          <p:nvPr/>
        </p:nvPicPr>
        <p:blipFill>
          <a:blip r:embed="rId5"/>
          <a:stretch/>
        </p:blipFill>
        <p:spPr>
          <a:xfrm>
            <a:off x="284921" y="6340481"/>
            <a:ext cx="1994449" cy="483503"/>
          </a:xfrm>
          <a:prstGeom prst="rect">
            <a:avLst/>
          </a:prstGeom>
        </p:spPr>
      </p:pic>
      <p:pic>
        <p:nvPicPr>
          <p:cNvPr id="2010" name="Picture 2009">
            <a:extLst>
              <a:ext uri="{FF2B5EF4-FFF2-40B4-BE49-F238E27FC236}">
                <a16:creationId xmlns:a16="http://schemas.microsoft.com/office/drawing/2014/main" id="{4EEEC9E1-5824-4DDA-A56E-80637177B836}"/>
              </a:ext>
            </a:extLst>
          </p:cNvPr>
          <p:cNvPicPr>
            <a:picLocks noChangeAspect="1"/>
          </p:cNvPicPr>
          <p:nvPr/>
        </p:nvPicPr>
        <p:blipFill>
          <a:blip r:embed="rId6"/>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2102079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F0F5E3-7001-4FF0-A623-E2F9FFC8CF1C}"/>
              </a:ext>
            </a:extLst>
          </p:cNvPr>
          <p:cNvPicPr>
            <a:picLocks noChangeAspect="1"/>
          </p:cNvPicPr>
          <p:nvPr/>
        </p:nvPicPr>
        <p:blipFill>
          <a:blip r:embed="rId3"/>
          <a:srcRect l="28000" t="8000" r="25000" b="5000"/>
          <a:stretch/>
        </p:blipFill>
        <p:spPr>
          <a:xfrm>
            <a:off x="1259508" y="1171575"/>
            <a:ext cx="3053109" cy="4238625"/>
          </a:xfrm>
          <a:prstGeom prst="rect">
            <a:avLst/>
          </a:prstGeom>
        </p:spPr>
      </p:pic>
      <p:pic>
        <p:nvPicPr>
          <p:cNvPr id="3" name="Picture 2">
            <a:extLst>
              <a:ext uri="{FF2B5EF4-FFF2-40B4-BE49-F238E27FC236}">
                <a16:creationId xmlns:a16="http://schemas.microsoft.com/office/drawing/2014/main" id="{4B4C7CFC-167B-4868-B861-4ED6806C765C}"/>
              </a:ext>
            </a:extLst>
          </p:cNvPr>
          <p:cNvPicPr>
            <a:picLocks noChangeAspect="1"/>
          </p:cNvPicPr>
          <p:nvPr/>
        </p:nvPicPr>
        <p:blipFill>
          <a:blip r:embed="rId4"/>
          <a:srcRect l="39000" t="8000" r="36000" b="7000"/>
          <a:stretch/>
        </p:blipFill>
        <p:spPr>
          <a:xfrm>
            <a:off x="6145960" y="1171575"/>
            <a:ext cx="1662206" cy="4238625"/>
          </a:xfrm>
          <a:prstGeom prst="rect">
            <a:avLst/>
          </a:prstGeom>
        </p:spPr>
      </p:pic>
      <p:sp>
        <p:nvSpPr>
          <p:cNvPr id="4" name="Rectangle 3">
            <a:extLst>
              <a:ext uri="{FF2B5EF4-FFF2-40B4-BE49-F238E27FC236}">
                <a16:creationId xmlns:a16="http://schemas.microsoft.com/office/drawing/2014/main" id="{DC2A300A-8C7B-4405-9EF6-3825302FDC63}"/>
              </a:ext>
            </a:extLst>
          </p:cNvPr>
          <p:cNvSpPr>
            <a:spLocks noGrp="1"/>
          </p:cNvSpPr>
          <p:nvPr/>
        </p:nvSpPr>
        <p:spPr>
          <a:xfrm>
            <a:off x="666750" y="5562600"/>
            <a:ext cx="4286250" cy="381000"/>
          </a:xfrm>
          <a:prstGeom prst="rect">
            <a:avLst/>
          </a:prstGeom>
          <a:noFill/>
          <a:ln w="0">
            <a:noFill/>
          </a:ln>
        </p:spPr>
        <p:txBody>
          <a:bodyPr lIns="0" tIns="0" rIns="0" bIns="0" anchor="t"/>
          <a:lstStyle>
            <a:defPPr>
              <a:defRPr sz="2025" b="1">
                <a:solidFill>
                  <a:srgbClr val="143D48"/>
                </a:solidFill>
                <a:latin typeface="Arial"/>
                <a:ea typeface="Arial"/>
                <a:cs typeface="Arial"/>
              </a:defRPr>
            </a:defPPr>
          </a:lstStyle>
          <a:p>
            <a:pPr>
              <a:defRPr sz="2025" b="1">
                <a:solidFill>
                  <a:srgbClr val="143D48"/>
                </a:solidFill>
                <a:latin typeface="Arial"/>
                <a:ea typeface="Arial"/>
                <a:cs typeface="Arial"/>
              </a:defRPr>
            </a:pPr>
            <a:r>
              <a:rPr sz="2025" b="1">
                <a:solidFill>
                  <a:srgbClr val="143D48"/>
                </a:solidFill>
                <a:latin typeface="Arial"/>
                <a:ea typeface="Arial"/>
                <a:cs typeface="Arial"/>
              </a:rPr>
              <a:t>Maintenance position</a:t>
            </a:r>
          </a:p>
        </p:txBody>
      </p:sp>
      <p:sp>
        <p:nvSpPr>
          <p:cNvPr id="5" name="Rectangle 4">
            <a:extLst>
              <a:ext uri="{FF2B5EF4-FFF2-40B4-BE49-F238E27FC236}">
                <a16:creationId xmlns:a16="http://schemas.microsoft.com/office/drawing/2014/main" id="{BB5249A9-E173-4C24-9FAD-0D2DA41848B2}"/>
              </a:ext>
            </a:extLst>
          </p:cNvPr>
          <p:cNvSpPr>
            <a:spLocks noGrp="1"/>
          </p:cNvSpPr>
          <p:nvPr/>
        </p:nvSpPr>
        <p:spPr>
          <a:xfrm>
            <a:off x="5810250" y="5562600"/>
            <a:ext cx="3238500" cy="381000"/>
          </a:xfrm>
          <a:prstGeom prst="rect">
            <a:avLst/>
          </a:prstGeom>
          <a:noFill/>
          <a:ln w="0">
            <a:noFill/>
          </a:ln>
        </p:spPr>
        <p:txBody>
          <a:bodyPr lIns="0" tIns="0" rIns="0" bIns="0" anchor="t"/>
          <a:lstStyle>
            <a:defPPr>
              <a:defRPr sz="2025" b="1">
                <a:solidFill>
                  <a:srgbClr val="143D48"/>
                </a:solidFill>
                <a:latin typeface="Arial"/>
                <a:ea typeface="Arial"/>
                <a:cs typeface="Arial"/>
              </a:defRPr>
            </a:defPPr>
          </a:lstStyle>
          <a:p>
            <a:pPr>
              <a:defRPr sz="2025" b="1">
                <a:solidFill>
                  <a:srgbClr val="143D48"/>
                </a:solidFill>
                <a:latin typeface="Arial"/>
                <a:ea typeface="Arial"/>
                <a:cs typeface="Arial"/>
              </a:defRPr>
            </a:pPr>
            <a:r>
              <a:rPr sz="2025" b="1">
                <a:solidFill>
                  <a:srgbClr val="143D48"/>
                </a:solidFill>
                <a:latin typeface="Arial"/>
                <a:ea typeface="Arial"/>
                <a:cs typeface="Arial"/>
              </a:rPr>
              <a:t>Core removal</a:t>
            </a:r>
          </a:p>
        </p:txBody>
      </p:sp>
      <p:sp>
        <p:nvSpPr>
          <p:cNvPr id="6" name="Rectangle 5">
            <a:extLst>
              <a:ext uri="{FF2B5EF4-FFF2-40B4-BE49-F238E27FC236}">
                <a16:creationId xmlns:a16="http://schemas.microsoft.com/office/drawing/2014/main" id="{07C77E15-DC4E-42D5-97EA-B71F0E472A5B}"/>
              </a:ext>
            </a:extLst>
          </p:cNvPr>
          <p:cNvSpPr>
            <a:spLocks noGrp="1"/>
          </p:cNvSpPr>
          <p:nvPr/>
        </p:nvSpPr>
        <p:spPr>
          <a:xfrm>
            <a:off x="9144000" y="1809750"/>
            <a:ext cx="2524125" cy="1009650"/>
          </a:xfrm>
          <a:prstGeom prst="rect">
            <a:avLst/>
          </a:prstGeom>
          <a:noFill/>
          <a:ln w="0">
            <a:noFill/>
          </a:ln>
        </p:spPr>
        <p:txBody>
          <a:bodyPr lIns="0" tIns="0" rIns="0" bIns="0" anchor="t"/>
          <a:lstStyle>
            <a:defPPr>
              <a:defRPr sz="2025" b="1">
                <a:solidFill>
                  <a:srgbClr val="143D48"/>
                </a:solidFill>
                <a:latin typeface="Arial"/>
                <a:ea typeface="Arial"/>
                <a:cs typeface="Arial"/>
              </a:defRPr>
            </a:defPPr>
          </a:lstStyle>
          <a:p>
            <a:pPr>
              <a:defRPr sz="2025" b="1">
                <a:solidFill>
                  <a:srgbClr val="143D48"/>
                </a:solidFill>
                <a:latin typeface="Arial"/>
                <a:ea typeface="Arial"/>
                <a:cs typeface="Arial"/>
              </a:defRPr>
            </a:pPr>
            <a:r>
              <a:rPr sz="2025" b="1">
                <a:solidFill>
                  <a:srgbClr val="143D48"/>
                </a:solidFill>
                <a:latin typeface="Arial"/>
                <a:ea typeface="Arial"/>
                <a:cs typeface="Arial"/>
              </a:rPr>
              <a:t>Raise and latch the sector</a:t>
            </a:r>
          </a:p>
        </p:txBody>
      </p:sp>
      <p:sp>
        <p:nvSpPr>
          <p:cNvPr id="7" name="Rectangle 6">
            <a:extLst>
              <a:ext uri="{FF2B5EF4-FFF2-40B4-BE49-F238E27FC236}">
                <a16:creationId xmlns:a16="http://schemas.microsoft.com/office/drawing/2014/main" id="{29607D52-6D24-4EEE-BA8B-72F79350EC4F}"/>
              </a:ext>
            </a:extLst>
          </p:cNvPr>
          <p:cNvSpPr>
            <a:spLocks noGrp="1"/>
          </p:cNvSpPr>
          <p:nvPr/>
        </p:nvSpPr>
        <p:spPr>
          <a:xfrm>
            <a:off x="9144000" y="3028950"/>
            <a:ext cx="2524125" cy="1009650"/>
          </a:xfrm>
          <a:prstGeom prst="rect">
            <a:avLst/>
          </a:prstGeom>
          <a:noFill/>
          <a:ln w="0">
            <a:noFill/>
          </a:ln>
        </p:spPr>
        <p:txBody>
          <a:bodyPr lIns="0" tIns="0" rIns="0" bIns="0" anchor="t"/>
          <a:lstStyle>
            <a:defPPr>
              <a:defRPr sz="2025" b="0">
                <a:solidFill>
                  <a:srgbClr val="143D48"/>
                </a:solidFill>
                <a:latin typeface="Arial"/>
                <a:ea typeface="Arial"/>
                <a:cs typeface="Arial"/>
              </a:defRPr>
            </a:defPPr>
          </a:lstStyle>
          <a:p>
            <a:pPr>
              <a:defRPr sz="2025" b="0">
                <a:solidFill>
                  <a:srgbClr val="143D48"/>
                </a:solidFill>
                <a:latin typeface="Arial"/>
                <a:ea typeface="Arial"/>
                <a:cs typeface="Arial"/>
              </a:defRPr>
            </a:pPr>
            <a:r>
              <a:rPr sz="2025" b="0">
                <a:solidFill>
                  <a:srgbClr val="143D48"/>
                </a:solidFill>
                <a:latin typeface="Arial"/>
                <a:ea typeface="Arial"/>
                <a:cs typeface="Arial"/>
              </a:rPr>
              <a:t>Remove the top reflector</a:t>
            </a:r>
          </a:p>
        </p:txBody>
      </p:sp>
      <p:sp>
        <p:nvSpPr>
          <p:cNvPr id="8" name="Rectangle 7">
            <a:extLst>
              <a:ext uri="{FF2B5EF4-FFF2-40B4-BE49-F238E27FC236}">
                <a16:creationId xmlns:a16="http://schemas.microsoft.com/office/drawing/2014/main" id="{D6185F81-2C13-4D74-9116-8808B03876D7}"/>
              </a:ext>
            </a:extLst>
          </p:cNvPr>
          <p:cNvSpPr>
            <a:spLocks noGrp="1"/>
          </p:cNvSpPr>
          <p:nvPr/>
        </p:nvSpPr>
        <p:spPr>
          <a:xfrm>
            <a:off x="9144000" y="4248150"/>
            <a:ext cx="2524125" cy="1009650"/>
          </a:xfrm>
          <a:prstGeom prst="rect">
            <a:avLst/>
          </a:prstGeom>
          <a:noFill/>
          <a:ln w="0">
            <a:noFill/>
          </a:ln>
        </p:spPr>
        <p:txBody>
          <a:bodyPr lIns="0" tIns="0" rIns="0" bIns="0" anchor="t"/>
          <a:lstStyle>
            <a:defPPr>
              <a:defRPr sz="2025" b="0">
                <a:solidFill>
                  <a:srgbClr val="143D48"/>
                </a:solidFill>
                <a:latin typeface="Arial"/>
                <a:ea typeface="Arial"/>
                <a:cs typeface="Arial"/>
              </a:defRPr>
            </a:defPPr>
          </a:lstStyle>
          <a:p>
            <a:pPr>
              <a:defRPr sz="2025" b="0">
                <a:solidFill>
                  <a:srgbClr val="143D48"/>
                </a:solidFill>
                <a:latin typeface="Arial"/>
                <a:ea typeface="Arial"/>
                <a:cs typeface="Arial"/>
              </a:defRPr>
            </a:pPr>
            <a:r>
              <a:rPr sz="2025" b="0">
                <a:solidFill>
                  <a:srgbClr val="143D48"/>
                </a:solidFill>
                <a:latin typeface="Arial"/>
                <a:ea typeface="Arial"/>
                <a:cs typeface="Arial"/>
              </a:rPr>
              <a:t>Lift the core and its service assembly</a:t>
            </a:r>
          </a:p>
        </p:txBody>
      </p:sp>
      <p:sp>
        <p:nvSpPr>
          <p:cNvPr id="9" name="Rectangle 8">
            <a:extLst>
              <a:ext uri="{FF2B5EF4-FFF2-40B4-BE49-F238E27FC236}">
                <a16:creationId xmlns:a16="http://schemas.microsoft.com/office/drawing/2014/main" id="{343F7023-5AB6-4D79-AC93-24ED152254D0}"/>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Maintenance-position and removal studies. Handling sequence is conceptual.</a:t>
            </a:r>
          </a:p>
        </p:txBody>
      </p:sp>
      <p:sp>
        <p:nvSpPr>
          <p:cNvPr id="1010" name="Workshop heading">
            <a:extLst>
              <a:ext uri="{FF2B5EF4-FFF2-40B4-BE49-F238E27FC236}">
                <a16:creationId xmlns:a16="http://schemas.microsoft.com/office/drawing/2014/main" id="{EE8746D6-DFB7-4DDB-94B8-9880AA2B86FA}"/>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Remote sector maintenance</a:t>
            </a:r>
          </a:p>
        </p:txBody>
      </p:sp>
      <p:sp>
        <p:nvSpPr>
          <p:cNvPr id="1011" name="Slide number">
            <a:extLst>
              <a:ext uri="{FF2B5EF4-FFF2-40B4-BE49-F238E27FC236}">
                <a16:creationId xmlns:a16="http://schemas.microsoft.com/office/drawing/2014/main" id="{1D3C1185-E39B-4B98-88B4-46C585AE4728}"/>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6</a:t>
            </a:r>
          </a:p>
        </p:txBody>
      </p:sp>
      <p:pic>
        <p:nvPicPr>
          <p:cNvPr id="2011" name="Picture 2010">
            <a:extLst>
              <a:ext uri="{FF2B5EF4-FFF2-40B4-BE49-F238E27FC236}">
                <a16:creationId xmlns:a16="http://schemas.microsoft.com/office/drawing/2014/main" id="{8A5E916E-DDC4-4E6E-9DA5-D8527DF636B6}"/>
              </a:ext>
            </a:extLst>
          </p:cNvPr>
          <p:cNvPicPr>
            <a:picLocks noChangeAspect="1"/>
          </p:cNvPicPr>
          <p:nvPr/>
        </p:nvPicPr>
        <p:blipFill>
          <a:blip r:embed="rId5"/>
          <a:stretch/>
        </p:blipFill>
        <p:spPr>
          <a:xfrm>
            <a:off x="4226292" y="6401829"/>
            <a:ext cx="2035183" cy="456162"/>
          </a:xfrm>
          <a:prstGeom prst="rect">
            <a:avLst/>
          </a:prstGeom>
        </p:spPr>
      </p:pic>
      <p:pic>
        <p:nvPicPr>
          <p:cNvPr id="2012" name="Picture 2011">
            <a:extLst>
              <a:ext uri="{FF2B5EF4-FFF2-40B4-BE49-F238E27FC236}">
                <a16:creationId xmlns:a16="http://schemas.microsoft.com/office/drawing/2014/main" id="{69BAB5C4-7D58-4192-B9BC-4EA587AF2802}"/>
              </a:ext>
            </a:extLst>
          </p:cNvPr>
          <p:cNvPicPr>
            <a:picLocks noChangeAspect="1"/>
          </p:cNvPicPr>
          <p:nvPr/>
        </p:nvPicPr>
        <p:blipFill>
          <a:blip r:embed="rId6"/>
          <a:stretch/>
        </p:blipFill>
        <p:spPr>
          <a:xfrm>
            <a:off x="284921" y="6340481"/>
            <a:ext cx="1994449" cy="483503"/>
          </a:xfrm>
          <a:prstGeom prst="rect">
            <a:avLst/>
          </a:prstGeom>
        </p:spPr>
      </p:pic>
      <p:pic>
        <p:nvPicPr>
          <p:cNvPr id="2013" name="Picture 2012">
            <a:extLst>
              <a:ext uri="{FF2B5EF4-FFF2-40B4-BE49-F238E27FC236}">
                <a16:creationId xmlns:a16="http://schemas.microsoft.com/office/drawing/2014/main" id="{3E650962-3286-49CC-B741-34C25376748D}"/>
              </a:ext>
            </a:extLst>
          </p:cNvPr>
          <p:cNvPicPr>
            <a:picLocks noChangeAspect="1"/>
          </p:cNvPicPr>
          <p:nvPr/>
        </p:nvPicPr>
        <p:blipFill>
          <a:blip r:embed="rId7"/>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74231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Reactor building fly-through (24 seconds)">
            <a:hlinkClick r:id="" action="ppaction://media"/>
            <a:extLst>
              <a:ext uri="{FF2B5EF4-FFF2-40B4-BE49-F238E27FC236}">
                <a16:creationId xmlns:a16="http://schemas.microsoft.com/office/drawing/2014/main" id="{72A98AF7-F197-446F-95E3-15CFAA212EA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807027" y="1650497"/>
            <a:ext cx="6996545" cy="3935557"/>
          </a:xfrm>
          <a:prstGeom prst="rect">
            <a:avLst/>
          </a:prstGeom>
        </p:spPr>
      </p:pic>
      <p:sp>
        <p:nvSpPr>
          <p:cNvPr id="3" name="Rectangle 2">
            <a:extLst>
              <a:ext uri="{FF2B5EF4-FFF2-40B4-BE49-F238E27FC236}">
                <a16:creationId xmlns:a16="http://schemas.microsoft.com/office/drawing/2014/main" id="{DA292ACA-4111-4986-A957-A2408ECB935F}"/>
              </a:ext>
            </a:extLst>
          </p:cNvPr>
          <p:cNvSpPr>
            <a:spLocks noGrp="1"/>
          </p:cNvSpPr>
          <p:nvPr/>
        </p:nvSpPr>
        <p:spPr>
          <a:xfrm>
            <a:off x="8572500" y="1524000"/>
            <a:ext cx="3143250" cy="1238250"/>
          </a:xfrm>
          <a:prstGeom prst="rect">
            <a:avLst/>
          </a:prstGeom>
          <a:noFill/>
          <a:ln w="0">
            <a:noFill/>
          </a:ln>
        </p:spPr>
        <p:txBody>
          <a:bodyPr lIns="0" tIns="0" rIns="0" bIns="0" anchor="t"/>
          <a:lstStyle>
            <a:defPPr>
              <a:defRPr sz="2100" b="1">
                <a:solidFill>
                  <a:srgbClr val="143D48"/>
                </a:solidFill>
                <a:latin typeface="Arial"/>
                <a:ea typeface="Arial"/>
                <a:cs typeface="Arial"/>
              </a:defRPr>
            </a:defPPr>
          </a:lstStyle>
          <a:p>
            <a:pPr>
              <a:defRPr sz="2100" b="1">
                <a:solidFill>
                  <a:srgbClr val="143D48"/>
                </a:solidFill>
                <a:latin typeface="Arial"/>
                <a:ea typeface="Arial"/>
                <a:cs typeface="Arial"/>
              </a:defRPr>
            </a:pPr>
            <a:r>
              <a:rPr sz="2100" b="1">
                <a:solidFill>
                  <a:srgbClr val="143D48"/>
                </a:solidFill>
                <a:latin typeface="Arial"/>
                <a:ea typeface="Arial"/>
                <a:cs typeface="Arial"/>
              </a:rPr>
              <a:t>One pump and steam generator per loop</a:t>
            </a:r>
          </a:p>
        </p:txBody>
      </p:sp>
      <p:sp>
        <p:nvSpPr>
          <p:cNvPr id="4" name="Rectangle 3">
            <a:extLst>
              <a:ext uri="{FF2B5EF4-FFF2-40B4-BE49-F238E27FC236}">
                <a16:creationId xmlns:a16="http://schemas.microsoft.com/office/drawing/2014/main" id="{2A408B1C-99FE-4544-BAFE-AA271AFD5457}"/>
              </a:ext>
            </a:extLst>
          </p:cNvPr>
          <p:cNvSpPr>
            <a:spLocks noGrp="1"/>
          </p:cNvSpPr>
          <p:nvPr/>
        </p:nvSpPr>
        <p:spPr>
          <a:xfrm>
            <a:off x="8572500" y="2924175"/>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Coolant storage and preparation beside the building</a:t>
            </a:r>
          </a:p>
        </p:txBody>
      </p:sp>
      <p:sp>
        <p:nvSpPr>
          <p:cNvPr id="5" name="Rectangle 4">
            <a:extLst>
              <a:ext uri="{FF2B5EF4-FFF2-40B4-BE49-F238E27FC236}">
                <a16:creationId xmlns:a16="http://schemas.microsoft.com/office/drawing/2014/main" id="{441B2F09-DF59-43F0-B8AA-D2263194F8F9}"/>
              </a:ext>
            </a:extLst>
          </p:cNvPr>
          <p:cNvSpPr>
            <a:spLocks noGrp="1"/>
          </p:cNvSpPr>
          <p:nvPr/>
        </p:nvSpPr>
        <p:spPr>
          <a:xfrm>
            <a:off x="8572500" y="4324350"/>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Air headers, service lines and maintenance access</a:t>
            </a:r>
          </a:p>
        </p:txBody>
      </p:sp>
      <p:sp>
        <p:nvSpPr>
          <p:cNvPr id="6" name="Rectangle 5">
            <a:extLst>
              <a:ext uri="{FF2B5EF4-FFF2-40B4-BE49-F238E27FC236}">
                <a16:creationId xmlns:a16="http://schemas.microsoft.com/office/drawing/2014/main" id="{71FE289D-BFF1-49C0-B5B5-63144EA29F08}"/>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Draft equipment arrangement. Casing envelopes and active lengths are distinct.</a:t>
            </a:r>
          </a:p>
        </p:txBody>
      </p:sp>
      <p:sp>
        <p:nvSpPr>
          <p:cNvPr id="1007" name="Workshop heading">
            <a:extLst>
              <a:ext uri="{FF2B5EF4-FFF2-40B4-BE49-F238E27FC236}">
                <a16:creationId xmlns:a16="http://schemas.microsoft.com/office/drawing/2014/main" id="{2888DE71-E0DB-4083-9D7B-04E5AA86BFAB}"/>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Reactor building and three coolant loops</a:t>
            </a:r>
          </a:p>
        </p:txBody>
      </p:sp>
      <p:sp>
        <p:nvSpPr>
          <p:cNvPr id="1008" name="Slide number">
            <a:extLst>
              <a:ext uri="{FF2B5EF4-FFF2-40B4-BE49-F238E27FC236}">
                <a16:creationId xmlns:a16="http://schemas.microsoft.com/office/drawing/2014/main" id="{A63256B1-5C56-4A76-9270-2587937F34E2}"/>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7</a:t>
            </a:r>
          </a:p>
        </p:txBody>
      </p:sp>
      <p:pic>
        <p:nvPicPr>
          <p:cNvPr id="2008" name="Picture 2007">
            <a:extLst>
              <a:ext uri="{FF2B5EF4-FFF2-40B4-BE49-F238E27FC236}">
                <a16:creationId xmlns:a16="http://schemas.microsoft.com/office/drawing/2014/main" id="{AEB23C6C-4CD5-4D70-A4C6-CCA2DE849E2B}"/>
              </a:ext>
            </a:extLst>
          </p:cNvPr>
          <p:cNvPicPr>
            <a:picLocks noChangeAspect="1"/>
          </p:cNvPicPr>
          <p:nvPr/>
        </p:nvPicPr>
        <p:blipFill>
          <a:blip r:embed="rId6"/>
          <a:stretch/>
        </p:blipFill>
        <p:spPr>
          <a:xfrm>
            <a:off x="4226292" y="6401829"/>
            <a:ext cx="2035183" cy="456162"/>
          </a:xfrm>
          <a:prstGeom prst="rect">
            <a:avLst/>
          </a:prstGeom>
        </p:spPr>
      </p:pic>
      <p:pic>
        <p:nvPicPr>
          <p:cNvPr id="2009" name="Picture 2008">
            <a:extLst>
              <a:ext uri="{FF2B5EF4-FFF2-40B4-BE49-F238E27FC236}">
                <a16:creationId xmlns:a16="http://schemas.microsoft.com/office/drawing/2014/main" id="{E7053AFF-D869-4B6B-860C-7DEDF8C8680C}"/>
              </a:ext>
            </a:extLst>
          </p:cNvPr>
          <p:cNvPicPr>
            <a:picLocks noChangeAspect="1"/>
          </p:cNvPicPr>
          <p:nvPr/>
        </p:nvPicPr>
        <p:blipFill>
          <a:blip r:embed="rId7"/>
          <a:stretch/>
        </p:blipFill>
        <p:spPr>
          <a:xfrm>
            <a:off x="284921" y="6340481"/>
            <a:ext cx="1994449" cy="483503"/>
          </a:xfrm>
          <a:prstGeom prst="rect">
            <a:avLst/>
          </a:prstGeom>
        </p:spPr>
      </p:pic>
      <p:pic>
        <p:nvPicPr>
          <p:cNvPr id="2010" name="Picture 2009">
            <a:extLst>
              <a:ext uri="{FF2B5EF4-FFF2-40B4-BE49-F238E27FC236}">
                <a16:creationId xmlns:a16="http://schemas.microsoft.com/office/drawing/2014/main" id="{6A7CEAC4-C16F-4360-BCA8-835EB59D5C45}"/>
              </a:ext>
            </a:extLst>
          </p:cNvPr>
          <p:cNvPicPr>
            <a:picLocks noChangeAspect="1"/>
          </p:cNvPicPr>
          <p:nvPr/>
        </p:nvPicPr>
        <p:blipFill>
          <a:blip r:embed="rId8"/>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1749525537"/>
      </p:ext>
    </p:extLst>
  </p:cSld>
  <p:clrMapOvr>
    <a:masterClrMapping/>
  </p:clrMapOvr>
  <p:timing>
    <p:tnLst>
      <p:par>
        <p:cTn id="1" dur="indefinite" restart="never" nodeType="tmRoot">
          <p:childTnLst>
            <p:video fullScrn="1">
              <p:cMediaNode vol="0">
                <p:cTn id="2" fill="hold" display="0">
                  <p:stCondLst>
                    <p:cond delay="indefinite"/>
                  </p:stCondLst>
                </p:cTn>
                <p:tgtEl>
                  <p:spTgt spid="2"/>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AD7202-CFAA-4B67-8230-C7069D8D4F6A}"/>
              </a:ext>
            </a:extLst>
          </p:cNvPr>
          <p:cNvPicPr>
            <a:picLocks noChangeAspect="1"/>
          </p:cNvPicPr>
          <p:nvPr/>
        </p:nvPicPr>
        <p:blipFill>
          <a:blip r:embed="rId3"/>
          <a:srcRect l="2083" t="16471" r="2083" b="14118"/>
          <a:stretch/>
        </p:blipFill>
        <p:spPr>
          <a:xfrm>
            <a:off x="1289731" y="1095375"/>
            <a:ext cx="9612538" cy="4933950"/>
          </a:xfrm>
          <a:prstGeom prst="rect">
            <a:avLst/>
          </a:prstGeom>
        </p:spPr>
      </p:pic>
      <p:sp>
        <p:nvSpPr>
          <p:cNvPr id="3" name="Rectangle 2">
            <a:extLst>
              <a:ext uri="{FF2B5EF4-FFF2-40B4-BE49-F238E27FC236}">
                <a16:creationId xmlns:a16="http://schemas.microsoft.com/office/drawing/2014/main" id="{90BCBF52-47CB-4320-9399-540B6FA34830}"/>
              </a:ext>
            </a:extLst>
          </p:cNvPr>
          <p:cNvSpPr>
            <a:spLocks noGrp="1"/>
          </p:cNvSpPr>
          <p:nvPr/>
        </p:nvSpPr>
        <p:spPr>
          <a:xfrm>
            <a:off x="457200" y="6115050"/>
            <a:ext cx="10668000"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FS-CS-001 / Coolant circulation / 15 October 2026 snapshot</a:t>
            </a:r>
          </a:p>
        </p:txBody>
      </p:sp>
      <p:sp>
        <p:nvSpPr>
          <p:cNvPr id="1004" name="Workshop heading">
            <a:extLst>
              <a:ext uri="{FF2B5EF4-FFF2-40B4-BE49-F238E27FC236}">
                <a16:creationId xmlns:a16="http://schemas.microsoft.com/office/drawing/2014/main" id="{1B3E9218-2556-40F6-BB37-99BDC65DA4A4}"/>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Coolant system: from 3D layout to P&amp;ID</a:t>
            </a:r>
          </a:p>
        </p:txBody>
      </p:sp>
      <p:sp>
        <p:nvSpPr>
          <p:cNvPr id="1005" name="Slide number">
            <a:extLst>
              <a:ext uri="{FF2B5EF4-FFF2-40B4-BE49-F238E27FC236}">
                <a16:creationId xmlns:a16="http://schemas.microsoft.com/office/drawing/2014/main" id="{7B31395D-C834-4A9D-B1BA-D4438936E9EE}"/>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8</a:t>
            </a:r>
          </a:p>
        </p:txBody>
      </p:sp>
      <p:pic>
        <p:nvPicPr>
          <p:cNvPr id="2005" name="Picture 2004">
            <a:extLst>
              <a:ext uri="{FF2B5EF4-FFF2-40B4-BE49-F238E27FC236}">
                <a16:creationId xmlns:a16="http://schemas.microsoft.com/office/drawing/2014/main" id="{23F17C8C-C8FB-494A-9C35-126EBBDD1E7D}"/>
              </a:ext>
            </a:extLst>
          </p:cNvPr>
          <p:cNvPicPr>
            <a:picLocks noChangeAspect="1"/>
          </p:cNvPicPr>
          <p:nvPr/>
        </p:nvPicPr>
        <p:blipFill>
          <a:blip r:embed="rId4"/>
          <a:stretch/>
        </p:blipFill>
        <p:spPr>
          <a:xfrm>
            <a:off x="4226292" y="6401829"/>
            <a:ext cx="2035183" cy="456162"/>
          </a:xfrm>
          <a:prstGeom prst="rect">
            <a:avLst/>
          </a:prstGeom>
        </p:spPr>
      </p:pic>
      <p:pic>
        <p:nvPicPr>
          <p:cNvPr id="4" name="Picture 3">
            <a:extLst>
              <a:ext uri="{FF2B5EF4-FFF2-40B4-BE49-F238E27FC236}">
                <a16:creationId xmlns:a16="http://schemas.microsoft.com/office/drawing/2014/main" id="{7BD43FDC-BC90-4770-8D68-F5AAA17B0354}"/>
              </a:ext>
            </a:extLst>
          </p:cNvPr>
          <p:cNvPicPr>
            <a:picLocks noChangeAspect="1"/>
          </p:cNvPicPr>
          <p:nvPr/>
        </p:nvPicPr>
        <p:blipFill>
          <a:blip r:embed="rId5"/>
          <a:stretch/>
        </p:blipFill>
        <p:spPr>
          <a:xfrm>
            <a:off x="284921" y="6340481"/>
            <a:ext cx="1994449" cy="483503"/>
          </a:xfrm>
          <a:prstGeom prst="rect">
            <a:avLst/>
          </a:prstGeom>
        </p:spPr>
      </p:pic>
      <p:pic>
        <p:nvPicPr>
          <p:cNvPr id="5" name="Picture 4">
            <a:extLst>
              <a:ext uri="{FF2B5EF4-FFF2-40B4-BE49-F238E27FC236}">
                <a16:creationId xmlns:a16="http://schemas.microsoft.com/office/drawing/2014/main" id="{9B13BEEC-AF09-40FF-80B1-052D82E060AB}"/>
              </a:ext>
            </a:extLst>
          </p:cNvPr>
          <p:cNvPicPr>
            <a:picLocks noChangeAspect="1"/>
          </p:cNvPicPr>
          <p:nvPr/>
        </p:nvPicPr>
        <p:blipFill>
          <a:blip r:embed="rId6"/>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80627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2B9425-0686-4C6B-BEAF-DF3304EDB4A0}"/>
              </a:ext>
            </a:extLst>
          </p:cNvPr>
          <p:cNvPicPr>
            <a:picLocks noChangeAspect="1"/>
          </p:cNvPicPr>
          <p:nvPr/>
        </p:nvPicPr>
        <p:blipFill>
          <a:blip r:embed="rId3"/>
          <a:stretch/>
        </p:blipFill>
        <p:spPr>
          <a:xfrm>
            <a:off x="1693333" y="1143000"/>
            <a:ext cx="8805333" cy="4953000"/>
          </a:xfrm>
          <a:prstGeom prst="rect">
            <a:avLst/>
          </a:prstGeom>
        </p:spPr>
      </p:pic>
      <p:sp>
        <p:nvSpPr>
          <p:cNvPr id="3" name="Rectangle 2">
            <a:extLst>
              <a:ext uri="{FF2B5EF4-FFF2-40B4-BE49-F238E27FC236}">
                <a16:creationId xmlns:a16="http://schemas.microsoft.com/office/drawing/2014/main" id="{C8A40F05-C385-4BE9-AA27-70AC914CB244}"/>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dirty="0">
                <a:solidFill>
                  <a:srgbClr val="586B72"/>
                </a:solidFill>
                <a:latin typeface="Arial"/>
                <a:ea typeface="Arial"/>
                <a:cs typeface="Arial"/>
              </a:rPr>
              <a:t>Motor-driven BFP case, 11 October 2026 calculation revision.</a:t>
            </a:r>
          </a:p>
        </p:txBody>
      </p:sp>
      <p:sp>
        <p:nvSpPr>
          <p:cNvPr id="1004" name="Workshop heading">
            <a:extLst>
              <a:ext uri="{FF2B5EF4-FFF2-40B4-BE49-F238E27FC236}">
                <a16:creationId xmlns:a16="http://schemas.microsoft.com/office/drawing/2014/main" id="{A0F49538-F469-48C0-A345-3E432DA4515B}"/>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Preliminary Rankine cycle</a:t>
            </a:r>
          </a:p>
        </p:txBody>
      </p:sp>
      <p:sp>
        <p:nvSpPr>
          <p:cNvPr id="1005" name="Slide number">
            <a:extLst>
              <a:ext uri="{FF2B5EF4-FFF2-40B4-BE49-F238E27FC236}">
                <a16:creationId xmlns:a16="http://schemas.microsoft.com/office/drawing/2014/main" id="{C7855AC4-1F87-4444-9477-8B2375D58671}"/>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9</a:t>
            </a:r>
          </a:p>
        </p:txBody>
      </p:sp>
      <p:pic>
        <p:nvPicPr>
          <p:cNvPr id="2005" name="Picture 2004">
            <a:extLst>
              <a:ext uri="{FF2B5EF4-FFF2-40B4-BE49-F238E27FC236}">
                <a16:creationId xmlns:a16="http://schemas.microsoft.com/office/drawing/2014/main" id="{7CB1473E-D248-4F47-AF8E-3743BC55D924}"/>
              </a:ext>
            </a:extLst>
          </p:cNvPr>
          <p:cNvPicPr>
            <a:picLocks noChangeAspect="1"/>
          </p:cNvPicPr>
          <p:nvPr/>
        </p:nvPicPr>
        <p:blipFill>
          <a:blip r:embed="rId4"/>
          <a:stretch/>
        </p:blipFill>
        <p:spPr>
          <a:xfrm>
            <a:off x="4226292" y="6401829"/>
            <a:ext cx="2035183" cy="456162"/>
          </a:xfrm>
          <a:prstGeom prst="rect">
            <a:avLst/>
          </a:prstGeom>
        </p:spPr>
      </p:pic>
      <p:pic>
        <p:nvPicPr>
          <p:cNvPr id="4" name="Picture 3">
            <a:extLst>
              <a:ext uri="{FF2B5EF4-FFF2-40B4-BE49-F238E27FC236}">
                <a16:creationId xmlns:a16="http://schemas.microsoft.com/office/drawing/2014/main" id="{F84C18E2-4360-42BB-9E9B-7FA3C3679B24}"/>
              </a:ext>
            </a:extLst>
          </p:cNvPr>
          <p:cNvPicPr>
            <a:picLocks noChangeAspect="1"/>
          </p:cNvPicPr>
          <p:nvPr/>
        </p:nvPicPr>
        <p:blipFill>
          <a:blip r:embed="rId5"/>
          <a:stretch/>
        </p:blipFill>
        <p:spPr>
          <a:xfrm>
            <a:off x="284921" y="6340481"/>
            <a:ext cx="1994449" cy="483503"/>
          </a:xfrm>
          <a:prstGeom prst="rect">
            <a:avLst/>
          </a:prstGeom>
        </p:spPr>
      </p:pic>
      <p:pic>
        <p:nvPicPr>
          <p:cNvPr id="5" name="Picture 4">
            <a:extLst>
              <a:ext uri="{FF2B5EF4-FFF2-40B4-BE49-F238E27FC236}">
                <a16:creationId xmlns:a16="http://schemas.microsoft.com/office/drawing/2014/main" id="{50B37D34-10C9-404C-AB94-386D452116EA}"/>
              </a:ext>
            </a:extLst>
          </p:cNvPr>
          <p:cNvPicPr>
            <a:picLocks noChangeAspect="1"/>
          </p:cNvPicPr>
          <p:nvPr/>
        </p:nvPicPr>
        <p:blipFill>
          <a:blip r:embed="rId6"/>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45856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3C5625-955E-4818-A3FE-0AC705C77A26}"/>
              </a:ext>
            </a:extLst>
          </p:cNvPr>
          <p:cNvPicPr>
            <a:picLocks noChangeAspect="1"/>
          </p:cNvPicPr>
          <p:nvPr/>
        </p:nvPicPr>
        <p:blipFill>
          <a:blip r:embed="rId3"/>
          <a:srcRect l="2000" t="10500" r="2000" b="3500"/>
          <a:stretch/>
        </p:blipFill>
        <p:spPr>
          <a:xfrm>
            <a:off x="400050" y="1272910"/>
            <a:ext cx="7810500" cy="4664604"/>
          </a:xfrm>
          <a:prstGeom prst="rect">
            <a:avLst/>
          </a:prstGeom>
        </p:spPr>
      </p:pic>
      <p:sp>
        <p:nvSpPr>
          <p:cNvPr id="3" name="Rectangle 2">
            <a:extLst>
              <a:ext uri="{FF2B5EF4-FFF2-40B4-BE49-F238E27FC236}">
                <a16:creationId xmlns:a16="http://schemas.microsoft.com/office/drawing/2014/main" id="{CC0B3C8B-6D64-4A71-892D-06328E7BA403}"/>
              </a:ext>
            </a:extLst>
          </p:cNvPr>
          <p:cNvSpPr>
            <a:spLocks noGrp="1"/>
          </p:cNvSpPr>
          <p:nvPr/>
        </p:nvSpPr>
        <p:spPr>
          <a:xfrm>
            <a:off x="8572500" y="1524000"/>
            <a:ext cx="3143250" cy="1238250"/>
          </a:xfrm>
          <a:prstGeom prst="rect">
            <a:avLst/>
          </a:prstGeom>
          <a:noFill/>
          <a:ln w="0">
            <a:noFill/>
          </a:ln>
        </p:spPr>
        <p:txBody>
          <a:bodyPr lIns="0" tIns="0" rIns="0" bIns="0" anchor="t"/>
          <a:lstStyle>
            <a:defPPr>
              <a:defRPr sz="2100" b="1">
                <a:solidFill>
                  <a:srgbClr val="143D48"/>
                </a:solidFill>
                <a:latin typeface="Arial"/>
                <a:ea typeface="Arial"/>
                <a:cs typeface="Arial"/>
              </a:defRPr>
            </a:defPPr>
          </a:lstStyle>
          <a:p>
            <a:pPr>
              <a:defRPr sz="2100" b="1">
                <a:solidFill>
                  <a:srgbClr val="143D48"/>
                </a:solidFill>
                <a:latin typeface="Arial"/>
                <a:ea typeface="Arial"/>
                <a:cs typeface="Arial"/>
              </a:defRPr>
            </a:pPr>
            <a:r>
              <a:rPr sz="2100" b="1">
                <a:solidFill>
                  <a:srgbClr val="143D48"/>
                </a:solidFill>
                <a:latin typeface="Arial"/>
                <a:ea typeface="Arial"/>
                <a:cs typeface="Arial"/>
              </a:rPr>
              <a:t>HP/IP and LP turbine trains</a:t>
            </a:r>
          </a:p>
        </p:txBody>
      </p:sp>
      <p:sp>
        <p:nvSpPr>
          <p:cNvPr id="4" name="Rectangle 3">
            <a:extLst>
              <a:ext uri="{FF2B5EF4-FFF2-40B4-BE49-F238E27FC236}">
                <a16:creationId xmlns:a16="http://schemas.microsoft.com/office/drawing/2014/main" id="{E850A42E-4F4B-4594-B727-75EF345FF119}"/>
              </a:ext>
            </a:extLst>
          </p:cNvPr>
          <p:cNvSpPr>
            <a:spLocks noGrp="1"/>
          </p:cNvSpPr>
          <p:nvPr/>
        </p:nvSpPr>
        <p:spPr>
          <a:xfrm>
            <a:off x="8572500" y="2924175"/>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Reheat, condensers and feedwater heating</a:t>
            </a:r>
          </a:p>
        </p:txBody>
      </p:sp>
      <p:sp>
        <p:nvSpPr>
          <p:cNvPr id="5" name="Rectangle 4">
            <a:extLst>
              <a:ext uri="{FF2B5EF4-FFF2-40B4-BE49-F238E27FC236}">
                <a16:creationId xmlns:a16="http://schemas.microsoft.com/office/drawing/2014/main" id="{CF25116B-2B16-4882-8A23-F9FD0217CA5F}"/>
              </a:ext>
            </a:extLst>
          </p:cNvPr>
          <p:cNvSpPr>
            <a:spLocks noGrp="1"/>
          </p:cNvSpPr>
          <p:nvPr/>
        </p:nvSpPr>
        <p:spPr>
          <a:xfrm>
            <a:off x="8572500" y="4324350"/>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Motor-driven boiler feed pumps</a:t>
            </a:r>
          </a:p>
        </p:txBody>
      </p:sp>
      <p:sp>
        <p:nvSpPr>
          <p:cNvPr id="6" name="Rectangle 5">
            <a:extLst>
              <a:ext uri="{FF2B5EF4-FFF2-40B4-BE49-F238E27FC236}">
                <a16:creationId xmlns:a16="http://schemas.microsoft.com/office/drawing/2014/main" id="{396B258C-F0AB-451B-A11B-2B04EB6B16ED}"/>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Preliminary cycle and layout. Equipment exteriors are illustrative.</a:t>
            </a:r>
          </a:p>
        </p:txBody>
      </p:sp>
      <p:sp>
        <p:nvSpPr>
          <p:cNvPr id="1007" name="Workshop heading">
            <a:extLst>
              <a:ext uri="{FF2B5EF4-FFF2-40B4-BE49-F238E27FC236}">
                <a16:creationId xmlns:a16="http://schemas.microsoft.com/office/drawing/2014/main" id="{1D02EFB5-83BF-4544-B895-7CD21E54FB4A}"/>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Steam power plant</a:t>
            </a:r>
          </a:p>
        </p:txBody>
      </p:sp>
      <p:sp>
        <p:nvSpPr>
          <p:cNvPr id="1008" name="Slide number">
            <a:extLst>
              <a:ext uri="{FF2B5EF4-FFF2-40B4-BE49-F238E27FC236}">
                <a16:creationId xmlns:a16="http://schemas.microsoft.com/office/drawing/2014/main" id="{C0A6106A-97CF-4D2B-B7B7-42017C3081DD}"/>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10</a:t>
            </a:r>
          </a:p>
        </p:txBody>
      </p:sp>
      <p:pic>
        <p:nvPicPr>
          <p:cNvPr id="2008" name="Picture 2007">
            <a:extLst>
              <a:ext uri="{FF2B5EF4-FFF2-40B4-BE49-F238E27FC236}">
                <a16:creationId xmlns:a16="http://schemas.microsoft.com/office/drawing/2014/main" id="{036A6BEE-14ED-43C8-A234-DDA80684171A}"/>
              </a:ext>
            </a:extLst>
          </p:cNvPr>
          <p:cNvPicPr>
            <a:picLocks noChangeAspect="1"/>
          </p:cNvPicPr>
          <p:nvPr/>
        </p:nvPicPr>
        <p:blipFill>
          <a:blip r:embed="rId4"/>
          <a:stretch/>
        </p:blipFill>
        <p:spPr>
          <a:xfrm>
            <a:off x="4226292" y="6401829"/>
            <a:ext cx="2035183" cy="456162"/>
          </a:xfrm>
          <a:prstGeom prst="rect">
            <a:avLst/>
          </a:prstGeom>
        </p:spPr>
      </p:pic>
      <p:pic>
        <p:nvPicPr>
          <p:cNvPr id="2009" name="Picture 2008">
            <a:extLst>
              <a:ext uri="{FF2B5EF4-FFF2-40B4-BE49-F238E27FC236}">
                <a16:creationId xmlns:a16="http://schemas.microsoft.com/office/drawing/2014/main" id="{E75C102C-FDD9-4323-9302-BE12623227AB}"/>
              </a:ext>
            </a:extLst>
          </p:cNvPr>
          <p:cNvPicPr>
            <a:picLocks noChangeAspect="1"/>
          </p:cNvPicPr>
          <p:nvPr/>
        </p:nvPicPr>
        <p:blipFill>
          <a:blip r:embed="rId5"/>
          <a:stretch/>
        </p:blipFill>
        <p:spPr>
          <a:xfrm>
            <a:off x="284921" y="6340481"/>
            <a:ext cx="1994449" cy="483503"/>
          </a:xfrm>
          <a:prstGeom prst="rect">
            <a:avLst/>
          </a:prstGeom>
        </p:spPr>
      </p:pic>
      <p:pic>
        <p:nvPicPr>
          <p:cNvPr id="2010" name="Picture 2009">
            <a:extLst>
              <a:ext uri="{FF2B5EF4-FFF2-40B4-BE49-F238E27FC236}">
                <a16:creationId xmlns:a16="http://schemas.microsoft.com/office/drawing/2014/main" id="{80BCE798-1B56-4575-8144-5EC45DCADA07}"/>
              </a:ext>
            </a:extLst>
          </p:cNvPr>
          <p:cNvPicPr>
            <a:picLocks noChangeAspect="1"/>
          </p:cNvPicPr>
          <p:nvPr/>
        </p:nvPicPr>
        <p:blipFill>
          <a:blip r:embed="rId6"/>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1824180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277836-3290-44A6-8F08-93AECBB5BB80}"/>
              </a:ext>
            </a:extLst>
          </p:cNvPr>
          <p:cNvSpPr>
            <a:spLocks noGrp="1"/>
          </p:cNvSpPr>
          <p:nvPr/>
        </p:nvSpPr>
        <p:spPr>
          <a:xfrm>
            <a:off x="476250" y="1352550"/>
            <a:ext cx="590550" cy="476250"/>
          </a:xfrm>
          <a:prstGeom prst="rect">
            <a:avLst/>
          </a:prstGeom>
          <a:noFill/>
          <a:ln w="0">
            <a:noFill/>
          </a:ln>
        </p:spPr>
        <p:txBody>
          <a:bodyPr lIns="0" tIns="0" rIns="0" bIns="0" anchor="t"/>
          <a:lstStyle>
            <a:defPPr>
              <a:defRPr sz="2175" b="1">
                <a:solidFill>
                  <a:srgbClr val="9C5724"/>
                </a:solidFill>
                <a:latin typeface="Arial"/>
                <a:ea typeface="Arial"/>
                <a:cs typeface="Arial"/>
              </a:defRPr>
            </a:defPPr>
          </a:lstStyle>
          <a:p>
            <a:pPr>
              <a:defRPr sz="2175" b="1">
                <a:solidFill>
                  <a:srgbClr val="9C5724"/>
                </a:solidFill>
                <a:latin typeface="Arial"/>
                <a:ea typeface="Arial"/>
                <a:cs typeface="Arial"/>
              </a:defRPr>
            </a:pPr>
            <a:r>
              <a:rPr sz="2175" b="1">
                <a:solidFill>
                  <a:srgbClr val="9C5724"/>
                </a:solidFill>
                <a:latin typeface="Arial"/>
                <a:ea typeface="Arial"/>
                <a:cs typeface="Arial"/>
              </a:rPr>
              <a:t>01</a:t>
            </a:r>
          </a:p>
        </p:txBody>
      </p:sp>
      <p:sp>
        <p:nvSpPr>
          <p:cNvPr id="3" name="Rectangle 2">
            <a:extLst>
              <a:ext uri="{FF2B5EF4-FFF2-40B4-BE49-F238E27FC236}">
                <a16:creationId xmlns:a16="http://schemas.microsoft.com/office/drawing/2014/main" id="{3A714B23-B61B-458A-BB27-B0897F4E5BDF}"/>
              </a:ext>
            </a:extLst>
          </p:cNvPr>
          <p:cNvSpPr>
            <a:spLocks noGrp="1"/>
          </p:cNvSpPr>
          <p:nvPr/>
        </p:nvSpPr>
        <p:spPr>
          <a:xfrm>
            <a:off x="1238250" y="1352550"/>
            <a:ext cx="10191750" cy="428625"/>
          </a:xfrm>
          <a:prstGeom prst="rect">
            <a:avLst/>
          </a:prstGeom>
          <a:noFill/>
          <a:ln w="0">
            <a:noFill/>
          </a:ln>
        </p:spPr>
        <p:txBody>
          <a:bodyPr lIns="0" tIns="0" rIns="0" bIns="0" anchor="t"/>
          <a:lstStyle>
            <a:defPPr>
              <a:defRPr sz="2325" b="1">
                <a:solidFill>
                  <a:srgbClr val="143D48"/>
                </a:solidFill>
                <a:latin typeface="Arial"/>
                <a:ea typeface="Arial"/>
                <a:cs typeface="Arial"/>
              </a:defRPr>
            </a:defPPr>
          </a:lstStyle>
          <a:p>
            <a:pPr>
              <a:defRPr sz="2325" b="1">
                <a:solidFill>
                  <a:srgbClr val="143D48"/>
                </a:solidFill>
                <a:latin typeface="Arial"/>
                <a:ea typeface="Arial"/>
                <a:cs typeface="Arial"/>
              </a:defRPr>
            </a:pPr>
            <a:r>
              <a:rPr sz="2325" b="1">
                <a:solidFill>
                  <a:srgbClr val="143D48"/>
                </a:solidFill>
                <a:latin typeface="Arial"/>
                <a:ea typeface="Arial"/>
                <a:cs typeface="Arial"/>
              </a:rPr>
              <a:t>I specify the engineering intent</a:t>
            </a:r>
          </a:p>
        </p:txBody>
      </p:sp>
      <p:sp>
        <p:nvSpPr>
          <p:cNvPr id="4" name="Rectangle 3">
            <a:extLst>
              <a:ext uri="{FF2B5EF4-FFF2-40B4-BE49-F238E27FC236}">
                <a16:creationId xmlns:a16="http://schemas.microsoft.com/office/drawing/2014/main" id="{B2C7E1B5-3445-4E56-824A-CE1ACDAA32BD}"/>
              </a:ext>
            </a:extLst>
          </p:cNvPr>
          <p:cNvSpPr>
            <a:spLocks noGrp="1"/>
          </p:cNvSpPr>
          <p:nvPr/>
        </p:nvSpPr>
        <p:spPr>
          <a:xfrm>
            <a:off x="1238250" y="1819275"/>
            <a:ext cx="10334625" cy="476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dirty="0">
                <a:solidFill>
                  <a:srgbClr val="29434A"/>
                </a:solidFill>
                <a:latin typeface="Arial"/>
                <a:ea typeface="Arial"/>
                <a:cs typeface="Arial"/>
              </a:rPr>
              <a:t>Dimensions, constraints, interfaces</a:t>
            </a:r>
            <a:r>
              <a:rPr lang="en-US" sz="2100" b="0" dirty="0">
                <a:solidFill>
                  <a:srgbClr val="29434A"/>
                </a:solidFill>
                <a:latin typeface="Arial"/>
                <a:ea typeface="Arial"/>
                <a:cs typeface="Arial"/>
              </a:rPr>
              <a:t>,</a:t>
            </a:r>
            <a:r>
              <a:rPr sz="2100" b="0" dirty="0">
                <a:solidFill>
                  <a:srgbClr val="29434A"/>
                </a:solidFill>
                <a:latin typeface="Arial"/>
                <a:ea typeface="Arial"/>
                <a:cs typeface="Arial"/>
              </a:rPr>
              <a:t> </a:t>
            </a:r>
            <a:r>
              <a:rPr lang="en-US" sz="2100" b="0" dirty="0">
                <a:solidFill>
                  <a:srgbClr val="29434A"/>
                </a:solidFill>
                <a:latin typeface="Arial"/>
                <a:ea typeface="Arial"/>
                <a:cs typeface="Arial"/>
              </a:rPr>
              <a:t>initial analysis </a:t>
            </a:r>
            <a:r>
              <a:rPr sz="2100" b="0" dirty="0">
                <a:solidFill>
                  <a:srgbClr val="29434A"/>
                </a:solidFill>
                <a:latin typeface="Arial"/>
                <a:ea typeface="Arial"/>
                <a:cs typeface="Arial"/>
              </a:rPr>
              <a:t>an</a:t>
            </a:r>
            <a:r>
              <a:rPr lang="en-US" sz="2100" b="0" dirty="0">
                <a:solidFill>
                  <a:srgbClr val="29434A"/>
                </a:solidFill>
                <a:latin typeface="Arial"/>
                <a:ea typeface="Arial"/>
                <a:cs typeface="Arial"/>
              </a:rPr>
              <a:t>d</a:t>
            </a:r>
            <a:r>
              <a:rPr sz="2100" b="0" dirty="0">
                <a:solidFill>
                  <a:srgbClr val="29434A"/>
                </a:solidFill>
                <a:latin typeface="Arial"/>
                <a:ea typeface="Arial"/>
                <a:cs typeface="Arial"/>
              </a:rPr>
              <a:t> question</a:t>
            </a:r>
            <a:r>
              <a:rPr lang="en-US" sz="2100" b="0" dirty="0">
                <a:solidFill>
                  <a:srgbClr val="29434A"/>
                </a:solidFill>
                <a:latin typeface="Arial"/>
                <a:ea typeface="Arial"/>
                <a:cs typeface="Arial"/>
              </a:rPr>
              <a:t>s</a:t>
            </a:r>
            <a:r>
              <a:rPr sz="2100" b="0" dirty="0">
                <a:solidFill>
                  <a:srgbClr val="29434A"/>
                </a:solidFill>
                <a:latin typeface="Arial"/>
                <a:ea typeface="Arial"/>
                <a:cs typeface="Arial"/>
              </a:rPr>
              <a:t> to answer.</a:t>
            </a:r>
          </a:p>
        </p:txBody>
      </p:sp>
      <p:sp>
        <p:nvSpPr>
          <p:cNvPr id="5" name="Rectangle 4">
            <a:extLst>
              <a:ext uri="{FF2B5EF4-FFF2-40B4-BE49-F238E27FC236}">
                <a16:creationId xmlns:a16="http://schemas.microsoft.com/office/drawing/2014/main" id="{12628B82-1FA6-4C89-BAF4-4EBF04D4CD4A}"/>
              </a:ext>
            </a:extLst>
          </p:cNvPr>
          <p:cNvSpPr>
            <a:spLocks noGrp="1"/>
          </p:cNvSpPr>
          <p:nvPr/>
        </p:nvSpPr>
        <p:spPr>
          <a:xfrm>
            <a:off x="476250" y="2486025"/>
            <a:ext cx="590550" cy="476250"/>
          </a:xfrm>
          <a:prstGeom prst="rect">
            <a:avLst/>
          </a:prstGeom>
          <a:noFill/>
          <a:ln w="0">
            <a:noFill/>
          </a:ln>
        </p:spPr>
        <p:txBody>
          <a:bodyPr lIns="0" tIns="0" rIns="0" bIns="0" anchor="t"/>
          <a:lstStyle>
            <a:defPPr>
              <a:defRPr sz="2175" b="1">
                <a:solidFill>
                  <a:srgbClr val="9C5724"/>
                </a:solidFill>
                <a:latin typeface="Arial"/>
                <a:ea typeface="Arial"/>
                <a:cs typeface="Arial"/>
              </a:defRPr>
            </a:defPPr>
          </a:lstStyle>
          <a:p>
            <a:pPr>
              <a:defRPr sz="2175" b="1">
                <a:solidFill>
                  <a:srgbClr val="9C5724"/>
                </a:solidFill>
                <a:latin typeface="Arial"/>
                <a:ea typeface="Arial"/>
                <a:cs typeface="Arial"/>
              </a:defRPr>
            </a:pPr>
            <a:r>
              <a:rPr sz="2175" b="1">
                <a:solidFill>
                  <a:srgbClr val="9C5724"/>
                </a:solidFill>
                <a:latin typeface="Arial"/>
                <a:ea typeface="Arial"/>
                <a:cs typeface="Arial"/>
              </a:rPr>
              <a:t>02</a:t>
            </a:r>
          </a:p>
        </p:txBody>
      </p:sp>
      <p:sp>
        <p:nvSpPr>
          <p:cNvPr id="6" name="Rectangle 5">
            <a:extLst>
              <a:ext uri="{FF2B5EF4-FFF2-40B4-BE49-F238E27FC236}">
                <a16:creationId xmlns:a16="http://schemas.microsoft.com/office/drawing/2014/main" id="{44A4D619-3220-4F83-87A4-ED7EE30F766A}"/>
              </a:ext>
            </a:extLst>
          </p:cNvPr>
          <p:cNvSpPr>
            <a:spLocks noGrp="1"/>
          </p:cNvSpPr>
          <p:nvPr/>
        </p:nvSpPr>
        <p:spPr>
          <a:xfrm>
            <a:off x="1238250" y="2486025"/>
            <a:ext cx="10191750" cy="428625"/>
          </a:xfrm>
          <a:prstGeom prst="rect">
            <a:avLst/>
          </a:prstGeom>
          <a:noFill/>
          <a:ln w="0">
            <a:noFill/>
          </a:ln>
        </p:spPr>
        <p:txBody>
          <a:bodyPr lIns="0" tIns="0" rIns="0" bIns="0" anchor="t"/>
          <a:lstStyle>
            <a:defPPr>
              <a:defRPr sz="2325" b="1">
                <a:solidFill>
                  <a:srgbClr val="143D48"/>
                </a:solidFill>
                <a:latin typeface="Arial"/>
                <a:ea typeface="Arial"/>
                <a:cs typeface="Arial"/>
              </a:defRPr>
            </a:defPPr>
          </a:lstStyle>
          <a:p>
            <a:pPr>
              <a:defRPr sz="2325" b="1">
                <a:solidFill>
                  <a:srgbClr val="143D48"/>
                </a:solidFill>
                <a:latin typeface="Arial"/>
                <a:ea typeface="Arial"/>
                <a:cs typeface="Arial"/>
              </a:defRPr>
            </a:pPr>
            <a:r>
              <a:rPr sz="2325" b="1" dirty="0">
                <a:solidFill>
                  <a:srgbClr val="143D48"/>
                </a:solidFill>
                <a:latin typeface="Arial"/>
                <a:ea typeface="Arial"/>
                <a:cs typeface="Arial"/>
              </a:rPr>
              <a:t>The </a:t>
            </a:r>
            <a:r>
              <a:rPr lang="en-US" sz="2325" b="1" dirty="0">
                <a:solidFill>
                  <a:srgbClr val="143D48"/>
                </a:solidFill>
                <a:latin typeface="Arial"/>
                <a:ea typeface="Arial"/>
                <a:cs typeface="Arial"/>
              </a:rPr>
              <a:t>EI</a:t>
            </a:r>
            <a:r>
              <a:rPr sz="2325" b="1" dirty="0">
                <a:solidFill>
                  <a:srgbClr val="143D48"/>
                </a:solidFill>
                <a:latin typeface="Arial"/>
                <a:ea typeface="Arial"/>
                <a:cs typeface="Arial"/>
              </a:rPr>
              <a:t> prepares working files</a:t>
            </a:r>
          </a:p>
        </p:txBody>
      </p:sp>
      <p:sp>
        <p:nvSpPr>
          <p:cNvPr id="7" name="Rectangle 6">
            <a:extLst>
              <a:ext uri="{FF2B5EF4-FFF2-40B4-BE49-F238E27FC236}">
                <a16:creationId xmlns:a16="http://schemas.microsoft.com/office/drawing/2014/main" id="{86EF44CF-5F78-45EC-93F8-439759516D26}"/>
              </a:ext>
            </a:extLst>
          </p:cNvPr>
          <p:cNvSpPr>
            <a:spLocks noGrp="1"/>
          </p:cNvSpPr>
          <p:nvPr/>
        </p:nvSpPr>
        <p:spPr>
          <a:xfrm>
            <a:off x="1238250" y="2952750"/>
            <a:ext cx="10334625" cy="476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lang="en-US" sz="2100" b="0" dirty="0">
                <a:solidFill>
                  <a:srgbClr val="29434A"/>
                </a:solidFill>
                <a:latin typeface="Arial"/>
                <a:ea typeface="Arial"/>
                <a:cs typeface="Arial"/>
              </a:rPr>
              <a:t>Recommends designs, </a:t>
            </a:r>
            <a:r>
              <a:rPr sz="2100" b="0" dirty="0">
                <a:solidFill>
                  <a:srgbClr val="29434A"/>
                </a:solidFill>
                <a:latin typeface="Arial"/>
                <a:ea typeface="Arial"/>
                <a:cs typeface="Arial"/>
              </a:rPr>
              <a:t>geometry, </a:t>
            </a:r>
            <a:r>
              <a:rPr lang="en-US" sz="2100" b="0" dirty="0">
                <a:solidFill>
                  <a:srgbClr val="29434A"/>
                </a:solidFill>
                <a:latin typeface="Arial"/>
                <a:ea typeface="Arial"/>
                <a:cs typeface="Arial"/>
              </a:rPr>
              <a:t>detailed </a:t>
            </a:r>
            <a:r>
              <a:rPr sz="2100" b="0" dirty="0">
                <a:solidFill>
                  <a:srgbClr val="29434A"/>
                </a:solidFill>
                <a:latin typeface="Arial"/>
                <a:ea typeface="Arial"/>
                <a:cs typeface="Arial"/>
              </a:rPr>
              <a:t>calculation</a:t>
            </a:r>
            <a:r>
              <a:rPr lang="en-US" sz="2100" b="0" dirty="0">
                <a:solidFill>
                  <a:srgbClr val="29434A"/>
                </a:solidFill>
                <a:latin typeface="Arial"/>
                <a:ea typeface="Arial"/>
                <a:cs typeface="Arial"/>
              </a:rPr>
              <a:t>s</a:t>
            </a:r>
            <a:r>
              <a:rPr sz="2100" b="0" dirty="0">
                <a:solidFill>
                  <a:srgbClr val="29434A"/>
                </a:solidFill>
                <a:latin typeface="Arial"/>
                <a:ea typeface="Arial"/>
                <a:cs typeface="Arial"/>
              </a:rPr>
              <a:t>, documentation and views.</a:t>
            </a:r>
          </a:p>
        </p:txBody>
      </p:sp>
      <p:sp>
        <p:nvSpPr>
          <p:cNvPr id="8" name="Rectangle 7">
            <a:extLst>
              <a:ext uri="{FF2B5EF4-FFF2-40B4-BE49-F238E27FC236}">
                <a16:creationId xmlns:a16="http://schemas.microsoft.com/office/drawing/2014/main" id="{653A9417-FF87-43D0-8C5D-C9EABAB82579}"/>
              </a:ext>
            </a:extLst>
          </p:cNvPr>
          <p:cNvSpPr>
            <a:spLocks noGrp="1"/>
          </p:cNvSpPr>
          <p:nvPr/>
        </p:nvSpPr>
        <p:spPr>
          <a:xfrm>
            <a:off x="476250" y="3619500"/>
            <a:ext cx="590550" cy="476250"/>
          </a:xfrm>
          <a:prstGeom prst="rect">
            <a:avLst/>
          </a:prstGeom>
          <a:noFill/>
          <a:ln w="0">
            <a:noFill/>
          </a:ln>
        </p:spPr>
        <p:txBody>
          <a:bodyPr lIns="0" tIns="0" rIns="0" bIns="0" anchor="t"/>
          <a:lstStyle>
            <a:defPPr>
              <a:defRPr sz="2175" b="1">
                <a:solidFill>
                  <a:srgbClr val="9C5724"/>
                </a:solidFill>
                <a:latin typeface="Arial"/>
                <a:ea typeface="Arial"/>
                <a:cs typeface="Arial"/>
              </a:defRPr>
            </a:defPPr>
          </a:lstStyle>
          <a:p>
            <a:pPr>
              <a:defRPr sz="2175" b="1">
                <a:solidFill>
                  <a:srgbClr val="9C5724"/>
                </a:solidFill>
                <a:latin typeface="Arial"/>
                <a:ea typeface="Arial"/>
                <a:cs typeface="Arial"/>
              </a:defRPr>
            </a:pPr>
            <a:r>
              <a:rPr sz="2175" b="1">
                <a:solidFill>
                  <a:srgbClr val="9C5724"/>
                </a:solidFill>
                <a:latin typeface="Arial"/>
                <a:ea typeface="Arial"/>
                <a:cs typeface="Arial"/>
              </a:rPr>
              <a:t>03</a:t>
            </a:r>
          </a:p>
        </p:txBody>
      </p:sp>
      <p:sp>
        <p:nvSpPr>
          <p:cNvPr id="9" name="Rectangle 8">
            <a:extLst>
              <a:ext uri="{FF2B5EF4-FFF2-40B4-BE49-F238E27FC236}">
                <a16:creationId xmlns:a16="http://schemas.microsoft.com/office/drawing/2014/main" id="{F52C071E-E8D4-4CAA-9499-C07B2782C795}"/>
              </a:ext>
            </a:extLst>
          </p:cNvPr>
          <p:cNvSpPr>
            <a:spLocks noGrp="1"/>
          </p:cNvSpPr>
          <p:nvPr/>
        </p:nvSpPr>
        <p:spPr>
          <a:xfrm>
            <a:off x="1238250" y="3619500"/>
            <a:ext cx="10191750" cy="428625"/>
          </a:xfrm>
          <a:prstGeom prst="rect">
            <a:avLst/>
          </a:prstGeom>
          <a:noFill/>
          <a:ln w="0">
            <a:noFill/>
          </a:ln>
        </p:spPr>
        <p:txBody>
          <a:bodyPr lIns="0" tIns="0" rIns="0" bIns="0" anchor="t"/>
          <a:lstStyle>
            <a:defPPr>
              <a:defRPr sz="2325" b="1">
                <a:solidFill>
                  <a:srgbClr val="143D48"/>
                </a:solidFill>
                <a:latin typeface="Arial"/>
                <a:ea typeface="Arial"/>
                <a:cs typeface="Arial"/>
              </a:defRPr>
            </a:defPPr>
          </a:lstStyle>
          <a:p>
            <a:pPr>
              <a:defRPr sz="2325" b="1">
                <a:solidFill>
                  <a:srgbClr val="143D48"/>
                </a:solidFill>
                <a:latin typeface="Arial"/>
                <a:ea typeface="Arial"/>
                <a:cs typeface="Arial"/>
              </a:defRPr>
            </a:pPr>
            <a:r>
              <a:rPr sz="2325" b="1">
                <a:solidFill>
                  <a:srgbClr val="143D48"/>
                </a:solidFill>
                <a:latin typeface="Arial"/>
                <a:ea typeface="Arial"/>
                <a:cs typeface="Arial"/>
              </a:rPr>
              <a:t>We inspect and revise</a:t>
            </a:r>
          </a:p>
        </p:txBody>
      </p:sp>
      <p:sp>
        <p:nvSpPr>
          <p:cNvPr id="10" name="Rectangle 9">
            <a:extLst>
              <a:ext uri="{FF2B5EF4-FFF2-40B4-BE49-F238E27FC236}">
                <a16:creationId xmlns:a16="http://schemas.microsoft.com/office/drawing/2014/main" id="{AD4ED87C-7F8F-42AA-9AB2-86042B7B0BBD}"/>
              </a:ext>
            </a:extLst>
          </p:cNvPr>
          <p:cNvSpPr>
            <a:spLocks noGrp="1"/>
          </p:cNvSpPr>
          <p:nvPr/>
        </p:nvSpPr>
        <p:spPr>
          <a:xfrm>
            <a:off x="1238250" y="4086225"/>
            <a:ext cx="10334625" cy="476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Check units, assumptions, connections and visible clearances.</a:t>
            </a:r>
          </a:p>
        </p:txBody>
      </p:sp>
      <p:sp>
        <p:nvSpPr>
          <p:cNvPr id="11" name="Rectangle 10">
            <a:extLst>
              <a:ext uri="{FF2B5EF4-FFF2-40B4-BE49-F238E27FC236}">
                <a16:creationId xmlns:a16="http://schemas.microsoft.com/office/drawing/2014/main" id="{1DE027F5-DBC8-4F7F-BF51-452AEB5049B4}"/>
              </a:ext>
            </a:extLst>
          </p:cNvPr>
          <p:cNvSpPr>
            <a:spLocks noGrp="1"/>
          </p:cNvSpPr>
          <p:nvPr/>
        </p:nvSpPr>
        <p:spPr>
          <a:xfrm>
            <a:off x="476250" y="4752975"/>
            <a:ext cx="590550" cy="476250"/>
          </a:xfrm>
          <a:prstGeom prst="rect">
            <a:avLst/>
          </a:prstGeom>
          <a:noFill/>
          <a:ln w="0">
            <a:noFill/>
          </a:ln>
        </p:spPr>
        <p:txBody>
          <a:bodyPr lIns="0" tIns="0" rIns="0" bIns="0" anchor="t"/>
          <a:lstStyle>
            <a:defPPr>
              <a:defRPr sz="2175" b="1">
                <a:solidFill>
                  <a:srgbClr val="9C5724"/>
                </a:solidFill>
                <a:latin typeface="Arial"/>
                <a:ea typeface="Arial"/>
                <a:cs typeface="Arial"/>
              </a:defRPr>
            </a:defPPr>
          </a:lstStyle>
          <a:p>
            <a:pPr>
              <a:defRPr sz="2175" b="1">
                <a:solidFill>
                  <a:srgbClr val="9C5724"/>
                </a:solidFill>
                <a:latin typeface="Arial"/>
                <a:ea typeface="Arial"/>
                <a:cs typeface="Arial"/>
              </a:defRPr>
            </a:pPr>
            <a:r>
              <a:rPr sz="2175" b="1">
                <a:solidFill>
                  <a:srgbClr val="9C5724"/>
                </a:solidFill>
                <a:latin typeface="Arial"/>
                <a:ea typeface="Arial"/>
                <a:cs typeface="Arial"/>
              </a:rPr>
              <a:t>04</a:t>
            </a:r>
          </a:p>
        </p:txBody>
      </p:sp>
      <p:sp>
        <p:nvSpPr>
          <p:cNvPr id="12" name="Rectangle 11">
            <a:extLst>
              <a:ext uri="{FF2B5EF4-FFF2-40B4-BE49-F238E27FC236}">
                <a16:creationId xmlns:a16="http://schemas.microsoft.com/office/drawing/2014/main" id="{718C3941-749F-4E53-B25D-3935CAA5B591}"/>
              </a:ext>
            </a:extLst>
          </p:cNvPr>
          <p:cNvSpPr>
            <a:spLocks noGrp="1"/>
          </p:cNvSpPr>
          <p:nvPr/>
        </p:nvSpPr>
        <p:spPr>
          <a:xfrm>
            <a:off x="1238250" y="4752975"/>
            <a:ext cx="10191750" cy="428625"/>
          </a:xfrm>
          <a:prstGeom prst="rect">
            <a:avLst/>
          </a:prstGeom>
          <a:noFill/>
          <a:ln w="0">
            <a:noFill/>
          </a:ln>
        </p:spPr>
        <p:txBody>
          <a:bodyPr lIns="0" tIns="0" rIns="0" bIns="0" anchor="t"/>
          <a:lstStyle>
            <a:defPPr>
              <a:defRPr sz="2325" b="1">
                <a:solidFill>
                  <a:srgbClr val="143D48"/>
                </a:solidFill>
                <a:latin typeface="Arial"/>
                <a:ea typeface="Arial"/>
                <a:cs typeface="Arial"/>
              </a:defRPr>
            </a:defPPr>
          </a:lstStyle>
          <a:p>
            <a:pPr>
              <a:defRPr sz="2325" b="1">
                <a:solidFill>
                  <a:srgbClr val="143D48"/>
                </a:solidFill>
                <a:latin typeface="Arial"/>
                <a:ea typeface="Arial"/>
                <a:cs typeface="Arial"/>
              </a:defRPr>
            </a:pPr>
            <a:r>
              <a:rPr sz="2325" b="1" dirty="0">
                <a:solidFill>
                  <a:srgbClr val="143D48"/>
                </a:solidFill>
                <a:latin typeface="Arial"/>
                <a:ea typeface="Arial"/>
                <a:cs typeface="Arial"/>
              </a:rPr>
              <a:t>We preserve the reviewed state</a:t>
            </a:r>
          </a:p>
        </p:txBody>
      </p:sp>
      <p:sp>
        <p:nvSpPr>
          <p:cNvPr id="13" name="Rectangle 12">
            <a:extLst>
              <a:ext uri="{FF2B5EF4-FFF2-40B4-BE49-F238E27FC236}">
                <a16:creationId xmlns:a16="http://schemas.microsoft.com/office/drawing/2014/main" id="{589F6B4D-F7AB-4838-A3C7-33FDCF277F76}"/>
              </a:ext>
            </a:extLst>
          </p:cNvPr>
          <p:cNvSpPr>
            <a:spLocks noGrp="1"/>
          </p:cNvSpPr>
          <p:nvPr/>
        </p:nvSpPr>
        <p:spPr>
          <a:xfrm>
            <a:off x="1238250" y="5219700"/>
            <a:ext cx="10334625" cy="476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Sources, decisions and changes remain in Git history.</a:t>
            </a:r>
          </a:p>
        </p:txBody>
      </p:sp>
      <p:sp>
        <p:nvSpPr>
          <p:cNvPr id="1014" name="Workshop heading">
            <a:extLst>
              <a:ext uri="{FF2B5EF4-FFF2-40B4-BE49-F238E27FC236}">
                <a16:creationId xmlns:a16="http://schemas.microsoft.com/office/drawing/2014/main" id="{BD218F01-8EC1-4C9A-B436-D350C6DA607E}"/>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dirty="0">
                <a:solidFill>
                  <a:srgbClr val="BE252D"/>
                </a:solidFill>
              </a:rPr>
              <a:t>Working with an Electronic Intelligence</a:t>
            </a:r>
            <a:r>
              <a:rPr lang="en-US" sz="2600" b="1" dirty="0">
                <a:solidFill>
                  <a:srgbClr val="BE252D"/>
                </a:solidFill>
              </a:rPr>
              <a:t> (ChatGPT/CODEX)</a:t>
            </a:r>
            <a:endParaRPr sz="2600" b="1" dirty="0">
              <a:solidFill>
                <a:srgbClr val="BE252D"/>
              </a:solidFill>
            </a:endParaRPr>
          </a:p>
        </p:txBody>
      </p:sp>
      <p:sp>
        <p:nvSpPr>
          <p:cNvPr id="1015" name="Slide number">
            <a:extLst>
              <a:ext uri="{FF2B5EF4-FFF2-40B4-BE49-F238E27FC236}">
                <a16:creationId xmlns:a16="http://schemas.microsoft.com/office/drawing/2014/main" id="{277B1EBF-6F3F-4B08-A61A-5293A0735519}"/>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16</a:t>
            </a:r>
          </a:p>
        </p:txBody>
      </p:sp>
      <p:pic>
        <p:nvPicPr>
          <p:cNvPr id="2015" name="Picture 2014">
            <a:extLst>
              <a:ext uri="{FF2B5EF4-FFF2-40B4-BE49-F238E27FC236}">
                <a16:creationId xmlns:a16="http://schemas.microsoft.com/office/drawing/2014/main" id="{8CF4462E-A597-494F-A3E1-C3CEE368EB72}"/>
              </a:ext>
            </a:extLst>
          </p:cNvPr>
          <p:cNvPicPr>
            <a:picLocks noChangeAspect="1"/>
          </p:cNvPicPr>
          <p:nvPr/>
        </p:nvPicPr>
        <p:blipFill>
          <a:blip r:embed="rId3"/>
          <a:stretch/>
        </p:blipFill>
        <p:spPr>
          <a:xfrm>
            <a:off x="4226292" y="6401829"/>
            <a:ext cx="2035183" cy="456162"/>
          </a:xfrm>
          <a:prstGeom prst="rect">
            <a:avLst/>
          </a:prstGeom>
        </p:spPr>
      </p:pic>
      <p:pic>
        <p:nvPicPr>
          <p:cNvPr id="2016" name="Picture 2015">
            <a:extLst>
              <a:ext uri="{FF2B5EF4-FFF2-40B4-BE49-F238E27FC236}">
                <a16:creationId xmlns:a16="http://schemas.microsoft.com/office/drawing/2014/main" id="{4FA10E9A-C888-4383-9FB1-D17E4896DA24}"/>
              </a:ext>
            </a:extLst>
          </p:cNvPr>
          <p:cNvPicPr>
            <a:picLocks noChangeAspect="1"/>
          </p:cNvPicPr>
          <p:nvPr/>
        </p:nvPicPr>
        <p:blipFill>
          <a:blip r:embed="rId4"/>
          <a:stretch/>
        </p:blipFill>
        <p:spPr>
          <a:xfrm>
            <a:off x="284921" y="6340481"/>
            <a:ext cx="1994449" cy="483503"/>
          </a:xfrm>
          <a:prstGeom prst="rect">
            <a:avLst/>
          </a:prstGeom>
        </p:spPr>
      </p:pic>
      <p:pic>
        <p:nvPicPr>
          <p:cNvPr id="2017" name="Picture 2016">
            <a:extLst>
              <a:ext uri="{FF2B5EF4-FFF2-40B4-BE49-F238E27FC236}">
                <a16:creationId xmlns:a16="http://schemas.microsoft.com/office/drawing/2014/main" id="{C83AFC2C-8FE5-449F-A419-71AA74831B55}"/>
              </a:ext>
            </a:extLst>
          </p:cNvPr>
          <p:cNvPicPr>
            <a:picLocks noChangeAspect="1"/>
          </p:cNvPicPr>
          <p:nvPr/>
        </p:nvPicPr>
        <p:blipFill>
          <a:blip r:embed="rId5"/>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370347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41735C3-A280-4EAE-A5F5-E07F66B65FB0}"/>
              </a:ext>
            </a:extLst>
          </p:cNvPr>
          <p:cNvGraphicFramePr/>
          <p:nvPr>
            <p:extLst>
              <p:ext uri="{D42A27DB-BD31-4B8C-83A1-F6EECF244321}">
                <p14:modId xmlns:p14="http://schemas.microsoft.com/office/powerpoint/2010/main" val="705475337"/>
              </p:ext>
            </p:extLst>
          </p:nvPr>
        </p:nvGraphicFramePr>
        <p:xfrm>
          <a:off x="476250" y="1381125"/>
          <a:ext cx="11239500" cy="4000500"/>
        </p:xfrm>
        <a:graphic>
          <a:graphicData uri="http://schemas.openxmlformats.org/drawingml/2006/table">
            <a:tbl>
              <a:tblPr/>
              <a:tblGrid>
                <a:gridCol w="2714625">
                  <a:extLst>
                    <a:ext uri="{9D8B030D-6E8A-4147-A177-3AD203B41FA5}">
                      <a16:colId xmlns:a16="http://schemas.microsoft.com/office/drawing/2014/main" val="20000"/>
                    </a:ext>
                  </a:extLst>
                </a:gridCol>
                <a:gridCol w="8524875">
                  <a:extLst>
                    <a:ext uri="{9D8B030D-6E8A-4147-A177-3AD203B41FA5}">
                      <a16:colId xmlns:a16="http://schemas.microsoft.com/office/drawing/2014/main" val="20001"/>
                    </a:ext>
                  </a:extLst>
                </a:gridCol>
              </a:tblGrid>
              <a:tr h="571500">
                <a:tc>
                  <a:txBody>
                    <a:bodyPr/>
                    <a:lstStyle/>
                    <a:p>
                      <a:r>
                        <a:rPr sz="1800" b="1">
                          <a:solidFill>
                            <a:srgbClr val="FFFFFF"/>
                          </a:solidFill>
                          <a:latin typeface="Arial"/>
                          <a:ea typeface="Arial"/>
                          <a:cs typeface="Arial"/>
                        </a:rPr>
                        <a:t>Tool</a:t>
                      </a:r>
                    </a:p>
                  </a:txBody>
                  <a:tcPr marL="171450" marR="171450" marT="95250" marB="9525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BE252D"/>
                    </a:solidFill>
                  </a:tcPr>
                </a:tc>
                <a:tc>
                  <a:txBody>
                    <a:bodyPr/>
                    <a:lstStyle/>
                    <a:p>
                      <a:r>
                        <a:rPr sz="1800" b="1">
                          <a:solidFill>
                            <a:srgbClr val="FFFFFF"/>
                          </a:solidFill>
                          <a:latin typeface="Arial"/>
                          <a:ea typeface="Arial"/>
                          <a:cs typeface="Arial"/>
                        </a:rPr>
                        <a:t>Role in this project</a:t>
                      </a:r>
                    </a:p>
                  </a:txBody>
                  <a:tcPr marL="171450" marR="171450" marT="95250" marB="95250" anchor="ctr">
                    <a:lnL w="19050" cmpd="sng">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BE252D"/>
                    </a:solidFill>
                  </a:tcPr>
                </a:tc>
                <a:extLst>
                  <a:ext uri="{0D108BD9-81ED-4DB2-BD59-A6C34878D82A}">
                    <a16:rowId xmlns:a16="http://schemas.microsoft.com/office/drawing/2014/main" val="10000"/>
                  </a:ext>
                </a:extLst>
              </a:tr>
              <a:tr h="571500">
                <a:tc>
                  <a:txBody>
                    <a:bodyPr/>
                    <a:lstStyle/>
                    <a:p>
                      <a:r>
                        <a:rPr sz="1800" b="1">
                          <a:solidFill>
                            <a:srgbClr val="29434A"/>
                          </a:solidFill>
                          <a:latin typeface="Arial"/>
                          <a:ea typeface="Arial"/>
                          <a:cs typeface="Arial"/>
                        </a:rPr>
                        <a:t>Markdown</a:t>
                      </a:r>
                    </a:p>
                  </a:txBody>
                  <a:tcPr marL="171450" marR="171450" marT="95250" marB="95250" anchor="ctr">
                    <a:lnL w="19050">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EDF2F2"/>
                    </a:solidFill>
                  </a:tcPr>
                </a:tc>
                <a:tc>
                  <a:txBody>
                    <a:bodyPr/>
                    <a:lstStyle/>
                    <a:p>
                      <a:r>
                        <a:rPr sz="1800" b="0">
                          <a:solidFill>
                            <a:srgbClr val="29434A"/>
                          </a:solidFill>
                          <a:latin typeface="Arial"/>
                          <a:ea typeface="Arial"/>
                          <a:cs typeface="Arial"/>
                        </a:rPr>
                        <a:t>Design notes, assumptions, decisions and study reports</a:t>
                      </a:r>
                      <a:endParaRPr sz="1950" b="0">
                        <a:solidFill>
                          <a:srgbClr val="29434A"/>
                        </a:solidFill>
                        <a:latin typeface="Arial"/>
                        <a:ea typeface="Arial"/>
                        <a:cs typeface="Arial"/>
                      </a:endParaRPr>
                    </a:p>
                  </a:txBody>
                  <a:tcPr marL="171450" marR="171450" marT="95250" marB="95250" anchor="ctr">
                    <a:lnL w="19050" cmpd="sng">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EDF2F2"/>
                    </a:solidFill>
                  </a:tcPr>
                </a:tc>
                <a:extLst>
                  <a:ext uri="{0D108BD9-81ED-4DB2-BD59-A6C34878D82A}">
                    <a16:rowId xmlns:a16="http://schemas.microsoft.com/office/drawing/2014/main" val="10001"/>
                  </a:ext>
                </a:extLst>
              </a:tr>
              <a:tr h="571500">
                <a:tc>
                  <a:txBody>
                    <a:bodyPr/>
                    <a:lstStyle/>
                    <a:p>
                      <a:r>
                        <a:rPr sz="1800" b="1">
                          <a:solidFill>
                            <a:srgbClr val="29434A"/>
                          </a:solidFill>
                          <a:latin typeface="Arial"/>
                          <a:ea typeface="Arial"/>
                          <a:cs typeface="Arial"/>
                        </a:rPr>
                        <a:t>Hurmet</a:t>
                      </a:r>
                    </a:p>
                  </a:txBody>
                  <a:tcPr marL="171450" marR="171450" marT="95250" marB="95250" anchor="ctr">
                    <a:lnL w="19050">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FFFFFF"/>
                    </a:solidFill>
                  </a:tcPr>
                </a:tc>
                <a:tc>
                  <a:txBody>
                    <a:bodyPr/>
                    <a:lstStyle/>
                    <a:p>
                      <a:r>
                        <a:rPr sz="1800" b="0">
                          <a:solidFill>
                            <a:srgbClr val="29434A"/>
                          </a:solidFill>
                          <a:latin typeface="Arial"/>
                          <a:ea typeface="Arial"/>
                          <a:cs typeface="Arial"/>
                        </a:rPr>
                        <a:t>Readable calculations with units and editable inputs</a:t>
                      </a:r>
                    </a:p>
                  </a:txBody>
                  <a:tcPr marL="171450" marR="171450" marT="95250" marB="95250" anchor="ctr">
                    <a:lnL w="19050" cmpd="sng">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FFFFFF"/>
                    </a:solidFill>
                  </a:tcPr>
                </a:tc>
                <a:extLst>
                  <a:ext uri="{0D108BD9-81ED-4DB2-BD59-A6C34878D82A}">
                    <a16:rowId xmlns:a16="http://schemas.microsoft.com/office/drawing/2014/main" val="10002"/>
                  </a:ext>
                </a:extLst>
              </a:tr>
              <a:tr h="571500">
                <a:tc>
                  <a:txBody>
                    <a:bodyPr/>
                    <a:lstStyle/>
                    <a:p>
                      <a:r>
                        <a:rPr sz="1800" b="1">
                          <a:solidFill>
                            <a:srgbClr val="29434A"/>
                          </a:solidFill>
                          <a:latin typeface="Arial"/>
                          <a:ea typeface="Arial"/>
                          <a:cs typeface="Arial"/>
                        </a:rPr>
                        <a:t>Python</a:t>
                      </a:r>
                    </a:p>
                  </a:txBody>
                  <a:tcPr marL="171450" marR="171450" marT="95250" marB="95250" anchor="ctr">
                    <a:lnL w="19050">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EDF2F2"/>
                    </a:solidFill>
                  </a:tcPr>
                </a:tc>
                <a:tc>
                  <a:txBody>
                    <a:bodyPr/>
                    <a:lstStyle/>
                    <a:p>
                      <a:r>
                        <a:rPr sz="1800" b="0">
                          <a:solidFill>
                            <a:srgbClr val="29434A"/>
                          </a:solidFill>
                          <a:latin typeface="Arial"/>
                          <a:ea typeface="Arial"/>
                          <a:cs typeface="Arial"/>
                        </a:rPr>
                        <a:t>Geometry generation and calculation automation</a:t>
                      </a:r>
                    </a:p>
                  </a:txBody>
                  <a:tcPr marL="171450" marR="171450" marT="95250" marB="95250" anchor="ctr">
                    <a:lnL w="19050" cmpd="sng">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EDF2F2"/>
                    </a:solidFill>
                  </a:tcPr>
                </a:tc>
                <a:extLst>
                  <a:ext uri="{0D108BD9-81ED-4DB2-BD59-A6C34878D82A}">
                    <a16:rowId xmlns:a16="http://schemas.microsoft.com/office/drawing/2014/main" val="10003"/>
                  </a:ext>
                </a:extLst>
              </a:tr>
              <a:tr h="571500">
                <a:tc>
                  <a:txBody>
                    <a:bodyPr/>
                    <a:lstStyle/>
                    <a:p>
                      <a:r>
                        <a:rPr sz="1800" b="1">
                          <a:solidFill>
                            <a:srgbClr val="29434A"/>
                          </a:solidFill>
                          <a:latin typeface="Arial"/>
                          <a:ea typeface="Arial"/>
                          <a:cs typeface="Arial"/>
                        </a:rPr>
                        <a:t>Visual Studio Code</a:t>
                      </a:r>
                    </a:p>
                  </a:txBody>
                  <a:tcPr marL="171450" marR="171450" marT="95250" marB="95250" anchor="ctr">
                    <a:lnL w="19050">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FFFFFF"/>
                    </a:solidFill>
                  </a:tcPr>
                </a:tc>
                <a:tc>
                  <a:txBody>
                    <a:bodyPr/>
                    <a:lstStyle/>
                    <a:p>
                      <a:r>
                        <a:rPr sz="1800" b="0">
                          <a:solidFill>
                            <a:srgbClr val="29434A"/>
                          </a:solidFill>
                          <a:latin typeface="Arial"/>
                          <a:ea typeface="Arial"/>
                          <a:cs typeface="Arial"/>
                        </a:rPr>
                        <a:t>Edit code and Markdown, preview files and review changes</a:t>
                      </a:r>
                    </a:p>
                  </a:txBody>
                  <a:tcPr marL="171450" marR="171450" marT="95250" marB="95250" anchor="ctr">
                    <a:lnL w="19050" cmpd="sng">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1">
                          <a:solidFill>
                            <a:srgbClr val="29434A"/>
                          </a:solidFill>
                          <a:latin typeface="Arial"/>
                          <a:ea typeface="Arial"/>
                          <a:cs typeface="Arial"/>
                        </a:rPr>
                        <a:t>Blender</a:t>
                      </a:r>
                    </a:p>
                  </a:txBody>
                  <a:tcPr marL="171450" marR="171450" marT="95250" marB="95250" anchor="ctr">
                    <a:lnL w="19050">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EDF2F2"/>
                    </a:solidFill>
                  </a:tcPr>
                </a:tc>
                <a:tc>
                  <a:txBody>
                    <a:bodyPr/>
                    <a:lstStyle/>
                    <a:p>
                      <a:r>
                        <a:rPr sz="1800" b="0">
                          <a:solidFill>
                            <a:srgbClr val="29434A"/>
                          </a:solidFill>
                          <a:latin typeface="Arial"/>
                          <a:ea typeface="Arial"/>
                          <a:cs typeface="Arial"/>
                        </a:rPr>
                        <a:t>Rotate, inspect, cut away and render the 3D models</a:t>
                      </a:r>
                    </a:p>
                  </a:txBody>
                  <a:tcPr marL="171450" marR="171450" marT="95250" marB="95250" anchor="ctr">
                    <a:lnL w="19050" cmpd="sng">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EDF2F2"/>
                    </a:solidFill>
                  </a:tcPr>
                </a:tc>
                <a:extLst>
                  <a:ext uri="{0D108BD9-81ED-4DB2-BD59-A6C34878D82A}">
                    <a16:rowId xmlns:a16="http://schemas.microsoft.com/office/drawing/2014/main" val="10005"/>
                  </a:ext>
                </a:extLst>
              </a:tr>
              <a:tr h="571500">
                <a:tc>
                  <a:txBody>
                    <a:bodyPr/>
                    <a:lstStyle/>
                    <a:p>
                      <a:r>
                        <a:rPr sz="1800" b="1">
                          <a:solidFill>
                            <a:srgbClr val="29434A"/>
                          </a:solidFill>
                          <a:latin typeface="Arial"/>
                          <a:ea typeface="Arial"/>
                          <a:cs typeface="Arial"/>
                        </a:rPr>
                        <a:t>GitHub</a:t>
                      </a:r>
                    </a:p>
                  </a:txBody>
                  <a:tcPr marL="171450" marR="171450" marT="95250" marB="95250" anchor="ctr">
                    <a:lnL w="19050">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FFFFFF"/>
                    </a:solidFill>
                  </a:tcPr>
                </a:tc>
                <a:tc>
                  <a:txBody>
                    <a:bodyPr/>
                    <a:lstStyle/>
                    <a:p>
                      <a:r>
                        <a:rPr sz="1800" b="0">
                          <a:solidFill>
                            <a:srgbClr val="29434A"/>
                          </a:solidFill>
                          <a:latin typeface="Arial"/>
                          <a:ea typeface="Arial"/>
                          <a:cs typeface="Arial"/>
                        </a:rPr>
                        <a:t>Share sources, review changes and preserve versions</a:t>
                      </a:r>
                    </a:p>
                  </a:txBody>
                  <a:tcPr marL="171450" marR="171450" marT="95250" marB="95250" anchor="ctr">
                    <a:lnL w="19050" cmpd="sng">
                      <a:solidFill>
                        <a:srgbClr val="FFFFFF"/>
                      </a:solidFill>
                      <a:prstDash val="solid"/>
                    </a:lnL>
                    <a:lnR w="19050">
                      <a:solidFill>
                        <a:srgbClr val="FFFFFF"/>
                      </a:solidFill>
                      <a:prstDash val="solid"/>
                    </a:lnR>
                    <a:lnT w="19050" cmpd="sng">
                      <a:solidFill>
                        <a:srgbClr val="FFFFFF"/>
                      </a:solidFill>
                      <a:prstDash val="solid"/>
                    </a:lnT>
                    <a:lnB w="19050">
                      <a:solidFill>
                        <a:srgbClr val="FFFFF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3" name="Rectangle 2">
            <a:extLst>
              <a:ext uri="{FF2B5EF4-FFF2-40B4-BE49-F238E27FC236}">
                <a16:creationId xmlns:a16="http://schemas.microsoft.com/office/drawing/2014/main" id="{D345E10D-DF64-4B51-ABA4-A4103CA641B9}"/>
              </a:ext>
            </a:extLst>
          </p:cNvPr>
          <p:cNvSpPr>
            <a:spLocks noGrp="1"/>
          </p:cNvSpPr>
          <p:nvPr/>
        </p:nvSpPr>
        <p:spPr>
          <a:xfrm>
            <a:off x="523875" y="5695950"/>
            <a:ext cx="11049000" cy="476250"/>
          </a:xfrm>
          <a:prstGeom prst="rect">
            <a:avLst/>
          </a:prstGeom>
          <a:noFill/>
          <a:ln w="0">
            <a:noFill/>
          </a:ln>
        </p:spPr>
        <p:txBody>
          <a:bodyPr lIns="0" tIns="0" rIns="0" bIns="0" anchor="t"/>
          <a:lstStyle>
            <a:defPPr>
              <a:defRPr sz="1875" b="0">
                <a:solidFill>
                  <a:srgbClr val="143D48"/>
                </a:solidFill>
                <a:latin typeface="Arial"/>
                <a:ea typeface="Arial"/>
                <a:cs typeface="Arial"/>
              </a:defRPr>
            </a:defPPr>
          </a:lstStyle>
          <a:p>
            <a:pPr>
              <a:defRPr sz="1875" b="0">
                <a:solidFill>
                  <a:srgbClr val="143D48"/>
                </a:solidFill>
                <a:latin typeface="Arial"/>
                <a:ea typeface="Arial"/>
                <a:cs typeface="Arial"/>
              </a:defRPr>
            </a:pPr>
            <a:r>
              <a:rPr sz="1875" b="0" dirty="0">
                <a:solidFill>
                  <a:srgbClr val="143D48"/>
                </a:solidFill>
                <a:latin typeface="Arial"/>
                <a:ea typeface="Arial"/>
                <a:cs typeface="Arial"/>
              </a:rPr>
              <a:t>Selected identities and connections are shared through TOML.</a:t>
            </a:r>
          </a:p>
        </p:txBody>
      </p:sp>
      <p:sp>
        <p:nvSpPr>
          <p:cNvPr id="1004" name="Workshop heading">
            <a:extLst>
              <a:ext uri="{FF2B5EF4-FFF2-40B4-BE49-F238E27FC236}">
                <a16:creationId xmlns:a16="http://schemas.microsoft.com/office/drawing/2014/main" id="{5E27EC8C-998B-4A9D-BBBE-8B557082C835}"/>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Tools and the files they produce</a:t>
            </a:r>
          </a:p>
        </p:txBody>
      </p:sp>
      <p:sp>
        <p:nvSpPr>
          <p:cNvPr id="1005" name="Slide number">
            <a:extLst>
              <a:ext uri="{FF2B5EF4-FFF2-40B4-BE49-F238E27FC236}">
                <a16:creationId xmlns:a16="http://schemas.microsoft.com/office/drawing/2014/main" id="{79D6CB31-FC75-4D65-A581-94FF1C788B0B}"/>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17</a:t>
            </a:r>
          </a:p>
        </p:txBody>
      </p:sp>
      <p:pic>
        <p:nvPicPr>
          <p:cNvPr id="2005" name="Picture 2004">
            <a:extLst>
              <a:ext uri="{FF2B5EF4-FFF2-40B4-BE49-F238E27FC236}">
                <a16:creationId xmlns:a16="http://schemas.microsoft.com/office/drawing/2014/main" id="{7334402A-F3BC-453E-87DF-DCAD0D88876A}"/>
              </a:ext>
            </a:extLst>
          </p:cNvPr>
          <p:cNvPicPr>
            <a:picLocks noChangeAspect="1"/>
          </p:cNvPicPr>
          <p:nvPr/>
        </p:nvPicPr>
        <p:blipFill>
          <a:blip r:embed="rId3"/>
          <a:stretch/>
        </p:blipFill>
        <p:spPr>
          <a:xfrm>
            <a:off x="4226292" y="6401829"/>
            <a:ext cx="2035183" cy="456162"/>
          </a:xfrm>
          <a:prstGeom prst="rect">
            <a:avLst/>
          </a:prstGeom>
        </p:spPr>
      </p:pic>
      <p:pic>
        <p:nvPicPr>
          <p:cNvPr id="4" name="Picture 3">
            <a:extLst>
              <a:ext uri="{FF2B5EF4-FFF2-40B4-BE49-F238E27FC236}">
                <a16:creationId xmlns:a16="http://schemas.microsoft.com/office/drawing/2014/main" id="{55A8C696-E7D4-43BE-80A9-8D9A80A6D241}"/>
              </a:ext>
            </a:extLst>
          </p:cNvPr>
          <p:cNvPicPr>
            <a:picLocks noChangeAspect="1"/>
          </p:cNvPicPr>
          <p:nvPr/>
        </p:nvPicPr>
        <p:blipFill>
          <a:blip r:embed="rId4"/>
          <a:stretch/>
        </p:blipFill>
        <p:spPr>
          <a:xfrm>
            <a:off x="284921" y="6340481"/>
            <a:ext cx="1994449" cy="483503"/>
          </a:xfrm>
          <a:prstGeom prst="rect">
            <a:avLst/>
          </a:prstGeom>
        </p:spPr>
      </p:pic>
      <p:pic>
        <p:nvPicPr>
          <p:cNvPr id="5" name="Picture 4">
            <a:extLst>
              <a:ext uri="{FF2B5EF4-FFF2-40B4-BE49-F238E27FC236}">
                <a16:creationId xmlns:a16="http://schemas.microsoft.com/office/drawing/2014/main" id="{9CEE4E9C-FA0E-496B-83BC-1FD34A0D4BA0}"/>
              </a:ext>
            </a:extLst>
          </p:cNvPr>
          <p:cNvPicPr>
            <a:picLocks noChangeAspect="1"/>
          </p:cNvPicPr>
          <p:nvPr/>
        </p:nvPicPr>
        <p:blipFill>
          <a:blip r:embed="rId5"/>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103827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C77172-AAFF-4CB9-B79B-B343E39B2218}"/>
              </a:ext>
            </a:extLst>
          </p:cNvPr>
          <p:cNvSpPr>
            <a:spLocks noGrp="1"/>
          </p:cNvSpPr>
          <p:nvPr/>
        </p:nvSpPr>
        <p:spPr>
          <a:xfrm>
            <a:off x="523875" y="1476375"/>
            <a:ext cx="10810875" cy="447675"/>
          </a:xfrm>
          <a:prstGeom prst="rect">
            <a:avLst/>
          </a:prstGeom>
          <a:noFill/>
          <a:ln w="0">
            <a:noFill/>
          </a:ln>
        </p:spPr>
        <p:txBody>
          <a:bodyPr lIns="0" tIns="0" rIns="0" bIns="0" anchor="t"/>
          <a:lstStyle>
            <a:defPPr>
              <a:defRPr sz="2325" b="1">
                <a:solidFill>
                  <a:srgbClr val="143D48"/>
                </a:solidFill>
                <a:latin typeface="Arial"/>
                <a:ea typeface="Arial"/>
                <a:cs typeface="Arial"/>
              </a:defRPr>
            </a:defPPr>
          </a:lstStyle>
          <a:p>
            <a:pPr>
              <a:defRPr sz="2325" b="1">
                <a:solidFill>
                  <a:srgbClr val="143D48"/>
                </a:solidFill>
                <a:latin typeface="Arial"/>
                <a:ea typeface="Arial"/>
                <a:cs typeface="Arial"/>
              </a:defRPr>
            </a:pPr>
            <a:r>
              <a:rPr sz="2325" b="1">
                <a:solidFill>
                  <a:srgbClr val="143D48"/>
                </a:solidFill>
                <a:latin typeface="Arial"/>
                <a:ea typeface="Arial"/>
                <a:cs typeface="Arial"/>
              </a:rPr>
              <a:t>Match analysis and geometry</a:t>
            </a:r>
          </a:p>
        </p:txBody>
      </p:sp>
      <p:sp>
        <p:nvSpPr>
          <p:cNvPr id="3" name="Rectangle 2">
            <a:extLst>
              <a:ext uri="{FF2B5EF4-FFF2-40B4-BE49-F238E27FC236}">
                <a16:creationId xmlns:a16="http://schemas.microsoft.com/office/drawing/2014/main" id="{257A627E-8858-4FE9-B1B7-189722D772B8}"/>
              </a:ext>
            </a:extLst>
          </p:cNvPr>
          <p:cNvSpPr>
            <a:spLocks noGrp="1"/>
          </p:cNvSpPr>
          <p:nvPr/>
        </p:nvSpPr>
        <p:spPr>
          <a:xfrm>
            <a:off x="523875" y="1971675"/>
            <a:ext cx="10810875" cy="723900"/>
          </a:xfrm>
          <a:prstGeom prst="rect">
            <a:avLst/>
          </a:prstGeom>
          <a:noFill/>
          <a:ln w="0">
            <a:noFill/>
          </a:ln>
        </p:spPr>
        <p:txBody>
          <a:bodyPr lIns="0" tIns="0" rIns="0" bIns="0" anchor="t"/>
          <a:lstStyle>
            <a:defPPr>
              <a:defRPr sz="2175" b="0">
                <a:solidFill>
                  <a:srgbClr val="29434A"/>
                </a:solidFill>
                <a:latin typeface="Arial"/>
                <a:ea typeface="Arial"/>
                <a:cs typeface="Arial"/>
              </a:defRPr>
            </a:defPPr>
          </a:lstStyle>
          <a:p>
            <a:pPr>
              <a:defRPr sz="2175" b="0">
                <a:solidFill>
                  <a:srgbClr val="29434A"/>
                </a:solidFill>
                <a:latin typeface="Arial"/>
                <a:ea typeface="Arial"/>
                <a:cs typeface="Arial"/>
              </a:defRPr>
            </a:pPr>
            <a:r>
              <a:rPr sz="2175" b="0">
                <a:solidFill>
                  <a:srgbClr val="29434A"/>
                </a:solidFill>
                <a:latin typeface="Arial"/>
                <a:ea typeface="Arial"/>
                <a:cs typeface="Arial"/>
              </a:rPr>
              <a:t>Track the dimensions, material regions and revision used for each result.</a:t>
            </a:r>
          </a:p>
        </p:txBody>
      </p:sp>
      <p:sp>
        <p:nvSpPr>
          <p:cNvPr id="4" name="Rectangle 3">
            <a:extLst>
              <a:ext uri="{FF2B5EF4-FFF2-40B4-BE49-F238E27FC236}">
                <a16:creationId xmlns:a16="http://schemas.microsoft.com/office/drawing/2014/main" id="{BD2C8B2F-C86C-4C60-8B1E-4693933DBCD9}"/>
              </a:ext>
            </a:extLst>
          </p:cNvPr>
          <p:cNvSpPr>
            <a:spLocks noGrp="1"/>
          </p:cNvSpPr>
          <p:nvPr/>
        </p:nvSpPr>
        <p:spPr>
          <a:xfrm>
            <a:off x="523875" y="2781300"/>
            <a:ext cx="10810875" cy="447675"/>
          </a:xfrm>
          <a:prstGeom prst="rect">
            <a:avLst/>
          </a:prstGeom>
          <a:noFill/>
          <a:ln w="0">
            <a:noFill/>
          </a:ln>
        </p:spPr>
        <p:txBody>
          <a:bodyPr lIns="0" tIns="0" rIns="0" bIns="0" anchor="t"/>
          <a:lstStyle>
            <a:defPPr>
              <a:defRPr sz="2325" b="1">
                <a:solidFill>
                  <a:srgbClr val="143D48"/>
                </a:solidFill>
                <a:latin typeface="Arial"/>
                <a:ea typeface="Arial"/>
                <a:cs typeface="Arial"/>
              </a:defRPr>
            </a:defPPr>
          </a:lstStyle>
          <a:p>
            <a:pPr>
              <a:defRPr sz="2325" b="1">
                <a:solidFill>
                  <a:srgbClr val="143D48"/>
                </a:solidFill>
                <a:latin typeface="Arial"/>
                <a:ea typeface="Arial"/>
                <a:cs typeface="Arial"/>
              </a:defRPr>
            </a:pPr>
            <a:r>
              <a:rPr sz="2325" b="1">
                <a:solidFill>
                  <a:srgbClr val="143D48"/>
                </a:solidFill>
                <a:latin typeface="Arial"/>
                <a:ea typeface="Arial"/>
                <a:cs typeface="Arial"/>
              </a:rPr>
              <a:t>Resolve equipment interfaces</a:t>
            </a:r>
          </a:p>
        </p:txBody>
      </p:sp>
      <p:sp>
        <p:nvSpPr>
          <p:cNvPr id="5" name="Rectangle 4">
            <a:extLst>
              <a:ext uri="{FF2B5EF4-FFF2-40B4-BE49-F238E27FC236}">
                <a16:creationId xmlns:a16="http://schemas.microsoft.com/office/drawing/2014/main" id="{2C05933B-3913-4699-BD07-4CFF656278B2}"/>
              </a:ext>
            </a:extLst>
          </p:cNvPr>
          <p:cNvSpPr>
            <a:spLocks noGrp="1"/>
          </p:cNvSpPr>
          <p:nvPr/>
        </p:nvSpPr>
        <p:spPr>
          <a:xfrm>
            <a:off x="523875" y="3276600"/>
            <a:ext cx="10810875" cy="723900"/>
          </a:xfrm>
          <a:prstGeom prst="rect">
            <a:avLst/>
          </a:prstGeom>
          <a:noFill/>
          <a:ln w="0">
            <a:noFill/>
          </a:ln>
        </p:spPr>
        <p:txBody>
          <a:bodyPr lIns="0" tIns="0" rIns="0" bIns="0" anchor="t"/>
          <a:lstStyle>
            <a:defPPr>
              <a:defRPr sz="2175" b="0">
                <a:solidFill>
                  <a:srgbClr val="29434A"/>
                </a:solidFill>
                <a:latin typeface="Arial"/>
                <a:ea typeface="Arial"/>
                <a:cs typeface="Arial"/>
              </a:defRPr>
            </a:defPPr>
          </a:lstStyle>
          <a:p>
            <a:pPr>
              <a:defRPr sz="2175" b="0">
                <a:solidFill>
                  <a:srgbClr val="29434A"/>
                </a:solidFill>
                <a:latin typeface="Arial"/>
                <a:ea typeface="Arial"/>
                <a:cs typeface="Arial"/>
              </a:defRPr>
            </a:pPr>
            <a:r>
              <a:rPr sz="2175" b="0">
                <a:solidFill>
                  <a:srgbClr val="29434A"/>
                </a:solidFill>
                <a:latin typeface="Arial"/>
                <a:ea typeface="Arial"/>
                <a:cs typeface="Arial"/>
              </a:rPr>
              <a:t>Steam-generator details, heat removal, services and remote handling.</a:t>
            </a:r>
          </a:p>
        </p:txBody>
      </p:sp>
      <p:sp>
        <p:nvSpPr>
          <p:cNvPr id="6" name="Rectangle 5">
            <a:extLst>
              <a:ext uri="{FF2B5EF4-FFF2-40B4-BE49-F238E27FC236}">
                <a16:creationId xmlns:a16="http://schemas.microsoft.com/office/drawing/2014/main" id="{83B9CD54-7CE7-4432-9D69-74031448FB62}"/>
              </a:ext>
            </a:extLst>
          </p:cNvPr>
          <p:cNvSpPr>
            <a:spLocks noGrp="1"/>
          </p:cNvSpPr>
          <p:nvPr/>
        </p:nvSpPr>
        <p:spPr>
          <a:xfrm>
            <a:off x="523875" y="4086225"/>
            <a:ext cx="10810875" cy="447675"/>
          </a:xfrm>
          <a:prstGeom prst="rect">
            <a:avLst/>
          </a:prstGeom>
          <a:noFill/>
          <a:ln w="0">
            <a:noFill/>
          </a:ln>
        </p:spPr>
        <p:txBody>
          <a:bodyPr lIns="0" tIns="0" rIns="0" bIns="0" anchor="t"/>
          <a:lstStyle>
            <a:defPPr>
              <a:defRPr sz="2325" b="1">
                <a:solidFill>
                  <a:srgbClr val="143D48"/>
                </a:solidFill>
                <a:latin typeface="Arial"/>
                <a:ea typeface="Arial"/>
                <a:cs typeface="Arial"/>
              </a:defRPr>
            </a:defPPr>
          </a:lstStyle>
          <a:p>
            <a:pPr>
              <a:defRPr sz="2325" b="1">
                <a:solidFill>
                  <a:srgbClr val="143D48"/>
                </a:solidFill>
                <a:latin typeface="Arial"/>
                <a:ea typeface="Arial"/>
                <a:cs typeface="Arial"/>
              </a:defRPr>
            </a:pPr>
            <a:r>
              <a:rPr sz="2325" b="1">
                <a:solidFill>
                  <a:srgbClr val="143D48"/>
                </a:solidFill>
                <a:latin typeface="Arial"/>
                <a:ea typeface="Arial"/>
                <a:cs typeface="Arial"/>
              </a:rPr>
              <a:t>Review and contribute</a:t>
            </a:r>
          </a:p>
        </p:txBody>
      </p:sp>
      <p:sp>
        <p:nvSpPr>
          <p:cNvPr id="7" name="Rectangle 6">
            <a:extLst>
              <a:ext uri="{FF2B5EF4-FFF2-40B4-BE49-F238E27FC236}">
                <a16:creationId xmlns:a16="http://schemas.microsoft.com/office/drawing/2014/main" id="{019BA1C6-3E8D-4997-BD96-7638C604601A}"/>
              </a:ext>
            </a:extLst>
          </p:cNvPr>
          <p:cNvSpPr>
            <a:spLocks noGrp="1"/>
          </p:cNvSpPr>
          <p:nvPr/>
        </p:nvSpPr>
        <p:spPr>
          <a:xfrm>
            <a:off x="523875" y="4581525"/>
            <a:ext cx="10810875" cy="723900"/>
          </a:xfrm>
          <a:prstGeom prst="rect">
            <a:avLst/>
          </a:prstGeom>
          <a:noFill/>
          <a:ln w="0">
            <a:noFill/>
          </a:ln>
        </p:spPr>
        <p:txBody>
          <a:bodyPr lIns="0" tIns="0" rIns="0" bIns="0" anchor="t"/>
          <a:lstStyle>
            <a:defPPr>
              <a:defRPr sz="2175" b="0">
                <a:solidFill>
                  <a:srgbClr val="29434A"/>
                </a:solidFill>
                <a:latin typeface="Arial"/>
                <a:ea typeface="Arial"/>
                <a:cs typeface="Arial"/>
              </a:defRPr>
            </a:defPPr>
          </a:lstStyle>
          <a:p>
            <a:pPr>
              <a:defRPr sz="2175" b="0">
                <a:solidFill>
                  <a:srgbClr val="29434A"/>
                </a:solidFill>
                <a:latin typeface="Arial"/>
                <a:ea typeface="Arial"/>
                <a:cs typeface="Arial"/>
              </a:defRPr>
            </a:pPr>
            <a:r>
              <a:rPr sz="2175" b="0">
                <a:solidFill>
                  <a:srgbClr val="29434A"/>
                </a:solidFill>
                <a:latin typeface="Arial"/>
                <a:ea typeface="Arial"/>
                <a:cs typeface="Arial"/>
              </a:rPr>
              <a:t>Use the public repositories to share issues and proposed changes.</a:t>
            </a:r>
          </a:p>
        </p:txBody>
      </p:sp>
      <p:sp>
        <p:nvSpPr>
          <p:cNvPr id="8" name="Rectangle 7">
            <a:extLst>
              <a:ext uri="{FF2B5EF4-FFF2-40B4-BE49-F238E27FC236}">
                <a16:creationId xmlns:a16="http://schemas.microsoft.com/office/drawing/2014/main" id="{BD902204-DD3A-4C38-B39D-82324583E9DB}"/>
              </a:ext>
            </a:extLst>
          </p:cNvPr>
          <p:cNvSpPr>
            <a:spLocks noGrp="1"/>
          </p:cNvSpPr>
          <p:nvPr/>
        </p:nvSpPr>
        <p:spPr>
          <a:xfrm>
            <a:off x="523875" y="5838825"/>
            <a:ext cx="11144250" cy="428625"/>
          </a:xfrm>
          <a:prstGeom prst="rect">
            <a:avLst/>
          </a:prstGeom>
          <a:noFill/>
          <a:ln w="0">
            <a:noFill/>
          </a:ln>
        </p:spPr>
        <p:txBody>
          <a:bodyPr lIns="0" tIns="0" rIns="0" bIns="0" anchor="t"/>
          <a:lstStyle>
            <a:defPPr>
              <a:defRPr sz="1500" b="0">
                <a:solidFill>
                  <a:srgbClr val="586B72"/>
                </a:solidFill>
                <a:latin typeface="Arial"/>
                <a:ea typeface="Arial"/>
                <a:cs typeface="Arial"/>
              </a:defRPr>
            </a:defPPr>
          </a:lstStyle>
          <a:p>
            <a:pPr>
              <a:defRPr sz="1500" b="0">
                <a:solidFill>
                  <a:srgbClr val="586B72"/>
                </a:solidFill>
                <a:latin typeface="Arial"/>
                <a:ea typeface="Arial"/>
                <a:cs typeface="Arial"/>
              </a:defRPr>
            </a:pPr>
            <a:r>
              <a:rPr sz="1500" b="0">
                <a:solidFill>
                  <a:srgbClr val="586B72"/>
                </a:solidFill>
                <a:latin typeface="Arial"/>
                <a:ea typeface="Arial"/>
                <a:cs typeface="Arial"/>
              </a:rPr>
              <a:t>U of M NERS: neutronics and safety studies     MSU: steam-generator student project</a:t>
            </a:r>
          </a:p>
        </p:txBody>
      </p:sp>
      <p:sp>
        <p:nvSpPr>
          <p:cNvPr id="1009" name="Workshop heading">
            <a:extLst>
              <a:ext uri="{FF2B5EF4-FFF2-40B4-BE49-F238E27FC236}">
                <a16:creationId xmlns:a16="http://schemas.microsoft.com/office/drawing/2014/main" id="{3F0F63FB-3C9E-449C-9352-2CDE6C0CEED7}"/>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There is much to do</a:t>
            </a:r>
          </a:p>
        </p:txBody>
      </p:sp>
      <p:sp>
        <p:nvSpPr>
          <p:cNvPr id="1010" name="Slide number">
            <a:extLst>
              <a:ext uri="{FF2B5EF4-FFF2-40B4-BE49-F238E27FC236}">
                <a16:creationId xmlns:a16="http://schemas.microsoft.com/office/drawing/2014/main" id="{749812D3-5243-4848-8EF9-57561A316C7D}"/>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18</a:t>
            </a:r>
          </a:p>
        </p:txBody>
      </p:sp>
      <p:pic>
        <p:nvPicPr>
          <p:cNvPr id="2010" name="Picture 2009">
            <a:extLst>
              <a:ext uri="{FF2B5EF4-FFF2-40B4-BE49-F238E27FC236}">
                <a16:creationId xmlns:a16="http://schemas.microsoft.com/office/drawing/2014/main" id="{614241BA-C8E6-4356-80C9-A30C561FE459}"/>
              </a:ext>
            </a:extLst>
          </p:cNvPr>
          <p:cNvPicPr>
            <a:picLocks noChangeAspect="1"/>
          </p:cNvPicPr>
          <p:nvPr/>
        </p:nvPicPr>
        <p:blipFill>
          <a:blip r:embed="rId3"/>
          <a:stretch/>
        </p:blipFill>
        <p:spPr>
          <a:xfrm>
            <a:off x="4226292" y="6401829"/>
            <a:ext cx="2035183" cy="456162"/>
          </a:xfrm>
          <a:prstGeom prst="rect">
            <a:avLst/>
          </a:prstGeom>
        </p:spPr>
      </p:pic>
      <p:pic>
        <p:nvPicPr>
          <p:cNvPr id="2011" name="Picture 2010">
            <a:extLst>
              <a:ext uri="{FF2B5EF4-FFF2-40B4-BE49-F238E27FC236}">
                <a16:creationId xmlns:a16="http://schemas.microsoft.com/office/drawing/2014/main" id="{9B68CD29-8D95-48A6-910C-463BBB61BE75}"/>
              </a:ext>
            </a:extLst>
          </p:cNvPr>
          <p:cNvPicPr>
            <a:picLocks noChangeAspect="1"/>
          </p:cNvPicPr>
          <p:nvPr/>
        </p:nvPicPr>
        <p:blipFill>
          <a:blip r:embed="rId4"/>
          <a:stretch/>
        </p:blipFill>
        <p:spPr>
          <a:xfrm>
            <a:off x="284921" y="6340481"/>
            <a:ext cx="1994449" cy="483503"/>
          </a:xfrm>
          <a:prstGeom prst="rect">
            <a:avLst/>
          </a:prstGeom>
        </p:spPr>
      </p:pic>
      <p:pic>
        <p:nvPicPr>
          <p:cNvPr id="2012" name="Picture 2011">
            <a:extLst>
              <a:ext uri="{FF2B5EF4-FFF2-40B4-BE49-F238E27FC236}">
                <a16:creationId xmlns:a16="http://schemas.microsoft.com/office/drawing/2014/main" id="{101BDFE3-E55C-4DBB-8C22-75BB83277E3D}"/>
              </a:ext>
            </a:extLst>
          </p:cNvPr>
          <p:cNvPicPr>
            <a:picLocks noChangeAspect="1"/>
          </p:cNvPicPr>
          <p:nvPr/>
        </p:nvPicPr>
        <p:blipFill>
          <a:blip r:embed="rId5"/>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2048328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E40597-016F-4953-BE49-657A83254CEF}"/>
              </a:ext>
            </a:extLst>
          </p:cNvPr>
          <p:cNvSpPr>
            <a:spLocks noGrp="1"/>
          </p:cNvSpPr>
          <p:nvPr/>
        </p:nvSpPr>
        <p:spPr>
          <a:xfrm>
            <a:off x="619125" y="1400175"/>
            <a:ext cx="5143500" cy="485775"/>
          </a:xfrm>
          <a:prstGeom prst="rect">
            <a:avLst/>
          </a:prstGeom>
          <a:noFill/>
          <a:ln w="0">
            <a:noFill/>
          </a:ln>
        </p:spPr>
        <p:txBody>
          <a:bodyPr lIns="0" tIns="0" rIns="0" bIns="0" anchor="t"/>
          <a:lstStyle>
            <a:defPPr>
              <a:defRPr sz="2775" b="1">
                <a:solidFill>
                  <a:srgbClr val="143D48"/>
                </a:solidFill>
                <a:latin typeface="Arial"/>
                <a:ea typeface="Arial"/>
                <a:cs typeface="Arial"/>
              </a:defRPr>
            </a:defPPr>
          </a:lstStyle>
          <a:p>
            <a:pPr>
              <a:defRPr sz="2775" b="1">
                <a:solidFill>
                  <a:srgbClr val="143D48"/>
                </a:solidFill>
                <a:latin typeface="Arial"/>
                <a:ea typeface="Arial"/>
                <a:cs typeface="Arial"/>
              </a:defRPr>
            </a:pPr>
            <a:r>
              <a:rPr sz="2775" b="1">
                <a:solidFill>
                  <a:srgbClr val="143D48"/>
                </a:solidFill>
                <a:latin typeface="Arial"/>
                <a:ea typeface="Arial"/>
                <a:cs typeface="Arial"/>
              </a:rPr>
              <a:t>fastSalt</a:t>
            </a:r>
          </a:p>
        </p:txBody>
      </p:sp>
      <p:pic>
        <p:nvPicPr>
          <p:cNvPr id="3" name="Picture 2">
            <a:extLst>
              <a:ext uri="{FF2B5EF4-FFF2-40B4-BE49-F238E27FC236}">
                <a16:creationId xmlns:a16="http://schemas.microsoft.com/office/drawing/2014/main" id="{1D83AB2F-D99F-41ED-8116-4382547F6A4E}"/>
              </a:ext>
            </a:extLst>
          </p:cNvPr>
          <p:cNvPicPr>
            <a:picLocks noChangeAspect="1"/>
          </p:cNvPicPr>
          <p:nvPr/>
        </p:nvPicPr>
        <p:blipFill>
          <a:blip r:embed="rId3"/>
          <a:stretch/>
        </p:blipFill>
        <p:spPr>
          <a:xfrm>
            <a:off x="1476375" y="2047875"/>
            <a:ext cx="3143250" cy="3143250"/>
          </a:xfrm>
          <a:prstGeom prst="rect">
            <a:avLst/>
          </a:prstGeom>
        </p:spPr>
      </p:pic>
      <p:sp>
        <p:nvSpPr>
          <p:cNvPr id="4" name="Rectangle 3">
            <a:extLst>
              <a:ext uri="{FF2B5EF4-FFF2-40B4-BE49-F238E27FC236}">
                <a16:creationId xmlns:a16="http://schemas.microsoft.com/office/drawing/2014/main" id="{ED321E54-9B3B-4DC2-9E41-AFDE3F43CC72}"/>
              </a:ext>
            </a:extLst>
          </p:cNvPr>
          <p:cNvSpPr>
            <a:spLocks noGrp="1"/>
          </p:cNvSpPr>
          <p:nvPr/>
        </p:nvSpPr>
        <p:spPr>
          <a:xfrm>
            <a:off x="619125" y="5362575"/>
            <a:ext cx="5143500" cy="428625"/>
          </a:xfrm>
          <a:prstGeom prst="rect">
            <a:avLst/>
          </a:prstGeom>
          <a:noFill/>
          <a:ln w="0">
            <a:noFill/>
          </a:ln>
        </p:spPr>
        <p:txBody>
          <a:bodyPr lIns="0" tIns="0" rIns="0" bIns="0" anchor="t"/>
          <a:lstStyle>
            <a:defPPr>
              <a:defRPr sz="1800" b="0">
                <a:solidFill>
                  <a:srgbClr val="29434A"/>
                </a:solidFill>
                <a:latin typeface="Arial"/>
                <a:ea typeface="Arial"/>
                <a:cs typeface="Arial"/>
              </a:defRPr>
            </a:defPPr>
          </a:lstStyle>
          <a:p>
            <a:pPr>
              <a:defRPr sz="1800" b="0">
                <a:solidFill>
                  <a:srgbClr val="29434A"/>
                </a:solidFill>
                <a:latin typeface="Arial"/>
                <a:ea typeface="Arial"/>
                <a:cs typeface="Arial"/>
              </a:defRPr>
            </a:pPr>
            <a:r>
              <a:rPr sz="1800" b="0">
                <a:solidFill>
                  <a:srgbClr val="29434A"/>
                </a:solidFill>
                <a:latin typeface="Arial"/>
                <a:ea typeface="Arial"/>
                <a:cs typeface="Arial"/>
              </a:rPr>
              <a:t>Design records, calculations and studies</a:t>
            </a:r>
          </a:p>
        </p:txBody>
      </p:sp>
      <p:sp>
        <p:nvSpPr>
          <p:cNvPr id="5" name="Rectangle 4">
            <a:extLst>
              <a:ext uri="{FF2B5EF4-FFF2-40B4-BE49-F238E27FC236}">
                <a16:creationId xmlns:a16="http://schemas.microsoft.com/office/drawing/2014/main" id="{758679E7-DD60-43B0-A0E6-85B00ECBC738}"/>
              </a:ext>
            </a:extLst>
          </p:cNvPr>
          <p:cNvSpPr>
            <a:spLocks noGrp="1"/>
          </p:cNvSpPr>
          <p:nvPr/>
        </p:nvSpPr>
        <p:spPr>
          <a:xfrm>
            <a:off x="619125" y="5857875"/>
            <a:ext cx="5143500" cy="304800"/>
          </a:xfrm>
          <a:prstGeom prst="rect">
            <a:avLst/>
          </a:prstGeom>
          <a:noFill/>
          <a:ln w="0">
            <a:noFill/>
          </a:ln>
        </p:spPr>
        <p:txBody>
          <a:bodyPr lIns="0" tIns="0" rIns="0" bIns="0" anchor="t"/>
          <a:lstStyle>
            <a:defPPr>
              <a:defRPr sz="1575" b="0">
                <a:solidFill>
                  <a:srgbClr val="143D48"/>
                </a:solidFill>
                <a:latin typeface="Arial"/>
                <a:ea typeface="Arial"/>
                <a:cs typeface="Arial"/>
              </a:defRPr>
            </a:defPPr>
          </a:lstStyle>
          <a:p>
            <a:pPr>
              <a:defRPr sz="1575" b="0">
                <a:solidFill>
                  <a:srgbClr val="143D48"/>
                </a:solidFill>
                <a:latin typeface="Arial"/>
                <a:ea typeface="Arial"/>
                <a:cs typeface="Arial"/>
              </a:defRPr>
            </a:pPr>
            <a:r>
              <a:rPr sz="1575" b="0">
                <a:solidFill>
                  <a:srgbClr val="143D48"/>
                </a:solidFill>
                <a:latin typeface="Arial"/>
                <a:ea typeface="Arial"/>
                <a:cs typeface="Arial"/>
              </a:rPr>
              <a:t>github.com/FastSaltSystem/fastSalt</a:t>
            </a:r>
          </a:p>
        </p:txBody>
      </p:sp>
      <p:sp>
        <p:nvSpPr>
          <p:cNvPr id="6" name="Rectangle 5">
            <a:extLst>
              <a:ext uri="{FF2B5EF4-FFF2-40B4-BE49-F238E27FC236}">
                <a16:creationId xmlns:a16="http://schemas.microsoft.com/office/drawing/2014/main" id="{EBFD8A64-87BA-42E3-9EC3-21BCB0AF6B97}"/>
              </a:ext>
            </a:extLst>
          </p:cNvPr>
          <p:cNvSpPr>
            <a:spLocks noGrp="1"/>
          </p:cNvSpPr>
          <p:nvPr/>
        </p:nvSpPr>
        <p:spPr>
          <a:xfrm>
            <a:off x="6572250" y="1400175"/>
            <a:ext cx="5143500" cy="485775"/>
          </a:xfrm>
          <a:prstGeom prst="rect">
            <a:avLst/>
          </a:prstGeom>
          <a:noFill/>
          <a:ln w="0">
            <a:noFill/>
          </a:ln>
        </p:spPr>
        <p:txBody>
          <a:bodyPr lIns="0" tIns="0" rIns="0" bIns="0" anchor="t"/>
          <a:lstStyle>
            <a:defPPr>
              <a:defRPr sz="2775" b="1">
                <a:solidFill>
                  <a:srgbClr val="143D48"/>
                </a:solidFill>
                <a:latin typeface="Arial"/>
                <a:ea typeface="Arial"/>
                <a:cs typeface="Arial"/>
              </a:defRPr>
            </a:defPPr>
          </a:lstStyle>
          <a:p>
            <a:pPr>
              <a:defRPr sz="2775" b="1">
                <a:solidFill>
                  <a:srgbClr val="143D48"/>
                </a:solidFill>
                <a:latin typeface="Arial"/>
                <a:ea typeface="Arial"/>
                <a:cs typeface="Arial"/>
              </a:defRPr>
            </a:pPr>
            <a:r>
              <a:rPr sz="2775" b="1">
                <a:solidFill>
                  <a:srgbClr val="143D48"/>
                </a:solidFill>
                <a:latin typeface="Arial"/>
                <a:ea typeface="Arial"/>
                <a:cs typeface="Arial"/>
              </a:rPr>
              <a:t>fastSaltModels</a:t>
            </a:r>
          </a:p>
        </p:txBody>
      </p:sp>
      <p:pic>
        <p:nvPicPr>
          <p:cNvPr id="7" name="Picture 6">
            <a:extLst>
              <a:ext uri="{FF2B5EF4-FFF2-40B4-BE49-F238E27FC236}">
                <a16:creationId xmlns:a16="http://schemas.microsoft.com/office/drawing/2014/main" id="{FCB9710C-936C-4ADA-8CE1-FA81BD3643AA}"/>
              </a:ext>
            </a:extLst>
          </p:cNvPr>
          <p:cNvPicPr>
            <a:picLocks noChangeAspect="1"/>
          </p:cNvPicPr>
          <p:nvPr/>
        </p:nvPicPr>
        <p:blipFill>
          <a:blip r:embed="rId4"/>
          <a:stretch/>
        </p:blipFill>
        <p:spPr>
          <a:xfrm>
            <a:off x="7429500" y="2047875"/>
            <a:ext cx="3143250" cy="3143250"/>
          </a:xfrm>
          <a:prstGeom prst="rect">
            <a:avLst/>
          </a:prstGeom>
        </p:spPr>
      </p:pic>
      <p:sp>
        <p:nvSpPr>
          <p:cNvPr id="8" name="Rectangle 7">
            <a:extLst>
              <a:ext uri="{FF2B5EF4-FFF2-40B4-BE49-F238E27FC236}">
                <a16:creationId xmlns:a16="http://schemas.microsoft.com/office/drawing/2014/main" id="{F4A30915-3AF9-4B69-9724-773485A8A394}"/>
              </a:ext>
            </a:extLst>
          </p:cNvPr>
          <p:cNvSpPr>
            <a:spLocks noGrp="1"/>
          </p:cNvSpPr>
          <p:nvPr/>
        </p:nvSpPr>
        <p:spPr>
          <a:xfrm>
            <a:off x="6572250" y="5362575"/>
            <a:ext cx="5143500" cy="428625"/>
          </a:xfrm>
          <a:prstGeom prst="rect">
            <a:avLst/>
          </a:prstGeom>
          <a:noFill/>
          <a:ln w="0">
            <a:noFill/>
          </a:ln>
        </p:spPr>
        <p:txBody>
          <a:bodyPr lIns="0" tIns="0" rIns="0" bIns="0" anchor="t"/>
          <a:lstStyle>
            <a:defPPr>
              <a:defRPr sz="1800" b="0">
                <a:solidFill>
                  <a:srgbClr val="29434A"/>
                </a:solidFill>
                <a:latin typeface="Arial"/>
                <a:ea typeface="Arial"/>
                <a:cs typeface="Arial"/>
              </a:defRPr>
            </a:defPPr>
          </a:lstStyle>
          <a:p>
            <a:pPr>
              <a:defRPr sz="1800" b="0">
                <a:solidFill>
                  <a:srgbClr val="29434A"/>
                </a:solidFill>
                <a:latin typeface="Arial"/>
                <a:ea typeface="Arial"/>
                <a:cs typeface="Arial"/>
              </a:defRPr>
            </a:pPr>
            <a:r>
              <a:rPr sz="1800" b="0">
                <a:solidFill>
                  <a:srgbClr val="29434A"/>
                </a:solidFill>
                <a:latin typeface="Arial"/>
                <a:ea typeface="Arial"/>
                <a:cs typeface="Arial"/>
              </a:rPr>
              <a:t>Python, Blender and model results</a:t>
            </a:r>
          </a:p>
        </p:txBody>
      </p:sp>
      <p:sp>
        <p:nvSpPr>
          <p:cNvPr id="9" name="Rectangle 8">
            <a:extLst>
              <a:ext uri="{FF2B5EF4-FFF2-40B4-BE49-F238E27FC236}">
                <a16:creationId xmlns:a16="http://schemas.microsoft.com/office/drawing/2014/main" id="{3DD1FADB-4D5E-4ED7-8643-BAC4DEB1523A}"/>
              </a:ext>
            </a:extLst>
          </p:cNvPr>
          <p:cNvSpPr>
            <a:spLocks noGrp="1"/>
          </p:cNvSpPr>
          <p:nvPr/>
        </p:nvSpPr>
        <p:spPr>
          <a:xfrm>
            <a:off x="6572250" y="5857875"/>
            <a:ext cx="5143500" cy="304800"/>
          </a:xfrm>
          <a:prstGeom prst="rect">
            <a:avLst/>
          </a:prstGeom>
          <a:noFill/>
          <a:ln w="0">
            <a:noFill/>
          </a:ln>
        </p:spPr>
        <p:txBody>
          <a:bodyPr lIns="0" tIns="0" rIns="0" bIns="0" anchor="t"/>
          <a:lstStyle>
            <a:defPPr>
              <a:defRPr sz="1575" b="0">
                <a:solidFill>
                  <a:srgbClr val="143D48"/>
                </a:solidFill>
                <a:latin typeface="Arial"/>
                <a:ea typeface="Arial"/>
                <a:cs typeface="Arial"/>
              </a:defRPr>
            </a:defPPr>
          </a:lstStyle>
          <a:p>
            <a:pPr>
              <a:defRPr sz="1575" b="0">
                <a:solidFill>
                  <a:srgbClr val="143D48"/>
                </a:solidFill>
                <a:latin typeface="Arial"/>
                <a:ea typeface="Arial"/>
                <a:cs typeface="Arial"/>
              </a:defRPr>
            </a:pPr>
            <a:r>
              <a:rPr sz="1575" b="0">
                <a:solidFill>
                  <a:srgbClr val="143D48"/>
                </a:solidFill>
                <a:latin typeface="Arial"/>
                <a:ea typeface="Arial"/>
                <a:cs typeface="Arial"/>
              </a:rPr>
              <a:t>github.com/FastSaltSystem/fastSaltModels</a:t>
            </a:r>
          </a:p>
        </p:txBody>
      </p:sp>
      <p:sp>
        <p:nvSpPr>
          <p:cNvPr id="1010" name="Workshop heading">
            <a:extLst>
              <a:ext uri="{FF2B5EF4-FFF2-40B4-BE49-F238E27FC236}">
                <a16:creationId xmlns:a16="http://schemas.microsoft.com/office/drawing/2014/main" id="{FDC3469A-B8C1-42B1-977D-732C0F978742}"/>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Explore the project</a:t>
            </a:r>
          </a:p>
        </p:txBody>
      </p:sp>
      <p:sp>
        <p:nvSpPr>
          <p:cNvPr id="1011" name="Slide number">
            <a:extLst>
              <a:ext uri="{FF2B5EF4-FFF2-40B4-BE49-F238E27FC236}">
                <a16:creationId xmlns:a16="http://schemas.microsoft.com/office/drawing/2014/main" id="{3D460018-7FFE-4E4F-B7FE-DCA1F8D38963}"/>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19</a:t>
            </a:r>
          </a:p>
        </p:txBody>
      </p:sp>
      <p:pic>
        <p:nvPicPr>
          <p:cNvPr id="2011" name="Picture 2010">
            <a:extLst>
              <a:ext uri="{FF2B5EF4-FFF2-40B4-BE49-F238E27FC236}">
                <a16:creationId xmlns:a16="http://schemas.microsoft.com/office/drawing/2014/main" id="{EEA8672B-FCCD-49F1-B00B-B70D6D9996AB}"/>
              </a:ext>
            </a:extLst>
          </p:cNvPr>
          <p:cNvPicPr>
            <a:picLocks noChangeAspect="1"/>
          </p:cNvPicPr>
          <p:nvPr/>
        </p:nvPicPr>
        <p:blipFill>
          <a:blip r:embed="rId5"/>
          <a:stretch/>
        </p:blipFill>
        <p:spPr>
          <a:xfrm>
            <a:off x="4226292" y="6401829"/>
            <a:ext cx="2035183" cy="456162"/>
          </a:xfrm>
          <a:prstGeom prst="rect">
            <a:avLst/>
          </a:prstGeom>
        </p:spPr>
      </p:pic>
      <p:pic>
        <p:nvPicPr>
          <p:cNvPr id="2012" name="Picture 2011">
            <a:extLst>
              <a:ext uri="{FF2B5EF4-FFF2-40B4-BE49-F238E27FC236}">
                <a16:creationId xmlns:a16="http://schemas.microsoft.com/office/drawing/2014/main" id="{62B30072-A476-4AD8-9D3C-70BAA47CD50E}"/>
              </a:ext>
            </a:extLst>
          </p:cNvPr>
          <p:cNvPicPr>
            <a:picLocks noChangeAspect="1"/>
          </p:cNvPicPr>
          <p:nvPr/>
        </p:nvPicPr>
        <p:blipFill>
          <a:blip r:embed="rId6"/>
          <a:stretch/>
        </p:blipFill>
        <p:spPr>
          <a:xfrm>
            <a:off x="284921" y="6340481"/>
            <a:ext cx="1994449" cy="483503"/>
          </a:xfrm>
          <a:prstGeom prst="rect">
            <a:avLst/>
          </a:prstGeom>
        </p:spPr>
      </p:pic>
      <p:pic>
        <p:nvPicPr>
          <p:cNvPr id="2013" name="Picture 2012">
            <a:extLst>
              <a:ext uri="{FF2B5EF4-FFF2-40B4-BE49-F238E27FC236}">
                <a16:creationId xmlns:a16="http://schemas.microsoft.com/office/drawing/2014/main" id="{87BDE5E0-5CC1-40C8-9AF8-1210F1A88810}"/>
              </a:ext>
            </a:extLst>
          </p:cNvPr>
          <p:cNvPicPr>
            <a:picLocks noChangeAspect="1"/>
          </p:cNvPicPr>
          <p:nvPr/>
        </p:nvPicPr>
        <p:blipFill>
          <a:blip r:embed="rId7"/>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1624696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3C7D89-C568-4EC6-85D5-47F867EF5DE0}"/>
              </a:ext>
            </a:extLst>
          </p:cNvPr>
          <p:cNvPicPr>
            <a:picLocks noChangeAspect="1"/>
          </p:cNvPicPr>
          <p:nvPr/>
        </p:nvPicPr>
        <p:blipFill>
          <a:blip r:embed="rId3"/>
          <a:srcRect t="10000" b="6000"/>
          <a:stretch/>
        </p:blipFill>
        <p:spPr>
          <a:xfrm>
            <a:off x="487740" y="1200150"/>
            <a:ext cx="7635119" cy="4810125"/>
          </a:xfrm>
          <a:prstGeom prst="rect">
            <a:avLst/>
          </a:prstGeom>
        </p:spPr>
      </p:pic>
      <p:sp>
        <p:nvSpPr>
          <p:cNvPr id="3" name="Rectangle 2">
            <a:extLst>
              <a:ext uri="{FF2B5EF4-FFF2-40B4-BE49-F238E27FC236}">
                <a16:creationId xmlns:a16="http://schemas.microsoft.com/office/drawing/2014/main" id="{FF34C7C5-05A5-4ECA-842F-A1816993E7C7}"/>
              </a:ext>
            </a:extLst>
          </p:cNvPr>
          <p:cNvSpPr>
            <a:spLocks noGrp="1"/>
          </p:cNvSpPr>
          <p:nvPr/>
        </p:nvSpPr>
        <p:spPr>
          <a:xfrm>
            <a:off x="8572500" y="1524000"/>
            <a:ext cx="3143250" cy="1238250"/>
          </a:xfrm>
          <a:prstGeom prst="rect">
            <a:avLst/>
          </a:prstGeom>
          <a:noFill/>
          <a:ln w="0">
            <a:noFill/>
          </a:ln>
        </p:spPr>
        <p:txBody>
          <a:bodyPr lIns="0" tIns="0" rIns="0" bIns="0" anchor="t"/>
          <a:lstStyle>
            <a:defPPr>
              <a:defRPr sz="2100" b="1">
                <a:solidFill>
                  <a:srgbClr val="143D48"/>
                </a:solidFill>
                <a:latin typeface="Arial"/>
                <a:ea typeface="Arial"/>
                <a:cs typeface="Arial"/>
              </a:defRPr>
            </a:defPPr>
          </a:lstStyle>
          <a:p>
            <a:pPr>
              <a:defRPr sz="2100" b="1">
                <a:solidFill>
                  <a:srgbClr val="143D48"/>
                </a:solidFill>
                <a:latin typeface="Arial"/>
                <a:ea typeface="Arial"/>
                <a:cs typeface="Arial"/>
              </a:defRPr>
            </a:pPr>
            <a:r>
              <a:rPr sz="2100" b="1">
                <a:solidFill>
                  <a:srgbClr val="143D48"/>
                </a:solidFill>
                <a:latin typeface="Arial"/>
                <a:ea typeface="Arial"/>
                <a:cs typeface="Arial"/>
              </a:rPr>
              <a:t>Absorber modules around the catwalk</a:t>
            </a:r>
          </a:p>
        </p:txBody>
      </p:sp>
      <p:sp>
        <p:nvSpPr>
          <p:cNvPr id="4" name="Rectangle 3">
            <a:extLst>
              <a:ext uri="{FF2B5EF4-FFF2-40B4-BE49-F238E27FC236}">
                <a16:creationId xmlns:a16="http://schemas.microsoft.com/office/drawing/2014/main" id="{652C4E51-B724-4E74-B00F-B24DAC5E82A5}"/>
              </a:ext>
            </a:extLst>
          </p:cNvPr>
          <p:cNvSpPr>
            <a:spLocks noGrp="1"/>
          </p:cNvSpPr>
          <p:nvPr/>
        </p:nvSpPr>
        <p:spPr>
          <a:xfrm>
            <a:off x="8572500" y="2924175"/>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Fuel-service bundles above the caps</a:t>
            </a:r>
          </a:p>
        </p:txBody>
      </p:sp>
      <p:sp>
        <p:nvSpPr>
          <p:cNvPr id="5" name="Rectangle 4">
            <a:extLst>
              <a:ext uri="{FF2B5EF4-FFF2-40B4-BE49-F238E27FC236}">
                <a16:creationId xmlns:a16="http://schemas.microsoft.com/office/drawing/2014/main" id="{352C6AEE-57ED-44B6-B8E9-F719AF1F4153}"/>
              </a:ext>
            </a:extLst>
          </p:cNvPr>
          <p:cNvSpPr>
            <a:spLocks noGrp="1"/>
          </p:cNvSpPr>
          <p:nvPr/>
        </p:nvSpPr>
        <p:spPr>
          <a:xfrm>
            <a:off x="8572500" y="4324350"/>
            <a:ext cx="3143250" cy="1238250"/>
          </a:xfrm>
          <a:prstGeom prst="rect">
            <a:avLst/>
          </a:prstGeom>
          <a:noFill/>
          <a:ln w="0">
            <a:noFill/>
          </a:ln>
        </p:spPr>
        <p:txBody>
          <a:bodyPr lIns="0" tIns="0" rIns="0" bIns="0" anchor="t"/>
          <a:lstStyle>
            <a:defPPr>
              <a:defRPr sz="2100" b="0">
                <a:solidFill>
                  <a:srgbClr val="29434A"/>
                </a:solidFill>
                <a:latin typeface="Arial"/>
                <a:ea typeface="Arial"/>
                <a:cs typeface="Arial"/>
              </a:defRPr>
            </a:defPPr>
          </a:lstStyle>
          <a:p>
            <a:pPr>
              <a:defRPr sz="2100" b="0">
                <a:solidFill>
                  <a:srgbClr val="29434A"/>
                </a:solidFill>
                <a:latin typeface="Arial"/>
                <a:ea typeface="Arial"/>
                <a:cs typeface="Arial"/>
              </a:defRPr>
            </a:pPr>
            <a:r>
              <a:rPr sz="2100" b="0">
                <a:solidFill>
                  <a:srgbClr val="29434A"/>
                </a:solidFill>
                <a:latin typeface="Arial"/>
                <a:ea typeface="Arial"/>
                <a:cs typeface="Arial"/>
              </a:rPr>
              <a:t>Removable plugs at service penetrations</a:t>
            </a:r>
          </a:p>
        </p:txBody>
      </p:sp>
      <p:sp>
        <p:nvSpPr>
          <p:cNvPr id="6" name="Rectangle 5">
            <a:extLst>
              <a:ext uri="{FF2B5EF4-FFF2-40B4-BE49-F238E27FC236}">
                <a16:creationId xmlns:a16="http://schemas.microsoft.com/office/drawing/2014/main" id="{49DCD614-6DBA-4A64-AD03-99424F1C638C}"/>
              </a:ext>
            </a:extLst>
          </p:cNvPr>
          <p:cNvSpPr>
            <a:spLocks noGrp="1"/>
          </p:cNvSpPr>
          <p:nvPr/>
        </p:nvSpPr>
        <p:spPr>
          <a:xfrm>
            <a:off x="457200" y="6115050"/>
            <a:ext cx="10810875" cy="190500"/>
          </a:xfrm>
          <a:prstGeom prst="rect">
            <a:avLst/>
          </a:prstGeom>
          <a:noFill/>
          <a:ln w="0">
            <a:noFill/>
          </a:ln>
        </p:spPr>
        <p:txBody>
          <a:bodyPr lIns="0" tIns="0" rIns="0" bIns="0" anchor="t"/>
          <a:lstStyle>
            <a:defPPr>
              <a:defRPr sz="950" b="0">
                <a:solidFill>
                  <a:srgbClr val="586B72"/>
                </a:solidFill>
                <a:latin typeface="Arial"/>
                <a:ea typeface="Arial"/>
                <a:cs typeface="Arial"/>
              </a:defRPr>
            </a:defPPr>
          </a:lstStyle>
          <a:p>
            <a:pPr>
              <a:defRPr sz="950" b="0">
                <a:solidFill>
                  <a:srgbClr val="586B72"/>
                </a:solidFill>
                <a:latin typeface="Arial"/>
                <a:ea typeface="Arial"/>
                <a:cs typeface="Arial"/>
              </a:defRPr>
            </a:pPr>
            <a:r>
              <a:rPr sz="950" b="0">
                <a:solidFill>
                  <a:srgbClr val="586B72"/>
                </a:solidFill>
                <a:latin typeface="Arial"/>
                <a:ea typeface="Arial"/>
                <a:cs typeface="Arial"/>
              </a:rPr>
              <a:t>Backup. Preserved 12 October routing view, insulation hidden.</a:t>
            </a:r>
          </a:p>
        </p:txBody>
      </p:sp>
      <p:sp>
        <p:nvSpPr>
          <p:cNvPr id="1007" name="Workshop heading">
            <a:extLst>
              <a:ext uri="{FF2B5EF4-FFF2-40B4-BE49-F238E27FC236}">
                <a16:creationId xmlns:a16="http://schemas.microsoft.com/office/drawing/2014/main" id="{876B8D6F-34EC-41CF-A88E-4D690DA47335}"/>
              </a:ext>
            </a:extLst>
          </p:cNvPr>
          <p:cNvSpPr>
            <a:spLocks noGrp="1"/>
          </p:cNvSpPr>
          <p:nvPr/>
        </p:nvSpPr>
        <p:spPr>
          <a:xfrm>
            <a:off x="457200" y="323850"/>
            <a:ext cx="11277600" cy="628650"/>
          </a:xfrm>
          <a:prstGeom prst="rect">
            <a:avLst/>
          </a:prstGeom>
          <a:noFill/>
          <a:ln w="0">
            <a:noFill/>
          </a:ln>
        </p:spPr>
        <p:txBody>
          <a:bodyPr anchor="ctr"/>
          <a:lstStyle>
            <a:defPPr algn="ctr">
              <a:defRPr sz="2600" b="1">
                <a:solidFill>
                  <a:srgbClr val="BE252D"/>
                </a:solidFill>
              </a:defRPr>
            </a:defPPr>
          </a:lstStyle>
          <a:p>
            <a:pPr algn="ctr">
              <a:defRPr sz="2600" b="1">
                <a:solidFill>
                  <a:srgbClr val="BE252D"/>
                </a:solidFill>
              </a:defRPr>
            </a:pPr>
            <a:r>
              <a:rPr sz="2600" b="1">
                <a:solidFill>
                  <a:srgbClr val="BE252D"/>
                </a:solidFill>
              </a:rPr>
              <a:t>Backup: services below the insulation</a:t>
            </a:r>
          </a:p>
        </p:txBody>
      </p:sp>
      <p:sp>
        <p:nvSpPr>
          <p:cNvPr id="1008" name="Slide number">
            <a:extLst>
              <a:ext uri="{FF2B5EF4-FFF2-40B4-BE49-F238E27FC236}">
                <a16:creationId xmlns:a16="http://schemas.microsoft.com/office/drawing/2014/main" id="{B20234DB-306E-4570-BD6B-424736E95633}"/>
              </a:ext>
            </a:extLst>
          </p:cNvPr>
          <p:cNvSpPr>
            <a:spLocks noGrp="1"/>
          </p:cNvSpPr>
          <p:nvPr/>
        </p:nvSpPr>
        <p:spPr>
          <a:xfrm>
            <a:off x="10972800" y="6467475"/>
            <a:ext cx="609600" cy="304800"/>
          </a:xfrm>
          <a:prstGeom prst="rect">
            <a:avLst/>
          </a:prstGeom>
          <a:noFill/>
          <a:ln w="0">
            <a:noFill/>
          </a:ln>
        </p:spPr>
        <p:txBody>
          <a:bodyPr anchor="ctr"/>
          <a:lstStyle>
            <a:defPPr algn="ctr">
              <a:defRPr sz="1050" b="0">
                <a:solidFill>
                  <a:srgbClr val="161616"/>
                </a:solidFill>
              </a:defRPr>
            </a:defPPr>
          </a:lstStyle>
          <a:p>
            <a:pPr algn="ctr">
              <a:defRPr sz="1050" b="0">
                <a:solidFill>
                  <a:srgbClr val="161616"/>
                </a:solidFill>
              </a:defRPr>
            </a:pPr>
            <a:r>
              <a:rPr sz="1050" b="0">
                <a:solidFill>
                  <a:srgbClr val="161616"/>
                </a:solidFill>
              </a:rPr>
              <a:t>21</a:t>
            </a:r>
          </a:p>
        </p:txBody>
      </p:sp>
      <p:pic>
        <p:nvPicPr>
          <p:cNvPr id="2008" name="Picture 2007">
            <a:extLst>
              <a:ext uri="{FF2B5EF4-FFF2-40B4-BE49-F238E27FC236}">
                <a16:creationId xmlns:a16="http://schemas.microsoft.com/office/drawing/2014/main" id="{5C2C2216-4BE5-4EBC-8FB0-027B9454CE99}"/>
              </a:ext>
            </a:extLst>
          </p:cNvPr>
          <p:cNvPicPr>
            <a:picLocks noChangeAspect="1"/>
          </p:cNvPicPr>
          <p:nvPr/>
        </p:nvPicPr>
        <p:blipFill>
          <a:blip r:embed="rId4"/>
          <a:stretch/>
        </p:blipFill>
        <p:spPr>
          <a:xfrm>
            <a:off x="4226292" y="6401829"/>
            <a:ext cx="2035183" cy="456162"/>
          </a:xfrm>
          <a:prstGeom prst="rect">
            <a:avLst/>
          </a:prstGeom>
        </p:spPr>
      </p:pic>
      <p:pic>
        <p:nvPicPr>
          <p:cNvPr id="2009" name="Picture 2008">
            <a:extLst>
              <a:ext uri="{FF2B5EF4-FFF2-40B4-BE49-F238E27FC236}">
                <a16:creationId xmlns:a16="http://schemas.microsoft.com/office/drawing/2014/main" id="{7B4F81C5-655D-4508-AC7A-A3398F11E3C2}"/>
              </a:ext>
            </a:extLst>
          </p:cNvPr>
          <p:cNvPicPr>
            <a:picLocks noChangeAspect="1"/>
          </p:cNvPicPr>
          <p:nvPr/>
        </p:nvPicPr>
        <p:blipFill>
          <a:blip r:embed="rId5"/>
          <a:stretch/>
        </p:blipFill>
        <p:spPr>
          <a:xfrm>
            <a:off x="284921" y="6340481"/>
            <a:ext cx="1994449" cy="483503"/>
          </a:xfrm>
          <a:prstGeom prst="rect">
            <a:avLst/>
          </a:prstGeom>
        </p:spPr>
      </p:pic>
      <p:pic>
        <p:nvPicPr>
          <p:cNvPr id="2010" name="Picture 2009">
            <a:extLst>
              <a:ext uri="{FF2B5EF4-FFF2-40B4-BE49-F238E27FC236}">
                <a16:creationId xmlns:a16="http://schemas.microsoft.com/office/drawing/2014/main" id="{1EEDFDC9-DA21-4312-879B-2E90B778A33D}"/>
              </a:ext>
            </a:extLst>
          </p:cNvPr>
          <p:cNvPicPr>
            <a:picLocks noChangeAspect="1"/>
          </p:cNvPicPr>
          <p:nvPr/>
        </p:nvPicPr>
        <p:blipFill>
          <a:blip r:embed="rId6"/>
          <a:stretch/>
        </p:blipFill>
        <p:spPr>
          <a:xfrm>
            <a:off x="2385393" y="6559554"/>
            <a:ext cx="1092203" cy="215901"/>
          </a:xfrm>
          <a:prstGeom prst="rect">
            <a:avLst/>
          </a:prstGeom>
        </p:spPr>
      </p:pic>
      <p:sp>
        <p:nvSpPr>
          <p:cNvPr id="3102" name="Line 30"/>
          <p:cNvSpPr>
            <a:spLocks noChangeShapeType="1"/>
          </p:cNvSpPr>
          <p:nvPr/>
        </p:nvSpPr>
        <p:spPr bwMode="auto">
          <a:xfrm>
            <a:off x="8467" y="6340475"/>
            <a:ext cx="12183533" cy="0"/>
          </a:xfrm>
          <a:prstGeom prst="line">
            <a:avLst/>
          </a:prstGeom>
          <a:noFill/>
          <a:ln w="25400">
            <a:solidFill>
              <a:srgbClr val="B59E7B"/>
            </a:solidFill>
            <a:round/>
            <a:headEnd/>
            <a:tailEnd/>
          </a:ln>
          <a:effectLst/>
        </p:spPr>
        <p:txBody>
          <a:bodyPr/>
          <a:lstStyle/>
          <a:p>
            <a:pPr>
              <a:defRPr/>
            </a:pPr>
            <a:endParaRPr lang="en-US" sz="2800" dirty="0">
              <a:latin typeface="Arial" pitchFamily="27" charset="0"/>
              <a:ea typeface="MS PGothic" pitchFamily="34" charset="-128"/>
              <a:cs typeface="MS PGothic" pitchFamily="34" charset="-128"/>
            </a:endParaRPr>
          </a:p>
        </p:txBody>
      </p:sp>
    </p:spTree>
    <p:extLst>
      <p:ext uri="{BB962C8B-B14F-4D97-AF65-F5344CB8AC3E}">
        <p14:creationId xmlns:p14="http://schemas.microsoft.com/office/powerpoint/2010/main" val="816509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3C156AA-27CF-D95E-F982-38E369B8DD0E}"/>
              </a:ext>
            </a:extLst>
          </p:cNvPr>
          <p:cNvGraphicFramePr>
            <a:graphicFrameLocks noGrp="1"/>
          </p:cNvGraphicFramePr>
          <p:nvPr>
            <p:ph idx="1"/>
            <p:extLst>
              <p:ext uri="{D42A27DB-BD31-4B8C-83A1-F6EECF244321}">
                <p14:modId xmlns:p14="http://schemas.microsoft.com/office/powerpoint/2010/main" val="2467888751"/>
              </p:ext>
            </p:extLst>
          </p:nvPr>
        </p:nvGraphicFramePr>
        <p:xfrm>
          <a:off x="258620" y="930130"/>
          <a:ext cx="11774884" cy="4053840"/>
        </p:xfrm>
        <a:graphic>
          <a:graphicData uri="http://schemas.openxmlformats.org/drawingml/2006/table">
            <a:tbl>
              <a:tblPr>
                <a:tableStyleId>{5C22544A-7EE6-4342-B048-85BDC9FD1C3A}</a:tableStyleId>
              </a:tblPr>
              <a:tblGrid>
                <a:gridCol w="1451308">
                  <a:extLst>
                    <a:ext uri="{9D8B030D-6E8A-4147-A177-3AD203B41FA5}">
                      <a16:colId xmlns:a16="http://schemas.microsoft.com/office/drawing/2014/main" val="2095509407"/>
                    </a:ext>
                  </a:extLst>
                </a:gridCol>
                <a:gridCol w="1257374">
                  <a:extLst>
                    <a:ext uri="{9D8B030D-6E8A-4147-A177-3AD203B41FA5}">
                      <a16:colId xmlns:a16="http://schemas.microsoft.com/office/drawing/2014/main" val="3375930325"/>
                    </a:ext>
                  </a:extLst>
                </a:gridCol>
                <a:gridCol w="1905448">
                  <a:extLst>
                    <a:ext uri="{9D8B030D-6E8A-4147-A177-3AD203B41FA5}">
                      <a16:colId xmlns:a16="http://schemas.microsoft.com/office/drawing/2014/main" val="1388774248"/>
                    </a:ext>
                  </a:extLst>
                </a:gridCol>
                <a:gridCol w="1284242">
                  <a:extLst>
                    <a:ext uri="{9D8B030D-6E8A-4147-A177-3AD203B41FA5}">
                      <a16:colId xmlns:a16="http://schemas.microsoft.com/office/drawing/2014/main" val="2375478721"/>
                    </a:ext>
                  </a:extLst>
                </a:gridCol>
                <a:gridCol w="1508760">
                  <a:extLst>
                    <a:ext uri="{9D8B030D-6E8A-4147-A177-3AD203B41FA5}">
                      <a16:colId xmlns:a16="http://schemas.microsoft.com/office/drawing/2014/main" val="2069430730"/>
                    </a:ext>
                  </a:extLst>
                </a:gridCol>
                <a:gridCol w="1188720">
                  <a:extLst>
                    <a:ext uri="{9D8B030D-6E8A-4147-A177-3AD203B41FA5}">
                      <a16:colId xmlns:a16="http://schemas.microsoft.com/office/drawing/2014/main" val="3071719490"/>
                    </a:ext>
                  </a:extLst>
                </a:gridCol>
                <a:gridCol w="1700784">
                  <a:extLst>
                    <a:ext uri="{9D8B030D-6E8A-4147-A177-3AD203B41FA5}">
                      <a16:colId xmlns:a16="http://schemas.microsoft.com/office/drawing/2014/main" val="3202158042"/>
                    </a:ext>
                  </a:extLst>
                </a:gridCol>
                <a:gridCol w="1478248">
                  <a:extLst>
                    <a:ext uri="{9D8B030D-6E8A-4147-A177-3AD203B41FA5}">
                      <a16:colId xmlns:a16="http://schemas.microsoft.com/office/drawing/2014/main" val="4007792708"/>
                    </a:ext>
                  </a:extLst>
                </a:gridCol>
              </a:tblGrid>
              <a:tr h="370840">
                <a:tc gridSpan="2">
                  <a:txBody>
                    <a:bodyPr/>
                    <a:lstStyle/>
                    <a:p>
                      <a:r>
                        <a:rPr lang="en-US" sz="1500" dirty="0">
                          <a:latin typeface="Times New Roman" panose="02020603050405020304" pitchFamily="18" charset="0"/>
                          <a:cs typeface="Times New Roman" panose="02020603050405020304" pitchFamily="18" charset="0"/>
                        </a:rPr>
                        <a:t>Accident class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Station Blackout (SBO)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Reactivity induced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r>
                        <a:rPr lang="en-US" sz="1500" dirty="0">
                          <a:latin typeface="Times New Roman" panose="02020603050405020304" pitchFamily="18" charset="0"/>
                          <a:cs typeface="Times New Roman" panose="02020603050405020304" pitchFamily="18" charset="0"/>
                        </a:rPr>
                        <a:t>Flow rate induced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92609338"/>
                  </a:ext>
                </a:extLst>
              </a:tr>
              <a:tr h="370840">
                <a:tc gridSpan="2">
                  <a:txBody>
                    <a:bodyPr/>
                    <a:lstStyle/>
                    <a:p>
                      <a:r>
                        <a:rPr lang="en-US" sz="1500" dirty="0">
                          <a:latin typeface="Times New Roman" panose="02020603050405020304" pitchFamily="18" charset="0"/>
                          <a:cs typeface="Times New Roman" panose="02020603050405020304" pitchFamily="18" charset="0"/>
                        </a:rPr>
                        <a:t>Accident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Protected SBO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UTOP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UPOS</a:t>
                      </a:r>
                    </a:p>
                  </a:txBody>
                  <a:tcPr marL="45720" marR="4572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ULOF</a:t>
                      </a: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UPOS, single</a:t>
                      </a: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ULOF, single</a:t>
                      </a: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7107839"/>
                  </a:ext>
                </a:extLst>
              </a:tr>
              <a:tr h="370840">
                <a:tc gridSpan="2">
                  <a:txBody>
                    <a:bodyPr/>
                    <a:lstStyle/>
                    <a:p>
                      <a:r>
                        <a:rPr lang="en-US" sz="1500" dirty="0">
                          <a:latin typeface="Times New Roman" panose="02020603050405020304" pitchFamily="18" charset="0"/>
                          <a:cs typeface="Times New Roman" panose="02020603050405020304" pitchFamily="18" charset="0"/>
                        </a:rPr>
                        <a:t>Initiating events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a:tc>
                <a:tc>
                  <a:txBody>
                    <a:bodyPr/>
                    <a:lstStyle/>
                    <a:p>
                      <a:r>
                        <a:rPr lang="en-US" sz="1500" dirty="0">
                          <a:latin typeface="Times New Roman" panose="02020603050405020304" pitchFamily="18" charset="0"/>
                          <a:cs typeface="Times New Roman" panose="02020603050405020304" pitchFamily="18" charset="0"/>
                        </a:rPr>
                        <a:t>Loss of all on-site power w. scram</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Fresh fuel charge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Pump power doubled, all loops</a:t>
                      </a:r>
                    </a:p>
                  </a:txBody>
                  <a:tcPr marL="45720" marR="4572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Pump power lost, all loops</a:t>
                      </a: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Pump power doubled, single loop</a:t>
                      </a: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Pump power lost, </a:t>
                      </a:r>
                      <a:r>
                        <a:rPr lang="en-US" altLang="ko-KR" sz="1500" dirty="0">
                          <a:latin typeface="Times New Roman" panose="02020603050405020304" pitchFamily="18" charset="0"/>
                          <a:cs typeface="Times New Roman" panose="02020603050405020304" pitchFamily="18" charset="0"/>
                        </a:rPr>
                        <a:t>single loop</a:t>
                      </a:r>
                      <a:endParaRPr lang="en-US" sz="1500" dirty="0">
                        <a:latin typeface="Times New Roman" panose="02020603050405020304" pitchFamily="18" charset="0"/>
                        <a:cs typeface="Times New Roman" panose="02020603050405020304" pitchFamily="18" charset="0"/>
                      </a:endParaRP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762106"/>
                  </a:ext>
                </a:extLst>
              </a:tr>
              <a:tr h="370840">
                <a:tc gridSpan="2">
                  <a:txBody>
                    <a:bodyPr/>
                    <a:lstStyle/>
                    <a:p>
                      <a:r>
                        <a:rPr lang="en-US" sz="1500" dirty="0">
                          <a:latin typeface="Times New Roman" panose="02020603050405020304" pitchFamily="18" charset="0"/>
                          <a:cs typeface="Times New Roman" panose="02020603050405020304" pitchFamily="18" charset="0"/>
                        </a:rPr>
                        <a:t>Transient variable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a:tc>
                <a:tc>
                  <a:txBody>
                    <a:bodyPr/>
                    <a:lstStyle/>
                    <a:p>
                      <a:r>
                        <a:rPr lang="en-US" sz="1400" dirty="0">
                          <a:latin typeface="Times New Roman" panose="02020603050405020304" pitchFamily="18" charset="0"/>
                          <a:cs typeface="Times New Roman" panose="02020603050405020304" pitchFamily="18" charset="0"/>
                        </a:rPr>
                        <a:t>Pump head to zero, feedwater to zero, -6,700 pcm in 20 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Step reactivity of 50 pcm</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Pump head +56% (5 s)</a:t>
                      </a:r>
                    </a:p>
                  </a:txBody>
                  <a:tcPr marL="45720" marR="4572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Pump head to zero (5 s)</a:t>
                      </a: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Single pump head +56% (5 s)</a:t>
                      </a: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Single pump head to zero (5 s)</a:t>
                      </a: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5152064"/>
                  </a:ext>
                </a:extLst>
              </a:tr>
              <a:tr h="370840">
                <a:tc rowSpan="3">
                  <a:txBody>
                    <a:bodyPr/>
                    <a:lstStyle/>
                    <a:p>
                      <a:r>
                        <a:rPr lang="en-US" altLang="ko-KR" sz="1500" strike="noStrike" dirty="0">
                          <a:solidFill>
                            <a:schemeClr val="tx1"/>
                          </a:solidFill>
                          <a:latin typeface="Times New Roman" panose="02020603050405020304" pitchFamily="18" charset="0"/>
                          <a:cs typeface="Times New Roman" panose="02020603050405020304" pitchFamily="18" charset="0"/>
                        </a:rPr>
                        <a:t>Peak Temperature (K)</a:t>
                      </a:r>
                      <a:endParaRPr lang="ko-KR" altLang="en-US" sz="1500" strike="noStrike" dirty="0">
                        <a:solidFill>
                          <a:schemeClr val="tx1"/>
                        </a:solidFill>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strike="noStrike" dirty="0">
                          <a:solidFill>
                            <a:schemeClr val="tx1"/>
                          </a:solidFill>
                          <a:latin typeface="Times New Roman" panose="02020603050405020304" pitchFamily="18" charset="0"/>
                          <a:cs typeface="Times New Roman" panose="02020603050405020304" pitchFamily="18" charset="0"/>
                        </a:rPr>
                        <a:t>Fuel </a:t>
                      </a:r>
                      <a:r>
                        <a:rPr lang="en-US" sz="1500" strike="noStrike" baseline="30000" dirty="0">
                          <a:solidFill>
                            <a:schemeClr val="tx1"/>
                          </a:solidFill>
                          <a:latin typeface="Times New Roman" panose="02020603050405020304" pitchFamily="18" charset="0"/>
                          <a:cs typeface="Times New Roman" panose="02020603050405020304" pitchFamily="18" charset="0"/>
                        </a:rPr>
                        <a:t>*</a:t>
                      </a:r>
                      <a:endParaRPr lang="en-US" sz="1500" strike="noStrike" dirty="0">
                        <a:solidFill>
                          <a:schemeClr val="tx1"/>
                        </a:solidFill>
                        <a:latin typeface="Times New Roman" panose="02020603050405020304" pitchFamily="18" charset="0"/>
                        <a:cs typeface="Times New Roman" panose="02020603050405020304" pitchFamily="18" charset="0"/>
                      </a:endParaRP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915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1,151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1,148</a:t>
                      </a:r>
                    </a:p>
                  </a:txBody>
                  <a:tcPr marL="45720" marR="4572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1,163</a:t>
                      </a:r>
                    </a:p>
                  </a:txBody>
                  <a:tcPr marL="45720" marR="45720" anchor="ct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1,145</a:t>
                      </a:r>
                    </a:p>
                  </a:txBody>
                  <a:tcPr marL="45720" marR="45720" anchor="ct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1,160</a:t>
                      </a: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648764536"/>
                  </a:ext>
                </a:extLst>
              </a:tr>
              <a:tr h="370840">
                <a:tc vMerge="1">
                  <a:txBody>
                    <a:bodyPr/>
                    <a:lstStyle/>
                    <a:p>
                      <a:endParaRPr lang="en-US" dirty="0"/>
                    </a:p>
                  </a:txBody>
                  <a:tcPr/>
                </a:tc>
                <a:tc>
                  <a:txBody>
                    <a:bodyPr/>
                    <a:lstStyle/>
                    <a:p>
                      <a:r>
                        <a:rPr lang="en-US" sz="1500" strike="noStrike" dirty="0">
                          <a:solidFill>
                            <a:schemeClr val="tx1"/>
                          </a:solidFill>
                          <a:latin typeface="Times New Roman" panose="02020603050405020304" pitchFamily="18" charset="0"/>
                          <a:cs typeface="Times New Roman" panose="02020603050405020304" pitchFamily="18" charset="0"/>
                        </a:rPr>
                        <a:t>Coolant</a:t>
                      </a:r>
                      <a:r>
                        <a:rPr lang="en-US" altLang="ko-KR" sz="1500" strike="noStrike" baseline="30000" dirty="0">
                          <a:solidFill>
                            <a:schemeClr val="tx1"/>
                          </a:solidFill>
                          <a:latin typeface="Times New Roman" panose="02020603050405020304" pitchFamily="18" charset="0"/>
                          <a:cs typeface="Times New Roman" panose="02020603050405020304" pitchFamily="18" charset="0"/>
                        </a:rPr>
                        <a:t>**</a:t>
                      </a:r>
                      <a:endParaRPr lang="en-US" sz="1500" strike="noStrike" dirty="0">
                        <a:solidFill>
                          <a:schemeClr val="tx1"/>
                        </a:solidFill>
                        <a:latin typeface="Times New Roman" panose="02020603050405020304" pitchFamily="18" charset="0"/>
                        <a:cs typeface="Times New Roman" panose="02020603050405020304" pitchFamily="18" charset="0"/>
                      </a:endParaRPr>
                    </a:p>
                  </a:txBody>
                  <a:tcPr marL="45720" marR="45720" anchor="ctr">
                    <a:lnR w="12700" cap="flat" cmpd="sng" algn="ctr">
                      <a:solidFill>
                        <a:schemeClr val="tx1"/>
                      </a:solidFill>
                      <a:prstDash val="solid"/>
                      <a:round/>
                      <a:headEnd type="none" w="med" len="med"/>
                      <a:tailEnd type="none" w="med" len="med"/>
                    </a:lnR>
                    <a:noFill/>
                  </a:tcPr>
                </a:tc>
                <a:tc>
                  <a:txBody>
                    <a:bodyPr/>
                    <a:lstStyle/>
                    <a:p>
                      <a:r>
                        <a:rPr lang="en-US" sz="1500" dirty="0">
                          <a:latin typeface="Times New Roman" panose="02020603050405020304" pitchFamily="18" charset="0"/>
                          <a:cs typeface="Times New Roman" panose="02020603050405020304" pitchFamily="18" charset="0"/>
                        </a:rPr>
                        <a:t>914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sz="1500" dirty="0">
                          <a:latin typeface="Times New Roman" panose="02020603050405020304" pitchFamily="18" charset="0"/>
                          <a:cs typeface="Times New Roman" panose="02020603050405020304" pitchFamily="18" charset="0"/>
                        </a:rPr>
                        <a:t>897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sz="1500" dirty="0">
                          <a:latin typeface="Times New Roman" panose="02020603050405020304" pitchFamily="18" charset="0"/>
                          <a:cs typeface="Times New Roman" panose="02020603050405020304" pitchFamily="18" charset="0"/>
                        </a:rPr>
                        <a:t>894</a:t>
                      </a:r>
                    </a:p>
                  </a:txBody>
                  <a:tcPr marL="45720" marR="45720" anchor="ctr">
                    <a:lnL w="12700" cap="flat" cmpd="sng" algn="ctr">
                      <a:solidFill>
                        <a:schemeClr val="tx1"/>
                      </a:solidFill>
                      <a:prstDash val="solid"/>
                      <a:round/>
                      <a:headEnd type="none" w="med" len="med"/>
                      <a:tailEnd type="none" w="med" len="med"/>
                    </a:lnL>
                    <a:noFill/>
                  </a:tcPr>
                </a:tc>
                <a:tc>
                  <a:txBody>
                    <a:bodyPr/>
                    <a:lstStyle/>
                    <a:p>
                      <a:r>
                        <a:rPr lang="en-US" sz="1500" dirty="0">
                          <a:latin typeface="Times New Roman" panose="02020603050405020304" pitchFamily="18" charset="0"/>
                          <a:cs typeface="Times New Roman" panose="02020603050405020304" pitchFamily="18" charset="0"/>
                        </a:rPr>
                        <a:t>1,005</a:t>
                      </a:r>
                    </a:p>
                  </a:txBody>
                  <a:tcPr marL="45720" marR="45720" anchor="ctr">
                    <a:noFill/>
                  </a:tcPr>
                </a:tc>
                <a:tc>
                  <a:txBody>
                    <a:bodyPr/>
                    <a:lstStyle/>
                    <a:p>
                      <a:r>
                        <a:rPr lang="en-US" sz="1500" dirty="0">
                          <a:latin typeface="Times New Roman" panose="02020603050405020304" pitchFamily="18" charset="0"/>
                          <a:cs typeface="Times New Roman" panose="02020603050405020304" pitchFamily="18" charset="0"/>
                        </a:rPr>
                        <a:t>892</a:t>
                      </a:r>
                    </a:p>
                  </a:txBody>
                  <a:tcPr marL="45720" marR="45720" anchor="ctr">
                    <a:noFill/>
                  </a:tcPr>
                </a:tc>
                <a:tc>
                  <a:txBody>
                    <a:bodyPr/>
                    <a:lstStyle/>
                    <a:p>
                      <a:r>
                        <a:rPr lang="en-US" sz="1500" dirty="0">
                          <a:latin typeface="Times New Roman" panose="02020603050405020304" pitchFamily="18" charset="0"/>
                          <a:cs typeface="Times New Roman" panose="02020603050405020304" pitchFamily="18" charset="0"/>
                        </a:rPr>
                        <a:t>950</a:t>
                      </a:r>
                    </a:p>
                  </a:txBody>
                  <a:tcPr marL="45720" marR="4572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653968769"/>
                  </a:ext>
                </a:extLst>
              </a:tr>
              <a:tr h="370840">
                <a:tc vMerge="1">
                  <a:txBody>
                    <a:bodyPr/>
                    <a:lstStyle/>
                    <a:p>
                      <a:endParaRPr lang="en-US" dirty="0"/>
                    </a:p>
                  </a:txBody>
                  <a:tcPr/>
                </a:tc>
                <a:tc>
                  <a:txBody>
                    <a:bodyPr/>
                    <a:lstStyle/>
                    <a:p>
                      <a:r>
                        <a:rPr lang="en-US" sz="1500" strike="noStrike" dirty="0">
                          <a:solidFill>
                            <a:schemeClr val="tx1"/>
                          </a:solidFill>
                          <a:latin typeface="Times New Roman" panose="02020603050405020304" pitchFamily="18" charset="0"/>
                          <a:cs typeface="Times New Roman" panose="02020603050405020304" pitchFamily="18" charset="0"/>
                        </a:rPr>
                        <a:t>Wall</a:t>
                      </a:r>
                      <a:r>
                        <a:rPr lang="en-US" altLang="ko-KR" sz="1500" strike="noStrike" baseline="30000" dirty="0">
                          <a:solidFill>
                            <a:schemeClr val="tx1"/>
                          </a:solidFill>
                          <a:latin typeface="Times New Roman" panose="02020603050405020304" pitchFamily="18" charset="0"/>
                          <a:cs typeface="Times New Roman" panose="02020603050405020304" pitchFamily="18" charset="0"/>
                        </a:rPr>
                        <a:t>***</a:t>
                      </a:r>
                      <a:endParaRPr lang="en-US" sz="1500" strike="noStrike" dirty="0">
                        <a:solidFill>
                          <a:schemeClr val="tx1"/>
                        </a:solidFill>
                        <a:latin typeface="Times New Roman" panose="02020603050405020304" pitchFamily="18" charset="0"/>
                        <a:cs typeface="Times New Roman" panose="02020603050405020304" pitchFamily="18" charset="0"/>
                      </a:endParaRPr>
                    </a:p>
                  </a:txBody>
                  <a:tcPr marL="45720" marR="4572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913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l"/>
                      <a:r>
                        <a:rPr lang="en-US" sz="1500" dirty="0">
                          <a:latin typeface="Times New Roman" panose="02020603050405020304" pitchFamily="18" charset="0"/>
                          <a:cs typeface="Times New Roman" panose="02020603050405020304" pitchFamily="18" charset="0"/>
                        </a:rPr>
                        <a:t>936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l"/>
                      <a:r>
                        <a:rPr lang="en-US" sz="1500" dirty="0">
                          <a:latin typeface="Times New Roman" panose="02020603050405020304" pitchFamily="18" charset="0"/>
                          <a:cs typeface="Times New Roman" panose="02020603050405020304" pitchFamily="18" charset="0"/>
                        </a:rPr>
                        <a:t>930</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1,042</a:t>
                      </a:r>
                    </a:p>
                  </a:txBody>
                  <a:tcPr marL="45720" marR="45720" anchor="ctr">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928</a:t>
                      </a:r>
                    </a:p>
                  </a:txBody>
                  <a:tcPr marL="45720" marR="45720" anchor="ctr">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988</a:t>
                      </a:r>
                    </a:p>
                  </a:txBody>
                  <a:tcPr marL="45720" marR="4572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4269092"/>
                  </a:ext>
                </a:extLst>
              </a:tr>
              <a:tr h="370840">
                <a:tc gridSpan="2">
                  <a:txBody>
                    <a:bodyPr/>
                    <a:lstStyle/>
                    <a:p>
                      <a:r>
                        <a:rPr lang="en-US" sz="1500" dirty="0">
                          <a:latin typeface="Times New Roman" panose="02020603050405020304" pitchFamily="18" charset="0"/>
                          <a:cs typeface="Times New Roman" panose="02020603050405020304" pitchFamily="18" charset="0"/>
                        </a:rPr>
                        <a:t>Peak power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hMerge="1">
                  <a:txBody>
                    <a:bodyPr/>
                    <a:lstStyle/>
                    <a:p>
                      <a:endParaRPr dirty="0"/>
                    </a:p>
                  </a:txBody>
                  <a:tcPr/>
                </a:tc>
                <a:tc>
                  <a:txBody>
                    <a:bodyPr/>
                    <a:lstStyle/>
                    <a:p>
                      <a:r>
                        <a:rPr lang="en-US" sz="1500" dirty="0">
                          <a:latin typeface="Times New Roman" panose="02020603050405020304" pitchFamily="18" charset="0"/>
                          <a:cs typeface="Times New Roman" panose="02020603050405020304" pitchFamily="18"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118.4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104.4</a:t>
                      </a:r>
                    </a:p>
                  </a:txBody>
                  <a:tcPr marL="45720" marR="4572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(no rise)</a:t>
                      </a:r>
                    </a:p>
                  </a:txBody>
                  <a:tcPr marL="45720" marR="45720" anchor="ctr">
                    <a:lnT w="12700" cap="flat" cmpd="sng" algn="ctr">
                      <a:solidFill>
                        <a:schemeClr val="tx1"/>
                      </a:solidFill>
                      <a:prstDash val="solid"/>
                      <a:round/>
                      <a:headEnd type="none" w="med" len="med"/>
                      <a:tailEnd type="none" w="med" len="med"/>
                    </a:lnT>
                    <a:noFill/>
                  </a:tcPr>
                </a:tc>
                <a:tc>
                  <a:txBody>
                    <a:bodyPr/>
                    <a:lstStyle/>
                    <a:p>
                      <a:r>
                        <a:rPr lang="en-US" sz="1500" dirty="0">
                          <a:latin typeface="Times New Roman" panose="02020603050405020304" pitchFamily="18" charset="0"/>
                          <a:cs typeface="Times New Roman" panose="02020603050405020304" pitchFamily="18" charset="0"/>
                        </a:rPr>
                        <a:t>101.6</a:t>
                      </a:r>
                    </a:p>
                  </a:txBody>
                  <a:tcPr marL="45720" marR="45720" anchor="ctr">
                    <a:lnT w="12700" cap="flat" cmpd="sng" algn="ctr">
                      <a:solidFill>
                        <a:schemeClr val="tx1"/>
                      </a:solidFill>
                      <a:prstDash val="solid"/>
                      <a:round/>
                      <a:headEnd type="none" w="med" len="med"/>
                      <a:tailEnd type="none" w="med" len="med"/>
                    </a:lnT>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(no rise)</a:t>
                      </a: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72573175"/>
                  </a:ext>
                </a:extLst>
              </a:tr>
              <a:tr h="370840">
                <a:tc gridSpan="2">
                  <a:txBody>
                    <a:bodyPr/>
                    <a:lstStyle/>
                    <a:p>
                      <a:r>
                        <a:rPr lang="en-US" sz="1500" dirty="0">
                          <a:latin typeface="Times New Roman" panose="02020603050405020304" pitchFamily="18" charset="0"/>
                          <a:cs typeface="Times New Roman" panose="02020603050405020304" pitchFamily="18" charset="0"/>
                        </a:rPr>
                        <a:t>Asymptotic power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dirty="0"/>
                    </a:p>
                  </a:txBody>
                  <a:tcPr/>
                </a:tc>
                <a:tc>
                  <a:txBody>
                    <a:bodyPr/>
                    <a:lstStyle/>
                    <a:p>
                      <a:r>
                        <a:rPr lang="en-US" altLang="ko-KR" sz="1500" dirty="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101.3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102.2</a:t>
                      </a:r>
                    </a:p>
                  </a:txBody>
                  <a:tcPr marL="45720" marR="4572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68.3</a:t>
                      </a:r>
                    </a:p>
                  </a:txBody>
                  <a:tcPr marL="45720" marR="45720" anchor="ctr">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100.7</a:t>
                      </a:r>
                    </a:p>
                  </a:txBody>
                  <a:tcPr marL="45720" marR="45720" anchor="ctr">
                    <a:lnB w="12700" cap="flat" cmpd="sng" algn="ctr">
                      <a:solidFill>
                        <a:schemeClr val="tx1"/>
                      </a:solidFill>
                      <a:prstDash val="solid"/>
                      <a:round/>
                      <a:headEnd type="none" w="med" len="med"/>
                      <a:tailEnd type="none" w="med" len="med"/>
                    </a:lnB>
                    <a:noFill/>
                  </a:tcPr>
                </a:tc>
                <a:tc>
                  <a:txBody>
                    <a:bodyPr/>
                    <a:lstStyle/>
                    <a:p>
                      <a:r>
                        <a:rPr lang="en-US" sz="1500" dirty="0">
                          <a:latin typeface="Times New Roman" panose="02020603050405020304" pitchFamily="18" charset="0"/>
                          <a:cs typeface="Times New Roman" panose="02020603050405020304" pitchFamily="18" charset="0"/>
                        </a:rPr>
                        <a:t>86.6</a:t>
                      </a:r>
                    </a:p>
                  </a:txBody>
                  <a:tcPr marL="45720" marR="4572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6139829"/>
                  </a:ext>
                </a:extLst>
              </a:tr>
            </a:tbl>
          </a:graphicData>
        </a:graphic>
      </p:graphicFrame>
      <p:sp>
        <p:nvSpPr>
          <p:cNvPr id="3" name="Title 2">
            <a:extLst>
              <a:ext uri="{FF2B5EF4-FFF2-40B4-BE49-F238E27FC236}">
                <a16:creationId xmlns:a16="http://schemas.microsoft.com/office/drawing/2014/main" id="{C9AC28F6-BAC8-9CE4-0A9B-CC1D59FBFAF5}"/>
              </a:ext>
            </a:extLst>
          </p:cNvPr>
          <p:cNvSpPr>
            <a:spLocks noGrp="1"/>
          </p:cNvSpPr>
          <p:nvPr>
            <p:ph type="title"/>
          </p:nvPr>
        </p:nvSpPr>
        <p:spPr/>
        <p:txBody>
          <a:bodyPr/>
          <a:lstStyle/>
          <a:p>
            <a:r>
              <a:rPr lang="en-US" dirty="0"/>
              <a:t>Summary of Analyzed Accident Scenarios</a:t>
            </a:r>
            <a:endParaRPr lang="en-US" strike="sngStrike" dirty="0"/>
          </a:p>
        </p:txBody>
      </p:sp>
      <p:sp>
        <p:nvSpPr>
          <p:cNvPr id="2" name="TextBox 1">
            <a:extLst>
              <a:ext uri="{FF2B5EF4-FFF2-40B4-BE49-F238E27FC236}">
                <a16:creationId xmlns:a16="http://schemas.microsoft.com/office/drawing/2014/main" id="{EA7C652C-8191-88CC-BF47-C8EAD43F6B1C}"/>
              </a:ext>
            </a:extLst>
          </p:cNvPr>
          <p:cNvSpPr txBox="1"/>
          <p:nvPr/>
        </p:nvSpPr>
        <p:spPr>
          <a:xfrm>
            <a:off x="258620" y="5057885"/>
            <a:ext cx="7132780" cy="646331"/>
          </a:xfrm>
          <a:prstGeom prst="rect">
            <a:avLst/>
          </a:prstGeom>
          <a:noFill/>
        </p:spPr>
        <p:txBody>
          <a:bodyPr wrap="square" rtlCol="0">
            <a:spAutoFit/>
          </a:bodyPr>
          <a:lstStyle/>
          <a:p>
            <a:r>
              <a:rPr lang="en-US" altLang="ko-KR" sz="1200" i="1" dirty="0"/>
              <a:t>*Fuel boiling point: 1,837 K; design limit of fuel temperature: 1600 K</a:t>
            </a:r>
          </a:p>
          <a:p>
            <a:r>
              <a:rPr lang="en-US" altLang="ko-KR" sz="1200" i="1" dirty="0"/>
              <a:t>**Coolant boiling point: 1,383 K; design limit of coolant temperature: 1200 K</a:t>
            </a:r>
          </a:p>
          <a:p>
            <a:r>
              <a:rPr lang="en-US" altLang="ko-KR" sz="1200" i="1" dirty="0"/>
              <a:t>***</a:t>
            </a:r>
            <a:r>
              <a:rPr lang="en-US" altLang="ko-KR" sz="1200" i="1" dirty="0" err="1"/>
              <a:t>SS316</a:t>
            </a:r>
            <a:r>
              <a:rPr lang="en-US" altLang="ko-KR" sz="1200" i="1" dirty="0"/>
              <a:t> service limit (ASME Sec. III, Div. 5): 1,089K; design limit of structure temperature: 1050 K</a:t>
            </a:r>
            <a:endParaRPr lang="ko-KR" altLang="en-US" sz="1200" i="1" dirty="0"/>
          </a:p>
        </p:txBody>
      </p:sp>
    </p:spTree>
    <p:extLst>
      <p:ext uri="{BB962C8B-B14F-4D97-AF65-F5344CB8AC3E}">
        <p14:creationId xmlns:p14="http://schemas.microsoft.com/office/powerpoint/2010/main" val="3068540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8D42BD-8380-77B0-A6D1-F137C82F4508}"/>
              </a:ext>
            </a:extLst>
          </p:cNvPr>
          <p:cNvSpPr>
            <a:spLocks noGrp="1"/>
          </p:cNvSpPr>
          <p:nvPr>
            <p:ph idx="1"/>
          </p:nvPr>
        </p:nvSpPr>
        <p:spPr>
          <a:xfrm>
            <a:off x="461434" y="874567"/>
            <a:ext cx="11222567" cy="1178904"/>
          </a:xfrm>
        </p:spPr>
        <p:txBody>
          <a:bodyPr/>
          <a:lstStyle/>
          <a:p>
            <a:r>
              <a:rPr lang="en-US" altLang="ko-KR" dirty="0"/>
              <a:t>200–1,000 s: Net heat accumulation begins at ~200 s and triggers delayed flow recovery after ~400 s.</a:t>
            </a:r>
          </a:p>
          <a:p>
            <a:r>
              <a:rPr lang="en-US" altLang="ko-KR" dirty="0"/>
              <a:t>After 1,000 s: Declining decay heat gradually reduces natural circulation flow.</a:t>
            </a:r>
          </a:p>
          <a:p>
            <a:endParaRPr lang="ko-KR" altLang="en-US" dirty="0"/>
          </a:p>
        </p:txBody>
      </p:sp>
      <p:sp>
        <p:nvSpPr>
          <p:cNvPr id="3" name="Title 2">
            <a:extLst>
              <a:ext uri="{FF2B5EF4-FFF2-40B4-BE49-F238E27FC236}">
                <a16:creationId xmlns:a16="http://schemas.microsoft.com/office/drawing/2014/main" id="{A919F7C3-74C8-D1EA-AC96-A371DDE22355}"/>
              </a:ext>
            </a:extLst>
          </p:cNvPr>
          <p:cNvSpPr>
            <a:spLocks noGrp="1"/>
          </p:cNvSpPr>
          <p:nvPr>
            <p:ph type="title"/>
          </p:nvPr>
        </p:nvSpPr>
        <p:spPr/>
        <p:txBody>
          <a:bodyPr/>
          <a:lstStyle/>
          <a:p>
            <a:r>
              <a:rPr lang="en-US" altLang="ko-KR" dirty="0"/>
              <a:t>Natural Circulation and Heat Balance in Protected SBO Scenario</a:t>
            </a:r>
            <a:endParaRPr lang="ko-KR" altLang="en-US" dirty="0"/>
          </a:p>
        </p:txBody>
      </p:sp>
      <p:grpSp>
        <p:nvGrpSpPr>
          <p:cNvPr id="8" name="Group 7">
            <a:extLst>
              <a:ext uri="{FF2B5EF4-FFF2-40B4-BE49-F238E27FC236}">
                <a16:creationId xmlns:a16="http://schemas.microsoft.com/office/drawing/2014/main" id="{571CC767-7CC1-A67E-5F05-7F1A1F793020}"/>
              </a:ext>
            </a:extLst>
          </p:cNvPr>
          <p:cNvGrpSpPr/>
          <p:nvPr/>
        </p:nvGrpSpPr>
        <p:grpSpPr>
          <a:xfrm>
            <a:off x="193498" y="1753365"/>
            <a:ext cx="11758437" cy="4230068"/>
            <a:chOff x="-100070" y="1681741"/>
            <a:chExt cx="12134325" cy="4396745"/>
          </a:xfrm>
        </p:grpSpPr>
        <p:pic>
          <p:nvPicPr>
            <p:cNvPr id="4" name="Picture 3">
              <a:extLst>
                <a:ext uri="{FF2B5EF4-FFF2-40B4-BE49-F238E27FC236}">
                  <a16:creationId xmlns:a16="http://schemas.microsoft.com/office/drawing/2014/main" id="{47257708-6DFC-8BE5-738C-3A3F2C5D39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0070" y="1681741"/>
              <a:ext cx="6051402" cy="3943668"/>
            </a:xfrm>
            <a:prstGeom prst="rect">
              <a:avLst/>
            </a:prstGeom>
          </p:spPr>
        </p:pic>
        <p:pic>
          <p:nvPicPr>
            <p:cNvPr id="7" name="Picture 6">
              <a:extLst>
                <a:ext uri="{FF2B5EF4-FFF2-40B4-BE49-F238E27FC236}">
                  <a16:creationId xmlns:a16="http://schemas.microsoft.com/office/drawing/2014/main" id="{00FBF384-6AC3-1D7C-5E77-2E8C8315A7FA}"/>
                </a:ext>
              </a:extLst>
            </p:cNvPr>
            <p:cNvPicPr>
              <a:picLocks noChangeAspect="1"/>
            </p:cNvPicPr>
            <p:nvPr/>
          </p:nvPicPr>
          <p:blipFill>
            <a:blip r:embed="rId4"/>
            <a:stretch>
              <a:fillRect/>
            </a:stretch>
          </p:blipFill>
          <p:spPr>
            <a:xfrm>
              <a:off x="6096000" y="1681741"/>
              <a:ext cx="5938255" cy="4396745"/>
            </a:xfrm>
            <a:prstGeom prst="rect">
              <a:avLst/>
            </a:prstGeom>
          </p:spPr>
        </p:pic>
      </p:grpSp>
    </p:spTree>
    <p:extLst>
      <p:ext uri="{BB962C8B-B14F-4D97-AF65-F5344CB8AC3E}">
        <p14:creationId xmlns:p14="http://schemas.microsoft.com/office/powerpoint/2010/main" val="97865668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Design">
  <a:themeElements>
    <a:clrScheme name="">
      <a:dk1>
        <a:srgbClr val="131313"/>
      </a:dk1>
      <a:lt1>
        <a:srgbClr val="FFFFFF"/>
      </a:lt1>
      <a:dk2>
        <a:srgbClr val="0071BC"/>
      </a:dk2>
      <a:lt2>
        <a:srgbClr val="808080"/>
      </a:lt2>
      <a:accent1>
        <a:srgbClr val="00A650"/>
      </a:accent1>
      <a:accent2>
        <a:srgbClr val="B02A30"/>
      </a:accent2>
      <a:accent3>
        <a:srgbClr val="FFFFFF"/>
      </a:accent3>
      <a:accent4>
        <a:srgbClr val="0E0E0E"/>
      </a:accent4>
      <a:accent5>
        <a:srgbClr val="AAD0B3"/>
      </a:accent5>
      <a:accent6>
        <a:srgbClr val="9F252A"/>
      </a:accent6>
      <a:hlink>
        <a:srgbClr val="00ADEF"/>
      </a:hlink>
      <a:folHlink>
        <a:srgbClr val="693163"/>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a:ln>
              <a:noFill/>
            </a:ln>
            <a:solidFill>
              <a:schemeClr val="tx1"/>
            </a:solidFill>
            <a:effectLst/>
            <a:latin typeface="Arial" pitchFamily="27" charset="0"/>
            <a:ea typeface="MS PGothic" pitchFamily="34" charset="-128"/>
            <a:cs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a:ln>
              <a:noFill/>
            </a:ln>
            <a:solidFill>
              <a:schemeClr val="tx1"/>
            </a:solidFill>
            <a:effectLst/>
            <a:latin typeface="Arial" pitchFamily="27" charset="0"/>
            <a:ea typeface="MS PGothic" pitchFamily="34" charset="-128"/>
            <a:cs typeface="MS PGothic" pitchFamily="34" charset="-128"/>
          </a:defRPr>
        </a:defPPr>
      </a:lstStyle>
    </a:lnDef>
  </a:objectDefaults>
  <a:extraClrSchemeLst>
    <a:extraClrScheme>
      <a:clrScheme name="Default Design 1">
        <a:dk1>
          <a:srgbClr val="131313"/>
        </a:dk1>
        <a:lt1>
          <a:srgbClr val="FFFFFF"/>
        </a:lt1>
        <a:dk2>
          <a:srgbClr val="0071BC"/>
        </a:dk2>
        <a:lt2>
          <a:srgbClr val="808080"/>
        </a:lt2>
        <a:accent1>
          <a:srgbClr val="00A650"/>
        </a:accent1>
        <a:accent2>
          <a:srgbClr val="FFC20E"/>
        </a:accent2>
        <a:accent3>
          <a:srgbClr val="FFFFFF"/>
        </a:accent3>
        <a:accent4>
          <a:srgbClr val="0E0E0E"/>
        </a:accent4>
        <a:accent5>
          <a:srgbClr val="AAD0B3"/>
        </a:accent5>
        <a:accent6>
          <a:srgbClr val="E7B00C"/>
        </a:accent6>
        <a:hlink>
          <a:srgbClr val="00ADEF"/>
        </a:hlink>
        <a:folHlink>
          <a:srgbClr val="69316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RDSLtemplate.pptx" id="{C1DDD78B-E51C-48AA-882D-2A77D88CB264}" vid="{B1DE3C96-BAA8-4868-B9B1-6D70C271055F}"/>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2578</Words>
  <Application>Microsoft Macintosh PowerPoint</Application>
  <DocSecurity>0</DocSecurity>
  <PresentationFormat>Widescreen</PresentationFormat>
  <Paragraphs>237</Paragraphs>
  <Slides>22</Slides>
  <Notes>22</Notes>
  <HiddenSlides>0</HiddenSlides>
  <MMClips>1</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22</vt:i4>
      </vt:variant>
    </vt:vector>
  </HeadingPairs>
  <TitlesOfParts>
    <vt:vector size="28" baseType="lpstr">
      <vt:lpstr>Arial</vt:lpstr>
      <vt:lpstr>Times</vt:lpstr>
      <vt:lpstr>Times New Roman</vt:lpstr>
      <vt:lpstr>Wingdings</vt:lpstr>
      <vt:lpstr>ChatGPT</vt:lpstr>
      <vt:lpstr>Default Design</vt:lpstr>
      <vt:lpstr>PowerPoint Presentation</vt:lpstr>
      <vt:lpstr>PowerPoint Presentation</vt:lpstr>
      <vt:lpstr>WISTR Safety Analysis</vt:lpstr>
      <vt:lpstr>SAM Nodalization Diagram for WISTR Reactor Coolant System</vt:lpstr>
      <vt:lpstr>Wall Temperature Evolution in Unprotected Accidents</vt:lpstr>
      <vt:lpstr>Wall Temperature Evolution in Protected SBO Scenario</vt:lpstr>
      <vt:lpstr>Conclusions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Analyzed Accident Scenarios</vt:lpstr>
      <vt:lpstr>Natural Circulation and Heat Balance in Protected SBO Scenario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 Wielenga</cp:lastModifiedBy>
  <cp:revision>12</cp:revision>
  <dcterms:created xsi:type="dcterms:W3CDTF">2026-10-19T14:22:08Z</dcterms:created>
  <dcterms:modified xsi:type="dcterms:W3CDTF">2026-10-26T00:23:32Z</dcterms:modified>
</cp:coreProperties>
</file>