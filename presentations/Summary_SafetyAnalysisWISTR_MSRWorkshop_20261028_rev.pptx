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1"/>
  </p:notesMasterIdLst>
  <p:handoutMasterIdLst>
    <p:handoutMasterId r:id="rId12"/>
  </p:handoutMasterIdLst>
  <p:sldIdLst>
    <p:sldId id="260" r:id="rId2"/>
    <p:sldId id="329" r:id="rId3"/>
    <p:sldId id="328" r:id="rId4"/>
    <p:sldId id="334" r:id="rId5"/>
    <p:sldId id="279" r:id="rId6"/>
    <p:sldId id="336" r:id="rId7"/>
    <p:sldId id="337" r:id="rId8"/>
    <p:sldId id="338" r:id="rId9"/>
    <p:sldId id="33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F20A1F-8B65-26B7-E0B5-366DE89EC61B}" name="Yang, Won Sik" initials="WY" userId="S::wonyang@umich.edu::13ab4a8a-f083-4ad3-86e1-d4b24c94f4b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6ECC"/>
    <a:srgbClr val="78206E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100" d="100"/>
          <a:sy n="100" d="100"/>
        </p:scale>
        <p:origin x="115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gyu Lee" userId="1213464723_tp_dropbox_plus" providerId="OAuth2" clId="{1DC34CE0-DBA4-4AD2-9A02-75AF99D52933}"/>
    <pc:docChg chg="undo custSel addSld delSld modSld">
      <pc:chgData name="Hangyu Lee" userId="1213464723_tp_dropbox_plus" providerId="OAuth2" clId="{1DC34CE0-DBA4-4AD2-9A02-75AF99D52933}" dt="2026-10-23T19:36:30.508" v="264" actId="1076"/>
      <pc:docMkLst>
        <pc:docMk/>
      </pc:docMkLst>
      <pc:sldChg chg="modSp mod">
        <pc:chgData name="Hangyu Lee" userId="1213464723_tp_dropbox_plus" providerId="OAuth2" clId="{1DC34CE0-DBA4-4AD2-9A02-75AF99D52933}" dt="2026-10-22T18:50:44.900" v="13"/>
        <pc:sldMkLst>
          <pc:docMk/>
          <pc:sldMk cId="3068540306" sldId="279"/>
        </pc:sldMkLst>
        <pc:spChg chg="mod">
          <ac:chgData name="Hangyu Lee" userId="1213464723_tp_dropbox_plus" providerId="OAuth2" clId="{1DC34CE0-DBA4-4AD2-9A02-75AF99D52933}" dt="2026-10-22T18:50:44.900" v="13"/>
          <ac:spMkLst>
            <pc:docMk/>
            <pc:sldMk cId="3068540306" sldId="279"/>
            <ac:spMk id="2" creationId="{EA7C652C-8191-88CC-BF47-C8EAD43F6B1C}"/>
          </ac:spMkLst>
        </pc:spChg>
      </pc:sldChg>
      <pc:sldChg chg="addSp delSp modSp mod">
        <pc:chgData name="Hangyu Lee" userId="1213464723_tp_dropbox_plus" providerId="OAuth2" clId="{1DC34CE0-DBA4-4AD2-9A02-75AF99D52933}" dt="2026-10-22T18:52:40.321" v="20" actId="14100"/>
        <pc:sldMkLst>
          <pc:docMk/>
          <pc:sldMk cId="2469346357" sldId="336"/>
        </pc:sldMkLst>
        <pc:spChg chg="add del mod">
          <ac:chgData name="Hangyu Lee" userId="1213464723_tp_dropbox_plus" providerId="OAuth2" clId="{1DC34CE0-DBA4-4AD2-9A02-75AF99D52933}" dt="2026-10-22T18:52:35.950" v="17" actId="22"/>
          <ac:spMkLst>
            <pc:docMk/>
            <pc:sldMk cId="2469346357" sldId="336"/>
            <ac:spMk id="4" creationId="{383DD1B1-C9D9-24CA-4D42-B93B2BC97174}"/>
          </ac:spMkLst>
        </pc:spChg>
        <pc:picChg chg="add mod ord">
          <ac:chgData name="Hangyu Lee" userId="1213464723_tp_dropbox_plus" providerId="OAuth2" clId="{1DC34CE0-DBA4-4AD2-9A02-75AF99D52933}" dt="2026-10-22T18:52:40.321" v="20" actId="14100"/>
          <ac:picMkLst>
            <pc:docMk/>
            <pc:sldMk cId="2469346357" sldId="336"/>
            <ac:picMk id="6" creationId="{90D18D71-934A-3CF8-1F03-F3A83BC126DD}"/>
          </ac:picMkLst>
        </pc:picChg>
        <pc:picChg chg="del mod modCrop">
          <ac:chgData name="Hangyu Lee" userId="1213464723_tp_dropbox_plus" providerId="OAuth2" clId="{1DC34CE0-DBA4-4AD2-9A02-75AF99D52933}" dt="2026-10-22T18:52:34.607" v="16" actId="21"/>
          <ac:picMkLst>
            <pc:docMk/>
            <pc:sldMk cId="2469346357" sldId="336"/>
            <ac:picMk id="21" creationId="{D9A55617-B279-59D7-B81F-ECF715C3DBBB}"/>
          </ac:picMkLst>
        </pc:picChg>
      </pc:sldChg>
      <pc:sldChg chg="addSp delSp modSp mod">
        <pc:chgData name="Hangyu Lee" userId="1213464723_tp_dropbox_plus" providerId="OAuth2" clId="{1DC34CE0-DBA4-4AD2-9A02-75AF99D52933}" dt="2026-10-23T19:36:30.508" v="264" actId="1076"/>
        <pc:sldMkLst>
          <pc:docMk/>
          <pc:sldMk cId="2263233242" sldId="337"/>
        </pc:sldMkLst>
        <pc:spChg chg="mod">
          <ac:chgData name="Hangyu Lee" userId="1213464723_tp_dropbox_plus" providerId="OAuth2" clId="{1DC34CE0-DBA4-4AD2-9A02-75AF99D52933}" dt="2026-10-22T18:27:44.304" v="3" actId="20577"/>
          <ac:spMkLst>
            <pc:docMk/>
            <pc:sldMk cId="2263233242" sldId="337"/>
            <ac:spMk id="10" creationId="{25B3E075-5891-3CA3-1BAE-940422BF6C3A}"/>
          </ac:spMkLst>
        </pc:spChg>
        <pc:picChg chg="add del mod modCrop">
          <ac:chgData name="Hangyu Lee" userId="1213464723_tp_dropbox_plus" providerId="OAuth2" clId="{1DC34CE0-DBA4-4AD2-9A02-75AF99D52933}" dt="2026-10-23T19:36:24.496" v="260" actId="21"/>
          <ac:picMkLst>
            <pc:docMk/>
            <pc:sldMk cId="2263233242" sldId="337"/>
            <ac:picMk id="4" creationId="{0F06960D-CE14-FA15-F904-2567249EFF84}"/>
          </ac:picMkLst>
        </pc:picChg>
        <pc:picChg chg="add mod">
          <ac:chgData name="Hangyu Lee" userId="1213464723_tp_dropbox_plus" providerId="OAuth2" clId="{1DC34CE0-DBA4-4AD2-9A02-75AF99D52933}" dt="2026-10-23T19:36:30.508" v="264" actId="1076"/>
          <ac:picMkLst>
            <pc:docMk/>
            <pc:sldMk cId="2263233242" sldId="337"/>
            <ac:picMk id="5" creationId="{8CF0566D-1ADF-8D44-8349-D85B6EFBB6D4}"/>
          </ac:picMkLst>
        </pc:picChg>
        <pc:picChg chg="del mod modCrop">
          <ac:chgData name="Hangyu Lee" userId="1213464723_tp_dropbox_plus" providerId="OAuth2" clId="{1DC34CE0-DBA4-4AD2-9A02-75AF99D52933}" dt="2026-10-22T18:28:05.446" v="7" actId="21"/>
          <ac:picMkLst>
            <pc:docMk/>
            <pc:sldMk cId="2263233242" sldId="337"/>
            <ac:picMk id="11" creationId="{9EDA0A44-552D-5B44-323E-FBAD28053632}"/>
          </ac:picMkLst>
        </pc:picChg>
      </pc:sldChg>
      <pc:sldChg chg="addSp delSp modSp new mod">
        <pc:chgData name="Hangyu Lee" userId="1213464723_tp_dropbox_plus" providerId="OAuth2" clId="{1DC34CE0-DBA4-4AD2-9A02-75AF99D52933}" dt="2026-10-23T19:25:02.403" v="256" actId="20577"/>
        <pc:sldMkLst>
          <pc:docMk/>
          <pc:sldMk cId="978656680" sldId="338"/>
        </pc:sldMkLst>
        <pc:spChg chg="mod">
          <ac:chgData name="Hangyu Lee" userId="1213464723_tp_dropbox_plus" providerId="OAuth2" clId="{1DC34CE0-DBA4-4AD2-9A02-75AF99D52933}" dt="2026-10-23T19:25:02.403" v="256" actId="20577"/>
          <ac:spMkLst>
            <pc:docMk/>
            <pc:sldMk cId="978656680" sldId="338"/>
            <ac:spMk id="2" creationId="{EE8D42BD-8380-77B0-A6D1-F137C82F4508}"/>
          </ac:spMkLst>
        </pc:spChg>
        <pc:spChg chg="mod">
          <ac:chgData name="Hangyu Lee" userId="1213464723_tp_dropbox_plus" providerId="OAuth2" clId="{1DC34CE0-DBA4-4AD2-9A02-75AF99D52933}" dt="2026-10-23T19:15:15.451" v="146" actId="20577"/>
          <ac:spMkLst>
            <pc:docMk/>
            <pc:sldMk cId="978656680" sldId="338"/>
            <ac:spMk id="3" creationId="{A919F7C3-74C8-D1EA-AC96-A371DDE22355}"/>
          </ac:spMkLst>
        </pc:spChg>
        <pc:grpChg chg="add mod">
          <ac:chgData name="Hangyu Lee" userId="1213464723_tp_dropbox_plus" providerId="OAuth2" clId="{1DC34CE0-DBA4-4AD2-9A02-75AF99D52933}" dt="2026-10-23T19:18:27.935" v="159" actId="1076"/>
          <ac:grpSpMkLst>
            <pc:docMk/>
            <pc:sldMk cId="978656680" sldId="338"/>
            <ac:grpSpMk id="8" creationId="{571CC767-7CC1-A67E-5F05-7F1A1F793020}"/>
          </ac:grpSpMkLst>
        </pc:grpChg>
        <pc:picChg chg="add mod">
          <ac:chgData name="Hangyu Lee" userId="1213464723_tp_dropbox_plus" providerId="OAuth2" clId="{1DC34CE0-DBA4-4AD2-9A02-75AF99D52933}" dt="2026-10-23T19:18:24.322" v="156" actId="1076"/>
          <ac:picMkLst>
            <pc:docMk/>
            <pc:sldMk cId="978656680" sldId="338"/>
            <ac:picMk id="4" creationId="{47257708-6DFC-8BE5-738C-3A3F2C5D39CD}"/>
          </ac:picMkLst>
        </pc:picChg>
        <pc:picChg chg="add del mod">
          <ac:chgData name="Hangyu Lee" userId="1213464723_tp_dropbox_plus" providerId="OAuth2" clId="{1DC34CE0-DBA4-4AD2-9A02-75AF99D52933}" dt="2026-10-23T18:38:30.191" v="38" actId="478"/>
          <ac:picMkLst>
            <pc:docMk/>
            <pc:sldMk cId="978656680" sldId="338"/>
            <ac:picMk id="5" creationId="{A53ACAA7-DCAC-3612-FDF2-10F5BAACFA76}"/>
          </ac:picMkLst>
        </pc:picChg>
        <pc:picChg chg="add del mod">
          <ac:chgData name="Hangyu Lee" userId="1213464723_tp_dropbox_plus" providerId="OAuth2" clId="{1DC34CE0-DBA4-4AD2-9A02-75AF99D52933}" dt="2026-10-23T19:07:44.261" v="112" actId="478"/>
          <ac:picMkLst>
            <pc:docMk/>
            <pc:sldMk cId="978656680" sldId="338"/>
            <ac:picMk id="6" creationId="{663FEEA2-7951-8515-5CE3-EEB7F6A432D8}"/>
          </ac:picMkLst>
        </pc:picChg>
        <pc:picChg chg="add mod">
          <ac:chgData name="Hangyu Lee" userId="1213464723_tp_dropbox_plus" providerId="OAuth2" clId="{1DC34CE0-DBA4-4AD2-9A02-75AF99D52933}" dt="2026-10-23T19:18:25.516" v="158" actId="1076"/>
          <ac:picMkLst>
            <pc:docMk/>
            <pc:sldMk cId="978656680" sldId="338"/>
            <ac:picMk id="7" creationId="{00FBF384-6AC3-1D7C-5E77-2E8C8315A7FA}"/>
          </ac:picMkLst>
        </pc:picChg>
      </pc:sldChg>
      <pc:sldChg chg="addSp modSp new del mod">
        <pc:chgData name="Hangyu Lee" userId="1213464723_tp_dropbox_plus" providerId="OAuth2" clId="{1DC34CE0-DBA4-4AD2-9A02-75AF99D52933}" dt="2026-10-23T19:15:08.818" v="121" actId="47"/>
        <pc:sldMkLst>
          <pc:docMk/>
          <pc:sldMk cId="1869514681" sldId="339"/>
        </pc:sldMkLst>
        <pc:spChg chg="mod">
          <ac:chgData name="Hangyu Lee" userId="1213464723_tp_dropbox_plus" providerId="OAuth2" clId="{1DC34CE0-DBA4-4AD2-9A02-75AF99D52933}" dt="2026-10-23T18:45:25.580" v="111" actId="14100"/>
          <ac:spMkLst>
            <pc:docMk/>
            <pc:sldMk cId="1869514681" sldId="339"/>
            <ac:spMk id="2" creationId="{041D455B-6280-B2E6-2B80-7C05571991E7}"/>
          </ac:spMkLst>
        </pc:spChg>
        <pc:spChg chg="mod">
          <ac:chgData name="Hangyu Lee" userId="1213464723_tp_dropbox_plus" providerId="OAuth2" clId="{1DC34CE0-DBA4-4AD2-9A02-75AF99D52933}" dt="2026-10-23T18:45:00.349" v="105" actId="20577"/>
          <ac:spMkLst>
            <pc:docMk/>
            <pc:sldMk cId="1869514681" sldId="339"/>
            <ac:spMk id="3" creationId="{1AC09E5F-14DF-8645-0372-62F8955AAAA3}"/>
          </ac:spMkLst>
        </pc:spChg>
        <pc:picChg chg="add mod">
          <ac:chgData name="Hangyu Lee" userId="1213464723_tp_dropbox_plus" providerId="OAuth2" clId="{1DC34CE0-DBA4-4AD2-9A02-75AF99D52933}" dt="2026-10-23T18:45:21.678" v="110" actId="1076"/>
          <ac:picMkLst>
            <pc:docMk/>
            <pc:sldMk cId="1869514681" sldId="339"/>
            <ac:picMk id="4" creationId="{22942CC9-9CC2-3BAA-4650-5FB51782113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39B84F-AC0F-2090-218D-4560200CEA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86486-2EF7-C518-A01C-B585F5649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F59FD-8E16-4D86-884D-A76383477A4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6462B-16C2-ED7F-1952-6F04C83F6D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C2780-590F-6DE9-0A3E-F6D723DBCC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E99C0-F7C0-4F3B-B032-B90165BD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62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5030B-BE2F-49D5-8311-1B4B6F9A07DA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2A77B-3492-4FC4-90CB-CCC522FA8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27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52636" y="2524376"/>
            <a:ext cx="9144000" cy="544765"/>
          </a:xfrm>
          <a:prstGeom prst="rect">
            <a:avLst/>
          </a:prstGeom>
        </p:spPr>
        <p:txBody>
          <a:bodyPr anchor="b"/>
          <a:lstStyle>
            <a:lvl1pPr algn="r">
              <a:defRPr sz="3600" b="1" baseline="0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52636" y="3112673"/>
            <a:ext cx="9144000" cy="44332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aseline="0">
                <a:solidFill>
                  <a:schemeClr val="bg1">
                    <a:lumMod val="50000"/>
                  </a:schemeClr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 dirty="0"/>
              <a:t>Presenter 1, Presenter 2, Presenter 3, etc… 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452636" y="3555999"/>
            <a:ext cx="91440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4C7E60D-03EA-4D13-AE32-EF0D96B78AA5}" type="datetime4">
              <a:rPr lang="en-US" sz="1350" smtClean="0">
                <a:solidFill>
                  <a:schemeClr val="bg1">
                    <a:lumMod val="50000"/>
                  </a:schemeClr>
                </a:solidFill>
              </a:rPr>
              <a:pPr algn="r"/>
              <a:t>October 23, 2026</a:t>
            </a:fld>
            <a:endParaRPr lang="en-US" sz="13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772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C4F591-C224-3529-7390-AB6F52891B92}"/>
              </a:ext>
            </a:extLst>
          </p:cNvPr>
          <p:cNvSpPr txBox="1"/>
          <p:nvPr userDrawn="1"/>
        </p:nvSpPr>
        <p:spPr>
          <a:xfrm>
            <a:off x="1524000" y="48669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August 23,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A5E045-577A-4FBD-9F4A-FC8DB490F3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1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2228322" y="2093033"/>
            <a:ext cx="7735357" cy="535531"/>
          </a:xfr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en-US" sz="3200" dirty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18796" y="2890229"/>
            <a:ext cx="7754408" cy="451530"/>
          </a:xfrm>
          <a:ln w="12700"/>
        </p:spPr>
        <p:txBody>
          <a:bodyPr/>
          <a:lstStyle>
            <a:lvl1pPr marL="0" indent="0" algn="ctr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Font typeface="Wingdings" pitchFamily="27" charset="2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2C2F9-5A02-C4EA-0C50-A6D464DCC4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905708"/>
            <a:ext cx="9144000" cy="461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August 23, 2026</a:t>
            </a:r>
          </a:p>
        </p:txBody>
      </p:sp>
    </p:spTree>
    <p:extLst>
      <p:ext uri="{BB962C8B-B14F-4D97-AF65-F5344CB8AC3E}">
        <p14:creationId xmlns:p14="http://schemas.microsoft.com/office/powerpoint/2010/main" val="1269686107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434" y="874567"/>
            <a:ext cx="11222567" cy="1628138"/>
          </a:xfrm>
          <a:prstGeom prst="rect">
            <a:avLst/>
          </a:prstGeom>
        </p:spPr>
        <p:txBody>
          <a:bodyPr/>
          <a:lstStyle>
            <a:lvl1pPr marL="347663" indent="-347663">
              <a:buClr>
                <a:srgbClr val="C00000"/>
              </a:buClr>
              <a:defRPr sz="1800" baseline="0"/>
            </a:lvl1pPr>
            <a:lvl2pPr>
              <a:buClr>
                <a:srgbClr val="C00000"/>
              </a:buClr>
              <a:defRPr sz="1600" baseline="0"/>
            </a:lvl2pPr>
            <a:lvl3pPr>
              <a:buClr>
                <a:srgbClr val="C00000"/>
              </a:buClr>
              <a:defRPr sz="1400" baseline="0"/>
            </a:lvl3pPr>
            <a:lvl4pPr>
              <a:buClr>
                <a:srgbClr val="C00000"/>
              </a:buClr>
              <a:defRPr sz="1400" baseline="0"/>
            </a:lvl4pPr>
            <a:lvl5pPr>
              <a:buClr>
                <a:srgbClr val="C00000"/>
              </a:buCl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40AF3E8A-F870-42AD-9BA0-427B02CBEB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1200" y="6446432"/>
            <a:ext cx="609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45FE0E5A-A608-420A-8CA0-9B4B009E4183}" type="slidenum">
              <a:rPr lang="en-US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defRPr/>
              </a:pPr>
              <a:t>‹#›</a:t>
            </a:fld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2968" y="330201"/>
            <a:ext cx="11267017" cy="406265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169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022735"/>
            <a:ext cx="10363200" cy="406265"/>
          </a:xfrm>
        </p:spPr>
        <p:txBody>
          <a:bodyPr/>
          <a:lstStyle>
            <a:lvl1pPr algn="l">
              <a:defRPr sz="2600" b="1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723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1434" y="934350"/>
            <a:ext cx="5187951" cy="2037481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 sz="1800"/>
            </a:lvl1pPr>
            <a:lvl2pPr>
              <a:buClr>
                <a:srgbClr val="C00000"/>
              </a:buClr>
              <a:defRPr sz="1600"/>
            </a:lvl2pPr>
            <a:lvl3pPr>
              <a:buClr>
                <a:srgbClr val="C00000"/>
              </a:buClr>
              <a:defRPr sz="1400"/>
            </a:lvl3pPr>
            <a:lvl4pPr>
              <a:buClr>
                <a:srgbClr val="C00000"/>
              </a:buClr>
              <a:defRPr sz="1200"/>
            </a:lvl4pPr>
            <a:lvl5pPr>
              <a:buClr>
                <a:srgbClr val="C00000"/>
              </a:buCl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52584" y="934349"/>
            <a:ext cx="5190067" cy="2074414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 sz="1800"/>
            </a:lvl1pPr>
            <a:lvl2pPr>
              <a:buClr>
                <a:srgbClr val="C00000"/>
              </a:buClr>
              <a:defRPr sz="1600"/>
            </a:lvl2pPr>
            <a:lvl3pPr>
              <a:buClr>
                <a:srgbClr val="C00000"/>
              </a:buClr>
              <a:defRPr sz="1400"/>
            </a:lvl3pPr>
            <a:lvl4pPr>
              <a:buClr>
                <a:srgbClr val="C00000"/>
              </a:buClr>
              <a:defRPr sz="1400"/>
            </a:lvl4pPr>
            <a:lvl5pPr>
              <a:buClr>
                <a:srgbClr val="C00000"/>
              </a:buCl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95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7EB83-6BFF-8FEC-8CBE-BFED8B046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C8F3C9-94D0-FC55-F2FE-1B9E5EF39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A1D994-CC38-8A86-2622-CB19E064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B15-299F-4D4B-9E9B-8A2F98149204}" type="datetimeFigureOut">
              <a:rPr lang="ko-KR" altLang="en-US" smtClean="0"/>
              <a:t>2026-10-23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1E015B-8643-B9DB-FA9A-9E47186F5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5BDF4-B319-9E11-8BFE-A4E87FFC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7F72-741C-4C44-80D1-A58F1969E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42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52968" y="330201"/>
            <a:ext cx="11267017" cy="40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9825" y="6111400"/>
            <a:ext cx="120700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8E6B2AA6-7579-41A6-8291-2454539AB75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" y="6137101"/>
            <a:ext cx="2395311" cy="689447"/>
          </a:xfrm>
          <a:prstGeom prst="rect">
            <a:avLst/>
          </a:prstGeom>
          <a:ln>
            <a:noFill/>
          </a:ln>
        </p:spPr>
      </p:pic>
      <p:pic>
        <p:nvPicPr>
          <p:cNvPr id="21" name="Picture 20"/>
          <p:cNvPicPr/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803" y="6131857"/>
            <a:ext cx="1364827" cy="6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8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600" b="1" i="0" baseline="0" dirty="0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 i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pitchFamily="27" charset="0"/>
          <a:ea typeface="ＭＳ Ｐゴシック" pitchFamily="-112" charset="-128"/>
          <a:cs typeface="ＭＳ Ｐゴシック" pitchFamily="-112" charset="-128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 i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pitchFamily="27" charset="0"/>
          <a:ea typeface="ＭＳ Ｐゴシック" pitchFamily="-112" charset="-128"/>
          <a:cs typeface="ＭＳ Ｐゴシック" pitchFamily="-112" charset="-128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 i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pitchFamily="27" charset="0"/>
          <a:ea typeface="ＭＳ Ｐゴシック" pitchFamily="-112" charset="-128"/>
          <a:cs typeface="ＭＳ Ｐゴシック" pitchFamily="-112" charset="-128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 i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pitchFamily="27" charset="0"/>
          <a:ea typeface="ＭＳ Ｐゴシック" pitchFamily="-112" charset="-128"/>
          <a:cs typeface="ＭＳ Ｐゴシック" pitchFamily="-112" charset="-128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 i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pitchFamily="27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 i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pitchFamily="27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 i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pitchFamily="27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 i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pitchFamily="27" charset="0"/>
        </a:defRPr>
      </a:lvl9pPr>
    </p:titleStyle>
    <p:bodyStyle>
      <a:lvl1pPr marL="282575" indent="-282575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Wingdings" charset="2"/>
        <a:buChar char="n"/>
        <a:defRPr sz="22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685800" indent="-288925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Arial" charset="0"/>
        <a:buChar char="–"/>
        <a:defRPr sz="2000">
          <a:solidFill>
            <a:schemeClr val="tx1"/>
          </a:solidFill>
          <a:latin typeface="+mn-lt"/>
          <a:ea typeface="ＭＳ Ｐゴシック" pitchFamily="27" charset="-128"/>
        </a:defRPr>
      </a:lvl2pPr>
      <a:lvl3pPr marL="968375" indent="-168275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Times" charset="0"/>
        <a:buChar char="•"/>
        <a:defRPr sz="1800" i="1">
          <a:solidFill>
            <a:schemeClr val="tx1"/>
          </a:solidFill>
          <a:latin typeface="+mn-lt"/>
          <a:ea typeface="ＭＳ Ｐゴシック" pitchFamily="27" charset="-128"/>
        </a:defRPr>
      </a:lvl3pPr>
      <a:lvl4pPr marL="1363663" indent="-280988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Times" charset="0"/>
        <a:buChar char="–"/>
        <a:defRPr sz="1600">
          <a:solidFill>
            <a:schemeClr val="tx1"/>
          </a:solidFill>
          <a:latin typeface="+mn-lt"/>
          <a:ea typeface="ＭＳ Ｐゴシック" pitchFamily="27" charset="-128"/>
        </a:defRPr>
      </a:lvl4pPr>
      <a:lvl5pPr marL="1652588" indent="-174625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Times" charset="0"/>
        <a:buChar char="•"/>
        <a:defRPr sz="1400" i="1">
          <a:solidFill>
            <a:schemeClr val="tx1"/>
          </a:solidFill>
          <a:latin typeface="+mn-lt"/>
          <a:ea typeface="ＭＳ Ｐゴシック" pitchFamily="27" charset="-128"/>
        </a:defRPr>
      </a:lvl5pPr>
      <a:lvl6pPr marL="2109788" indent="-174625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Times" pitchFamily="27" charset="0"/>
        <a:buChar char="•"/>
        <a:defRPr i="1">
          <a:solidFill>
            <a:schemeClr val="tx1"/>
          </a:solidFill>
          <a:latin typeface="+mn-lt"/>
          <a:ea typeface="ＭＳ Ｐゴシック" pitchFamily="27" charset="-128"/>
        </a:defRPr>
      </a:lvl6pPr>
      <a:lvl7pPr marL="2566988" indent="-174625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Times" pitchFamily="27" charset="0"/>
        <a:buChar char="•"/>
        <a:defRPr i="1">
          <a:solidFill>
            <a:schemeClr val="tx1"/>
          </a:solidFill>
          <a:latin typeface="+mn-lt"/>
          <a:ea typeface="ＭＳ Ｐゴシック" pitchFamily="27" charset="-128"/>
        </a:defRPr>
      </a:lvl7pPr>
      <a:lvl8pPr marL="3024188" indent="-174625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Times" pitchFamily="27" charset="0"/>
        <a:buChar char="•"/>
        <a:defRPr i="1">
          <a:solidFill>
            <a:schemeClr val="tx1"/>
          </a:solidFill>
          <a:latin typeface="+mn-lt"/>
          <a:ea typeface="ＭＳ Ｐゴシック" pitchFamily="27" charset="-128"/>
        </a:defRPr>
      </a:lvl8pPr>
      <a:lvl9pPr marL="3481388" indent="-174625" algn="l" rtl="0" eaLnBrk="1" fontAlgn="base" hangingPunct="1">
        <a:spcBef>
          <a:spcPct val="10000"/>
        </a:spcBef>
        <a:spcAft>
          <a:spcPct val="10000"/>
        </a:spcAft>
        <a:buClr>
          <a:srgbClr val="800000"/>
        </a:buClr>
        <a:buFont typeface="Times" pitchFamily="27" charset="0"/>
        <a:buChar char="•"/>
        <a:defRPr i="1">
          <a:solidFill>
            <a:schemeClr val="tx1"/>
          </a:solidFill>
          <a:latin typeface="+mn-lt"/>
          <a:ea typeface="ＭＳ Ｐゴシック" pitchFamily="2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8EBEA9-89F3-ACF2-7BD1-439EE6097BB5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/>
              <a:t>WISTR Safety Analysis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2C2AEDF-31D9-B7E7-27A9-2BA2C526EEE8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dirty="0"/>
              <a:t>Hangyu Lee and Won Sik Yang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29ECA-FACF-6701-0278-23BA50B487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October 28,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0614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DA87B5-57AD-0032-6503-E8FFFC61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WISTR Reactor Coolant System Design</a:t>
            </a:r>
            <a:endParaRPr lang="ko-KR" altLang="en-US" dirty="0"/>
          </a:p>
        </p:txBody>
      </p:sp>
      <p:sp>
        <p:nvSpPr>
          <p:cNvPr id="66" name="Content Placeholder 65">
            <a:extLst>
              <a:ext uri="{FF2B5EF4-FFF2-40B4-BE49-F238E27FC236}">
                <a16:creationId xmlns:a16="http://schemas.microsoft.com/office/drawing/2014/main" id="{C9AA415D-A158-3E5A-D063-203728CC4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4" y="874567"/>
            <a:ext cx="5634565" cy="5653232"/>
          </a:xfrm>
        </p:spPr>
        <p:txBody>
          <a:bodyPr/>
          <a:lstStyle/>
          <a:p>
            <a:r>
              <a:rPr lang="en-US" altLang="ko-KR" dirty="0"/>
              <a:t>Reactor coolant system</a:t>
            </a:r>
          </a:p>
          <a:p>
            <a:pPr lvl="1"/>
            <a:r>
              <a:rPr lang="en-US" altLang="ko-KR" dirty="0"/>
              <a:t>1,500 MWt, with static chloride fuel salt in six tanks and coolant salt flowing through 24,576 tubes in the fuel</a:t>
            </a:r>
          </a:p>
          <a:p>
            <a:pPr lvl="1"/>
            <a:r>
              <a:rPr lang="en-US" altLang="ko-KR" dirty="0"/>
              <a:t>Three primary loops with a total coolant flow rate of 18,500 kg/s</a:t>
            </a:r>
            <a:r>
              <a:rPr lang="en-US" altLang="ko-KR" strike="sngStrike" dirty="0"/>
              <a:t> </a:t>
            </a:r>
            <a:r>
              <a:rPr lang="en-US" altLang="ko-KR" dirty="0"/>
              <a:t>and core inlet / outlet temperatures of 810 / 890 K</a:t>
            </a:r>
          </a:p>
          <a:p>
            <a:pPr lvl="1"/>
            <a:r>
              <a:rPr lang="en-US" altLang="ko-KR" dirty="0"/>
              <a:t>Supercritical SGs at 24 MPa</a:t>
            </a:r>
            <a:endParaRPr lang="en-US" altLang="ko-KR" strike="sngStrike" dirty="0"/>
          </a:p>
          <a:p>
            <a:pPr lvl="1"/>
            <a:r>
              <a:rPr lang="en-US" altLang="ko-KR" dirty="0"/>
              <a:t>Passive air cooling for decay heat removal: SGACS (Steam Generator Auxiliary Cooling System) and </a:t>
            </a:r>
            <a:r>
              <a:rPr lang="en-US" altLang="ko-KR" dirty="0" err="1"/>
              <a:t>RVACS</a:t>
            </a:r>
            <a:r>
              <a:rPr lang="en-US" altLang="ko-KR" dirty="0"/>
              <a:t> (Reactor Vessel Auxiliary Cooling System)</a:t>
            </a:r>
          </a:p>
          <a:p>
            <a:r>
              <a:rPr lang="en-US" altLang="ko-KR" dirty="0"/>
              <a:t>Safety design features</a:t>
            </a:r>
          </a:p>
          <a:p>
            <a:pPr lvl="1"/>
            <a:r>
              <a:rPr lang="en-US" altLang="ko-KR" dirty="0"/>
              <a:t>Strong negative feedback from liquid fuel expansion (-7.8 pcm/K)</a:t>
            </a:r>
          </a:p>
          <a:p>
            <a:pPr lvl="1"/>
            <a:r>
              <a:rPr lang="en-US" altLang="ko-KR" dirty="0"/>
              <a:t>Two independent gas pressure-driven absorber salt injection systems and fuel salt drain</a:t>
            </a:r>
          </a:p>
          <a:p>
            <a:pPr lvl="1"/>
            <a:r>
              <a:rPr lang="en-US" altLang="ko-KR" dirty="0"/>
              <a:t>Passive decay heat removal systems</a:t>
            </a:r>
            <a:endParaRPr lang="en-US" altLang="ko-KR" strike="sngStrike" dirty="0"/>
          </a:p>
        </p:txBody>
      </p:sp>
      <p:pic>
        <p:nvPicPr>
          <p:cNvPr id="67" name="Content Placeholder 63">
            <a:extLst>
              <a:ext uri="{FF2B5EF4-FFF2-40B4-BE49-F238E27FC236}">
                <a16:creationId xmlns:a16="http://schemas.microsoft.com/office/drawing/2014/main" id="{1D9417E6-7EC1-D4BB-C88A-594DE5A3F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271" y="800968"/>
            <a:ext cx="5949695" cy="525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589FE79-26AA-2AFF-C6F3-D85375D6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4" y="874567"/>
            <a:ext cx="5634566" cy="4810364"/>
          </a:xfrm>
        </p:spPr>
        <p:txBody>
          <a:bodyPr/>
          <a:lstStyle/>
          <a:p>
            <a:r>
              <a:rPr lang="en-US" altLang="ko-KR" dirty="0"/>
              <a:t>One-dimensional SAM model of the primary circuit</a:t>
            </a:r>
          </a:p>
          <a:p>
            <a:pPr lvl="1"/>
            <a:r>
              <a:rPr lang="en-US" altLang="ko-KR" dirty="0"/>
              <a:t>Six radial regions, each with an interior and a near-wall channel, and fuel salt as the heat structure</a:t>
            </a:r>
          </a:p>
          <a:p>
            <a:pPr lvl="1"/>
            <a:r>
              <a:rPr lang="en-US" altLang="ko-KR" dirty="0"/>
              <a:t>Dual-loop configuration for single-loop failure scenarios</a:t>
            </a:r>
          </a:p>
          <a:p>
            <a:pPr lvl="1"/>
            <a:r>
              <a:rPr lang="en-US" altLang="ko-KR" dirty="0"/>
              <a:t>U-tube supercritical steam generator</a:t>
            </a:r>
            <a:endParaRPr lang="en-US" altLang="ko-KR" strike="sngStrike" dirty="0"/>
          </a:p>
          <a:p>
            <a:pPr lvl="1"/>
            <a:r>
              <a:rPr lang="en-US" altLang="ko-KR" dirty="0"/>
              <a:t>SGACS and </a:t>
            </a:r>
            <a:r>
              <a:rPr lang="en-US" altLang="ko-KR" dirty="0" err="1"/>
              <a:t>RVACS</a:t>
            </a:r>
            <a:r>
              <a:rPr lang="en-US" altLang="ko-KR" dirty="0"/>
              <a:t> as 30 m natural-draught air paths</a:t>
            </a:r>
          </a:p>
          <a:p>
            <a:r>
              <a:rPr lang="en-US" altLang="ko-KR" dirty="0"/>
              <a:t>Point kinetics with spatially dependent reactivity feedback (evaluated with PERSENT) and ANS-5.1 decay heat</a:t>
            </a:r>
          </a:p>
          <a:p>
            <a:r>
              <a:rPr lang="en-US" altLang="ko-KR" dirty="0"/>
              <a:t>Shutdown worth of absorber salt injection systems evaluated from OpenMC and the absorber salt injection kinetics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7FDB1E-D5F8-5A7E-0443-271BD5E0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 </a:t>
            </a:r>
            <a:r>
              <a:rPr lang="en-US" altLang="ko-KR" dirty="0" err="1"/>
              <a:t>Nodalization</a:t>
            </a:r>
            <a:r>
              <a:rPr lang="en-US" altLang="ko-KR" dirty="0"/>
              <a:t> Diagram for WISTR Reactor Coolant System</a:t>
            </a:r>
            <a:endParaRPr lang="ko-KR" alt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A179F68-5395-F21B-9DEC-FBE654C70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388" y="1023817"/>
            <a:ext cx="5299178" cy="481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0D229-8264-9CBF-C92E-CFAFA4470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4" y="874565"/>
            <a:ext cx="11222567" cy="4566115"/>
          </a:xfrm>
        </p:spPr>
        <p:txBody>
          <a:bodyPr/>
          <a:lstStyle/>
          <a:p>
            <a:r>
              <a:rPr lang="en-US" altLang="ko-KR" dirty="0"/>
              <a:t>Safety Design of WISTR</a:t>
            </a:r>
          </a:p>
          <a:p>
            <a:pPr lvl="1"/>
            <a:r>
              <a:rPr lang="en-US" altLang="ko-KR" dirty="0"/>
              <a:t>Inherent power self-regulation by fuel expansion feedback</a:t>
            </a:r>
          </a:p>
          <a:p>
            <a:pPr lvl="1"/>
            <a:r>
              <a:rPr lang="en-US" altLang="ko-KR" dirty="0"/>
              <a:t>Highly reliable shutdown by two independent absorber salt injection systems and fuel salt drain</a:t>
            </a:r>
          </a:p>
          <a:p>
            <a:pPr lvl="1"/>
            <a:r>
              <a:rPr lang="en-US" altLang="ko-KR" dirty="0"/>
              <a:t>Passive decay heat removal by SGACS and </a:t>
            </a:r>
            <a:r>
              <a:rPr lang="en-US" altLang="ko-KR" dirty="0" err="1"/>
              <a:t>RVACS</a:t>
            </a:r>
            <a:endParaRPr lang="en-US" altLang="ko-KR" dirty="0"/>
          </a:p>
          <a:p>
            <a:r>
              <a:rPr lang="en-US" altLang="ko-KR" dirty="0"/>
              <a:t>Investigation of Inherent Safety Characteristics </a:t>
            </a:r>
          </a:p>
          <a:p>
            <a:pPr lvl="1"/>
            <a:r>
              <a:rPr lang="en-US" altLang="ko-KR" dirty="0"/>
              <a:t>Examined limiting scenarios beyond design basis events</a:t>
            </a:r>
          </a:p>
          <a:p>
            <a:pPr lvl="1"/>
            <a:r>
              <a:rPr lang="en-US" altLang="ko-KR" dirty="0"/>
              <a:t>Evaluate inherent power self-regulation for selected unprotected reactivity- and flow-induced accident scenarios.</a:t>
            </a:r>
          </a:p>
          <a:p>
            <a:r>
              <a:rPr lang="en-US" altLang="ko-KR" dirty="0"/>
              <a:t>Currently Analyzed Accident Scenarios</a:t>
            </a:r>
            <a:endParaRPr lang="en-US" altLang="ko-KR" strike="sngStrike" dirty="0"/>
          </a:p>
          <a:p>
            <a:pPr lvl="1"/>
            <a:r>
              <a:rPr lang="en-US" altLang="ko-KR" dirty="0"/>
              <a:t>Protected station blackout (SBO) to access passive decay heat removal capability</a:t>
            </a:r>
          </a:p>
          <a:p>
            <a:pPr lvl="2"/>
            <a:r>
              <a:rPr lang="en-US" altLang="ko-KR" dirty="0"/>
              <a:t>Loss of off-site power and emergency DGs but reactor shutdown by absorber salt injection</a:t>
            </a:r>
          </a:p>
          <a:p>
            <a:pPr lvl="1"/>
            <a:r>
              <a:rPr lang="en-US" altLang="ko-KR" dirty="0"/>
              <a:t>Reactivity and flow induced accidents with assumed failure of reactor shutdown</a:t>
            </a:r>
          </a:p>
          <a:p>
            <a:pPr lvl="2"/>
            <a:r>
              <a:rPr lang="en-US" altLang="ko-KR" dirty="0"/>
              <a:t>Unprotected transient overpower (UTOP) accident: step reactivity insertion of 50 pcm (1-week refueling worth)</a:t>
            </a:r>
          </a:p>
          <a:p>
            <a:pPr lvl="2"/>
            <a:r>
              <a:rPr lang="en-US" altLang="ko-KR" dirty="0"/>
              <a:t>Unprotected pump overspeed (UPOS) and unprotected loss of flow (ULOF) accidents: malfunction of single or all primary pump(s)</a:t>
            </a:r>
          </a:p>
          <a:p>
            <a:endParaRPr lang="en-US" altLang="ko-K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26575E-6E51-A090-A061-6F5034B7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68" y="330201"/>
            <a:ext cx="11267017" cy="406265"/>
          </a:xfrm>
        </p:spPr>
        <p:txBody>
          <a:bodyPr/>
          <a:lstStyle/>
          <a:p>
            <a:r>
              <a:rPr lang="en-US" altLang="ko-KR" dirty="0"/>
              <a:t>WISTR Safety Strategy and Accidents Scenarios</a:t>
            </a:r>
            <a:endParaRPr lang="ko-KR" alt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361755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C156AA-27CF-D95E-F982-38E369B8DD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7888751"/>
              </p:ext>
            </p:extLst>
          </p:nvPr>
        </p:nvGraphicFramePr>
        <p:xfrm>
          <a:off x="258620" y="930130"/>
          <a:ext cx="11774884" cy="4053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1308">
                  <a:extLst>
                    <a:ext uri="{9D8B030D-6E8A-4147-A177-3AD203B41FA5}">
                      <a16:colId xmlns:a16="http://schemas.microsoft.com/office/drawing/2014/main" val="2095509407"/>
                    </a:ext>
                  </a:extLst>
                </a:gridCol>
                <a:gridCol w="1257374">
                  <a:extLst>
                    <a:ext uri="{9D8B030D-6E8A-4147-A177-3AD203B41FA5}">
                      <a16:colId xmlns:a16="http://schemas.microsoft.com/office/drawing/2014/main" val="3375930325"/>
                    </a:ext>
                  </a:extLst>
                </a:gridCol>
                <a:gridCol w="1905448">
                  <a:extLst>
                    <a:ext uri="{9D8B030D-6E8A-4147-A177-3AD203B41FA5}">
                      <a16:colId xmlns:a16="http://schemas.microsoft.com/office/drawing/2014/main" val="1388774248"/>
                    </a:ext>
                  </a:extLst>
                </a:gridCol>
                <a:gridCol w="1284242">
                  <a:extLst>
                    <a:ext uri="{9D8B030D-6E8A-4147-A177-3AD203B41FA5}">
                      <a16:colId xmlns:a16="http://schemas.microsoft.com/office/drawing/2014/main" val="237547872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6943073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07171949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3202158042"/>
                    </a:ext>
                  </a:extLst>
                </a:gridCol>
                <a:gridCol w="1478248">
                  <a:extLst>
                    <a:ext uri="{9D8B030D-6E8A-4147-A177-3AD203B41FA5}">
                      <a16:colId xmlns:a16="http://schemas.microsoft.com/office/drawing/2014/main" val="40077927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 class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Station Blackout (SBO)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Reactivity induced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rate induced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6093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Protected SBO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UTOP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UPOS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ULOF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UPOS, single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ULOF, single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0783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Initiating events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of all on-site power w. scram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Fresh fuel charge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 power doubled, all loops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 power lost, all loops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 power doubled, single loop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 power lost, </a:t>
                      </a:r>
                      <a:r>
                        <a:rPr lang="en-US" altLang="ko-KR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loop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6210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Transient variable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 head to zero, feedwater to zero, -6,700 pcm in 20 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reactivity of 50 pcm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 head +56% (5 s)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Pump head to zero (5 s)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pump head +56% (5 s)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pump head to zero (5 s)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15206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altLang="ko-KR" sz="1500" strike="noStrik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 Temperature (K)</a:t>
                      </a:r>
                      <a:endParaRPr lang="ko-KR" altLang="en-US" sz="1500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strike="noStrik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Fuel </a:t>
                      </a:r>
                      <a:r>
                        <a:rPr lang="en-US" sz="1500" strike="noStrike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500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1,151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1,148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1,163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1,145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1,160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7645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strike="noStrik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Coolant</a:t>
                      </a:r>
                      <a:r>
                        <a:rPr lang="en-US" altLang="ko-KR" sz="1500" strike="noStrike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US" sz="1500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1,005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892</a:t>
                      </a:r>
                    </a:p>
                  </a:txBody>
                  <a:tcPr marL="45720" marR="4572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950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96876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strike="noStrik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Wall</a:t>
                      </a:r>
                      <a:r>
                        <a:rPr lang="en-US" altLang="ko-KR" sz="1500" strike="noStrike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***</a:t>
                      </a:r>
                      <a:endParaRPr lang="en-US" sz="1500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1,042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928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988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26909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 power (%)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 rise)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101.6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 rise)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5731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Asymptotic power (%)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68.3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100.7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86.6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139829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9AC28F6-BAC8-9CE4-0A9B-CC1D59FB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Analyzed Accident Scenarios</a:t>
            </a:r>
            <a:endParaRPr lang="en-US" strike="sngStrik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7C652C-8191-88CC-BF47-C8EAD43F6B1C}"/>
              </a:ext>
            </a:extLst>
          </p:cNvPr>
          <p:cNvSpPr txBox="1"/>
          <p:nvPr/>
        </p:nvSpPr>
        <p:spPr>
          <a:xfrm>
            <a:off x="258620" y="5057885"/>
            <a:ext cx="7132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dirty="0"/>
              <a:t>*Fuel boiling point: 1,837 K; design limit of fuel temperature: 1600 K</a:t>
            </a:r>
          </a:p>
          <a:p>
            <a:r>
              <a:rPr lang="en-US" altLang="ko-KR" sz="1200" i="1" dirty="0"/>
              <a:t>**Coolant boiling point: 1,383 K; design limit of coolant temperature: 1200 K</a:t>
            </a:r>
          </a:p>
          <a:p>
            <a:r>
              <a:rPr lang="en-US" altLang="ko-KR" sz="1200" i="1" dirty="0"/>
              <a:t>***</a:t>
            </a:r>
            <a:r>
              <a:rPr lang="en-US" altLang="ko-KR" sz="1200" i="1" dirty="0" err="1"/>
              <a:t>SS316</a:t>
            </a:r>
            <a:r>
              <a:rPr lang="en-US" altLang="ko-KR" sz="1200" i="1" dirty="0"/>
              <a:t> service limit (ASME Sec. III, Div. 5): 1,089K; design limit of structure temperature: 1050 K</a:t>
            </a:r>
            <a:endParaRPr lang="ko-KR" alt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06854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D6195B-6C85-1CC3-51A5-05C3A29F9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Wall Temperature Evolution in Unprotected Accidents</a:t>
            </a:r>
            <a:endParaRPr lang="ko-KR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D18D71-934A-3CF8-1F03-F3A83BC12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740" y="1060704"/>
            <a:ext cx="7095472" cy="473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4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C0C9B3-2672-2650-C826-E3737691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Wall Temperature Evolution in Protected SBO Scenario</a:t>
            </a:r>
            <a:endParaRPr lang="ko-KR" alt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5B3E075-5891-3CA3-1BAE-940422BF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Initial decrease due to the reactor shutdown and pump coast down</a:t>
            </a:r>
          </a:p>
          <a:p>
            <a:r>
              <a:rPr lang="en-US" altLang="ko-KR" dirty="0"/>
              <a:t>Then increase due to decay heat until the decay heat removal capacity matches the decay heat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0566D-1ADF-8D44-8349-D85B6EFBB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692" y="1688636"/>
            <a:ext cx="6496050" cy="41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3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8D42BD-8380-77B0-A6D1-F137C82F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4" y="874567"/>
            <a:ext cx="11222567" cy="1178904"/>
          </a:xfrm>
        </p:spPr>
        <p:txBody>
          <a:bodyPr/>
          <a:lstStyle/>
          <a:p>
            <a:r>
              <a:rPr lang="en-US" altLang="ko-KR" dirty="0"/>
              <a:t>200–1,000 s: Net heat accumulation begins at ~200 s and triggers delayed flow recovery after ~400 s.</a:t>
            </a:r>
          </a:p>
          <a:p>
            <a:r>
              <a:rPr lang="en-US" altLang="ko-KR" dirty="0"/>
              <a:t>After 1,000 s: Declining decay heat gradually reduces natural circulation flow.</a:t>
            </a:r>
          </a:p>
          <a:p>
            <a:endParaRPr lang="ko-KR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19F7C3-74C8-D1EA-AC96-A371DDE2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Natural Circulation and Heat Balance in Protected SBO Scenario</a:t>
            </a:r>
            <a:endParaRPr lang="ko-KR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1CC767-7CC1-A67E-5F05-7F1A1F793020}"/>
              </a:ext>
            </a:extLst>
          </p:cNvPr>
          <p:cNvGrpSpPr/>
          <p:nvPr/>
        </p:nvGrpSpPr>
        <p:grpSpPr>
          <a:xfrm>
            <a:off x="193498" y="1753365"/>
            <a:ext cx="11758437" cy="4230068"/>
            <a:chOff x="-100070" y="1681741"/>
            <a:chExt cx="12134325" cy="43967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257708-6DFC-8BE5-738C-3A3F2C5D3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00070" y="1681741"/>
              <a:ext cx="6051402" cy="394366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0FBF384-6AC3-1D7C-5E77-2E8C8315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681741"/>
              <a:ext cx="5938255" cy="43967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865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FDE6A-8E29-2E58-B1E0-C7D1A01EE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4" y="874566"/>
            <a:ext cx="11222567" cy="4769878"/>
          </a:xfrm>
        </p:spPr>
        <p:txBody>
          <a:bodyPr/>
          <a:lstStyle/>
          <a:p>
            <a:r>
              <a:rPr lang="en-US" altLang="ko-KR" dirty="0"/>
              <a:t>WISTR safety features</a:t>
            </a:r>
          </a:p>
          <a:p>
            <a:pPr lvl="1"/>
            <a:r>
              <a:rPr lang="en-US" altLang="ko-KR" dirty="0"/>
              <a:t>Static liquid fuel gives a strong, prompt negative feedback.</a:t>
            </a:r>
          </a:p>
          <a:p>
            <a:pPr lvl="1"/>
            <a:r>
              <a:rPr lang="en-US" altLang="ko-KR" dirty="0"/>
              <a:t>Shutdown and decay heat removal need no electric power (absorber injection systems, SGACS, and </a:t>
            </a:r>
            <a:r>
              <a:rPr lang="en-US" altLang="ko-KR" dirty="0" err="1"/>
              <a:t>RVACS</a:t>
            </a:r>
            <a:r>
              <a:rPr lang="en-US" altLang="ko-KR" dirty="0"/>
              <a:t>).</a:t>
            </a:r>
          </a:p>
          <a:p>
            <a:r>
              <a:rPr lang="en-US" altLang="ko-KR" dirty="0"/>
              <a:t>Safety analysis study</a:t>
            </a:r>
          </a:p>
          <a:p>
            <a:pPr lvl="1"/>
            <a:r>
              <a:rPr lang="en-US" altLang="ko-KR" dirty="0"/>
              <a:t>SAM safety analysis models of the WISTR primary circuit with spatially dependent thermal feedback and passive heat removal systems were developed.</a:t>
            </a:r>
          </a:p>
          <a:p>
            <a:pPr lvl="1"/>
            <a:r>
              <a:rPr lang="en-US" altLang="ko-KR" dirty="0"/>
              <a:t>Margins to the fuel and structural design limits were quantified.</a:t>
            </a:r>
            <a:endParaRPr lang="en-US" altLang="ko-KR" strike="sngStrike" dirty="0"/>
          </a:p>
          <a:p>
            <a:r>
              <a:rPr lang="en-US" altLang="ko-KR" dirty="0"/>
              <a:t>Demonstrated inherent power self-regulation under various unprotected scenarios</a:t>
            </a:r>
          </a:p>
          <a:p>
            <a:pPr lvl="1"/>
            <a:r>
              <a:rPr lang="en-US" altLang="ko-KR" dirty="0"/>
              <a:t>Strong negative fuel expansion feedback effectively shuts down the reactor.</a:t>
            </a:r>
          </a:p>
          <a:p>
            <a:pPr lvl="1"/>
            <a:r>
              <a:rPr lang="en-US" altLang="ko-KR" dirty="0"/>
              <a:t>Reactor power and temperatures approach stable conditions without SCRAM in the selected UTOP, </a:t>
            </a:r>
            <a:r>
              <a:rPr lang="en-US" altLang="ko-KR" dirty="0" err="1"/>
              <a:t>UPOS</a:t>
            </a:r>
            <a:r>
              <a:rPr lang="en-US" altLang="ko-KR" dirty="0"/>
              <a:t>, and ULOF scenarios.</a:t>
            </a:r>
          </a:p>
          <a:p>
            <a:r>
              <a:rPr lang="en-US" altLang="ko-KR" dirty="0"/>
              <a:t>Confirmed passive decay heat removal capability</a:t>
            </a:r>
          </a:p>
          <a:p>
            <a:pPr lvl="1"/>
            <a:r>
              <a:rPr lang="en-US" altLang="ko-KR" dirty="0"/>
              <a:t>SGACS and </a:t>
            </a:r>
            <a:r>
              <a:rPr lang="en-US" altLang="ko-KR" dirty="0" err="1"/>
              <a:t>RVACS</a:t>
            </a:r>
            <a:r>
              <a:rPr lang="en-US" altLang="ko-KR" dirty="0"/>
              <a:t> provide long-term decay heat removal through natural air circulation.</a:t>
            </a:r>
          </a:p>
          <a:p>
            <a:pPr lvl="1"/>
            <a:r>
              <a:rPr lang="en-US" altLang="ko-KR" dirty="0"/>
              <a:t>In the protected SBO scenario, decay heat is removed passively through SGACS.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D83C1F-CAA6-9F0D-0B9F-9DE8A219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283080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131313"/>
      </a:dk1>
      <a:lt1>
        <a:srgbClr val="FFFFFF"/>
      </a:lt1>
      <a:dk2>
        <a:srgbClr val="0071BC"/>
      </a:dk2>
      <a:lt2>
        <a:srgbClr val="808080"/>
      </a:lt2>
      <a:accent1>
        <a:srgbClr val="00A650"/>
      </a:accent1>
      <a:accent2>
        <a:srgbClr val="B02A30"/>
      </a:accent2>
      <a:accent3>
        <a:srgbClr val="FFFFFF"/>
      </a:accent3>
      <a:accent4>
        <a:srgbClr val="0E0E0E"/>
      </a:accent4>
      <a:accent5>
        <a:srgbClr val="AAD0B3"/>
      </a:accent5>
      <a:accent6>
        <a:srgbClr val="9F252A"/>
      </a:accent6>
      <a:hlink>
        <a:srgbClr val="00ADEF"/>
      </a:hlink>
      <a:folHlink>
        <a:srgbClr val="693163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27" charset="0"/>
            <a:ea typeface="MS PGothic" pitchFamily="34" charset="-128"/>
            <a:cs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27" charset="0"/>
            <a:ea typeface="MS PGothic" pitchFamily="34" charset="-128"/>
            <a:cs typeface="MS PGothic" pitchFamily="34" charset="-128"/>
          </a:defRPr>
        </a:defPPr>
      </a:lstStyle>
    </a:lnDef>
  </a:objectDefaults>
  <a:extraClrSchemeLst>
    <a:extraClrScheme>
      <a:clrScheme name="Default Design 1">
        <a:dk1>
          <a:srgbClr val="131313"/>
        </a:dk1>
        <a:lt1>
          <a:srgbClr val="FFFFFF"/>
        </a:lt1>
        <a:dk2>
          <a:srgbClr val="0071BC"/>
        </a:dk2>
        <a:lt2>
          <a:srgbClr val="808080"/>
        </a:lt2>
        <a:accent1>
          <a:srgbClr val="00A650"/>
        </a:accent1>
        <a:accent2>
          <a:srgbClr val="FFC20E"/>
        </a:accent2>
        <a:accent3>
          <a:srgbClr val="FFFFFF"/>
        </a:accent3>
        <a:accent4>
          <a:srgbClr val="0E0E0E"/>
        </a:accent4>
        <a:accent5>
          <a:srgbClr val="AAD0B3"/>
        </a:accent5>
        <a:accent6>
          <a:srgbClr val="E7B00C"/>
        </a:accent6>
        <a:hlink>
          <a:srgbClr val="00ADEF"/>
        </a:hlink>
        <a:folHlink>
          <a:srgbClr val="69316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RDSLtemplate.pptx" id="{C1DDD78B-E51C-48AA-882D-2A77D88CB264}" vid="{B1DE3C96-BAA8-4868-B9B1-6D70C271055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4945</TotalTime>
  <Words>827</Words>
  <Application>Microsoft Office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맑은 고딕</vt:lpstr>
      <vt:lpstr>Aptos</vt:lpstr>
      <vt:lpstr>Arial</vt:lpstr>
      <vt:lpstr>Times</vt:lpstr>
      <vt:lpstr>Times New Roman</vt:lpstr>
      <vt:lpstr>Wingdings</vt:lpstr>
      <vt:lpstr>Default Design</vt:lpstr>
      <vt:lpstr>WISTR Safety Analysis</vt:lpstr>
      <vt:lpstr>WISTR Reactor Coolant System Design</vt:lpstr>
      <vt:lpstr>SAM Nodalization Diagram for WISTR Reactor Coolant System</vt:lpstr>
      <vt:lpstr>WISTR Safety Strategy and Accidents Scenarios</vt:lpstr>
      <vt:lpstr>Summary of Analyzed Accident Scenarios</vt:lpstr>
      <vt:lpstr>Wall Temperature Evolution in Unprotected Accidents</vt:lpstr>
      <vt:lpstr>Wall Temperature Evolution in Protected SBO Scenario</vt:lpstr>
      <vt:lpstr>Natural Circulation and Heat Balance in Protected SBO Scenario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HanGyu Lee</dc:creator>
  <cp:lastModifiedBy>Lee, Hangyu</cp:lastModifiedBy>
  <cp:revision>281</cp:revision>
  <dcterms:created xsi:type="dcterms:W3CDTF">2024-05-18T22:38:06Z</dcterms:created>
  <dcterms:modified xsi:type="dcterms:W3CDTF">2026-10-23T19:36:31Z</dcterms:modified>
</cp:coreProperties>
</file>