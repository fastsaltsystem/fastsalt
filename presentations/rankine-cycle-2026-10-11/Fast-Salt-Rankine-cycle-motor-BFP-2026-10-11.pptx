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162bf686344289" /><Relationship Type="http://schemas.openxmlformats.org/officeDocument/2006/relationships/extended-properties" Target="/docProps/app.xml" Id="Rfbe3c84cdcb24d30" /><Relationship Type="http://schemas.openxmlformats.org/officeDocument/2006/relationships/officeDocument" Target="/ppt/presentation.xml" Id="Re31b581d280145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9508d303374438"/>
  </p:sldMasterIdLst>
  <p:notesMasterIdLst>
    <p:notesMasterId xmlns:r="http://schemas.openxmlformats.org/officeDocument/2006/relationships" r:id="R0e4ee162a972421a"/>
  </p:notesMasterIdLst>
  <p:sldIdLst>
    <p:sldId xmlns:r="http://schemas.openxmlformats.org/officeDocument/2006/relationships" id="256" r:id="R57d7e5cd3cf345f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f7a24a74254abb" /><Relationship Type="http://schemas.openxmlformats.org/officeDocument/2006/relationships/slideMaster" Target="/ppt/slideMasters/slideMaster1.xml" Id="Rc69508d303374438" /><Relationship Type="http://schemas.openxmlformats.org/officeDocument/2006/relationships/notesMaster" Target="/ppt/notesMasters/notesMaster1.xml" Id="R0e4ee162a972421a" /><Relationship Type="http://schemas.openxmlformats.org/officeDocument/2006/relationships/presProps" Target="/ppt/presProps.xml" Id="R4d3bd0a18490490c" /><Relationship Type="http://schemas.openxmlformats.org/officeDocument/2006/relationships/tableStyles" Target="/ppt/tableStyles.xml" Id="R6d6f0ca264734ff8" /><Relationship Type="http://schemas.openxmlformats.org/officeDocument/2006/relationships/slide" Target="/ppt/slides/slide1.xml" Id="R57d7e5cd3cf345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305bf0829343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818eacee2c4e35" /><Relationship Type="http://schemas.openxmlformats.org/officeDocument/2006/relationships/notesMaster" Target="/ppt/notesMasters/notesMaster1.xml" Id="Rdfae4e3163be4e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 Salt System — motor-driven boiler feed pump alternative, 11 October 2026. Layout adapted from the prior editable cycle diagram, originating with Thomas J. Wielenga's supplied Diagram.pdf (23 April 2025). Source: /Users/thomaswielenga/Documents/dev/fastSalt/calculations/power-cycle/bfp-drive-comparison.json, proposed_pressure_comparison.electric, SHA-256 8c4b58352f462978f624f7b458e67b1e25122fee611ecb87cb70b12b5f2c3b79. Original common state source: /Users/thomaswielenga/Documents/dev/fastSalt/calculations/power-cycle/reheat-selection.json, SHA-256 eda8391e0fef20ae71c36a711a8f8fc8142972914360429a6b1b6119fb9be455. Cooling envelope: /Users/thomaswielenga/Documents/dev/fastSalt/calculations/power-cycle/cooling-cases.json, SHA-256 32fd8be3088d9b5aa524099a49a3020161819c29b404022b83f28185006417ac. Official calculation: calculations/power-cycle/BFP drive comparison - Hurmet.md. All pressures absolute. Main flow 711.6702463557692 kg/s; gross 697.0852550532251 MW; BFP 23.70997211455103 MW shaft and 24.95786538373793 MW electrical, assumed combined drive efficiency 95%; condensate pump 0.5373064266346954 MW electrical; remainder 671.5900832428524 MW excludes all other station loads. This is not final net export. BFP discharge 26.5 MPa; modeled pressure budget is dissipated after the HP heaters before the SG inlet at 24 MPa / 286.85°C. Condensate discharge 1.0 MPa. The aggregate BFP symbol represents the two duty units in a 3 x 50% arrangement, with a provisional 15 MW motor shaft allowance for each. It is no longer driven by a steam turbine. HP2/HP1 receive 1.6/1.0 MPa bleeds from the main IP expansion, at 434.5192359658515/370.8416485278791°C, 13.482481796001286/4.54259056822167 kg/s; DA receives 32.56737529345633 kg/s from the 0.6 MPa IP outlet. LP3 pressure 0.12185545090776068 MPa closes the matched steam-drive reference at the larger pump duty and is retained here. Reheater duty 281.6211467468419 MW, heating branch 208.56566467595448 kg/s, reheated flow 463.2104595237085 kg/s. Reheater minimum approach 20.275955851518574 K. Condenser heat 809.3765271411932 MW at exactly 5 kPa, LP moisture 8.96889556225634%. The shown cooling water 19.73508993343261/27.899703770704168°C with 23.763375654778333 m3/s is consistent with that exact pressure and the retained condenser UA, not the separate coupled 20°C case. HP drains cascade 4→3→2→1→DA; LP drains 3→2→1→condenser; drains not drawn. Reheater heating return stays at 24 MPa / 380°C until throttled into HP4. Shaft/generator grouping preserves the earlier conceptual schematic; it is not a selected mechanical arrangement. Native editable objects; no flattened diagram. This presentation of the alternative does not select equipment or establish startup/transient capability.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11ce795df4d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e22f573a94e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46d15cd1ce40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e7892056540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02520d63c49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9db5bb08c4b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A9EDA3-C5B4-4E33-B040-DC48FA02E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F7B1A6-8168-447E-9BD5-01B27CE717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CB5E2D-A438-45BF-8341-6ED11A6BEE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745E0B-A42A-4A9B-BDCA-820689F50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FB7C23-979B-478D-9EA3-3F620F8337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B74F2A-C96C-400B-8C1B-B9DF62AB6B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EB8148-6AEA-475E-8AFC-4C92BD1CFA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B340F4-4093-4BB2-A358-4B780B47C4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3009B3-4F5F-4247-A982-8CE0037186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0983FA-396F-4968-A0B2-9F56AA308F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41c5343ff94dad" /><Relationship Type="http://schemas.openxmlformats.org/officeDocument/2006/relationships/slideLayout" Target="/ppt/slideLayouts/slideLayout1.xml" Id="R4379fc32440b4950" /><Relationship Type="http://schemas.openxmlformats.org/officeDocument/2006/relationships/slideLayout" Target="/ppt/slideLayouts/slideLayout2.xml" Id="R716337605cd546eb" /><Relationship Type="http://schemas.openxmlformats.org/officeDocument/2006/relationships/slideLayout" Target="/ppt/slideLayouts/slideLayout3.xml" Id="Rda66fd4543d84bc7" /><Relationship Type="http://schemas.openxmlformats.org/officeDocument/2006/relationships/slideLayout" Target="/ppt/slideLayouts/slideLayout4.xml" Id="R2c0005779a5d4394" /><Relationship Type="http://schemas.openxmlformats.org/officeDocument/2006/relationships/slideLayout" Target="/ppt/slideLayouts/slideLayout5.xml" Id="Rc3257eeddb2742e7" /><Relationship Type="http://schemas.openxmlformats.org/officeDocument/2006/relationships/slideLayout" Target="/ppt/slideLayouts/slideLayout6.xml" Id="R348c28e38a7548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79fc32440b4950"/>
    <p:sldLayoutId xmlns:r="http://schemas.openxmlformats.org/officeDocument/2006/relationships" id="2147483650" r:id="R716337605cd546eb"/>
    <p:sldLayoutId xmlns:r="http://schemas.openxmlformats.org/officeDocument/2006/relationships" id="2147483651" r:id="Rda66fd4543d84bc7"/>
    <p:sldLayoutId xmlns:r="http://schemas.openxmlformats.org/officeDocument/2006/relationships" id="2147483652" r:id="R2c0005779a5d4394"/>
    <p:sldLayoutId xmlns:r="http://schemas.openxmlformats.org/officeDocument/2006/relationships" id="2147483653" r:id="Rc3257eeddb2742e7"/>
    <p:sldLayoutId xmlns:r="http://schemas.openxmlformats.org/officeDocument/2006/relationships" id="2147483654" r:id="R348c28e38a7548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376d70ed54434" /><Relationship Type="http://schemas.openxmlformats.org/officeDocument/2006/relationships/notesSlide" Target="/ppt/notesSlides/notesSlide1.xml" Id="R4c7a395b5ae844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" name="Fast Salt System | Rankine power cycle">
            <a:extLst xmlns:a="http://schemas.openxmlformats.org/drawingml/2006/main">
              <a:ext uri="{FF2B5EF4-FFF2-40B4-BE49-F238E27FC236}">
                <a16:creationId xmlns:a16="http://schemas.microsoft.com/office/drawing/2014/main" id="{B3C27E38-86BC-431F-AECE-FE55505E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Fast Salt System | Rankine power cycle</a:t>
            </a:r>
          </a:p>
        </p:txBody>
      </p:sp>
      <p:sp>
        <p:nvSpPr>
          <p:cNvPr id="2" name="Motor-driven boiler feed pump • Preliminary cycle at 5 kPa condenser pressure">
            <a:extLst xmlns:a="http://schemas.openxmlformats.org/drawingml/2006/main">
              <a:ext uri="{FF2B5EF4-FFF2-40B4-BE49-F238E27FC236}">
                <a16:creationId xmlns:a16="http://schemas.microsoft.com/office/drawing/2014/main" id="{E5DF719B-4589-43CE-9C8A-5F60C820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2975"/>
            <a:ext cx="1533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Motor-driven boiler feed pump • Preliminary cycle at 5 kPa condenser pressure</a:t>
            </a:r>
          </a:p>
        </p:txBody>
      </p:sp>
      <p:sp>
        <p:nvSpPr>
          <p:cNvPr id="3" name="rect-1">
            <a:extLst xmlns:a="http://schemas.openxmlformats.org/drawingml/2006/main">
              <a:ext uri="{FF2B5EF4-FFF2-40B4-BE49-F238E27FC236}">
                <a16:creationId xmlns:a16="http://schemas.microsoft.com/office/drawing/2014/main" id="{85EC6337-81A4-4D69-ACBE-39C0DD04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0175"/>
            <a:ext cx="17297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1,500 MW thermal   →   697.1 MW gross   |   671.6 MW after BFP + condensate pumps*">
            <a:extLst xmlns:a="http://schemas.openxmlformats.org/drawingml/2006/main">
              <a:ext uri="{FF2B5EF4-FFF2-40B4-BE49-F238E27FC236}">
                <a16:creationId xmlns:a16="http://schemas.microsoft.com/office/drawing/2014/main" id="{AD7A3B65-2CCC-4324-8A0A-310DF21D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676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1,500 MW thermal   →   697.1 MW gross   |   671.6 MW after BFP + condensate pumps*</a:t>
            </a:r>
          </a:p>
        </p:txBody>
      </p:sp>
      <p:sp>
        <p:nvSpPr>
          <p:cNvPr id="5" name="path-2">
            <a:extLst xmlns:a="http://schemas.openxmlformats.org/drawingml/2006/main">
              <a:ext uri="{FF2B5EF4-FFF2-40B4-BE49-F238E27FC236}">
                <a16:creationId xmlns:a16="http://schemas.microsoft.com/office/drawing/2014/main" id="{BDC26F54-138F-4954-B362-10E7A049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43150"/>
            <a:ext cx="2333625" cy="1400175"/>
          </a:xfrm>
          <a:custGeom xmlns:a="http://schemas.openxmlformats.org/drawingml/2006/main">
            <a:pathLst>
              <a:path w="2333625" h="1400175">
                <a:moveTo>
                  <a:pt x="0" y="1228725"/>
                </a:moveTo>
                <a:lnTo>
                  <a:pt x="0" y="0"/>
                </a:lnTo>
                <a:lnTo>
                  <a:pt x="2143125" y="0"/>
                </a:lnTo>
                <a:lnTo>
                  <a:pt x="2143125" y="1400175"/>
                </a:lnTo>
                <a:lnTo>
                  <a:pt x="2333625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6" name="flow arrow-3">
            <a:extLst xmlns:a="http://schemas.openxmlformats.org/drawingml/2006/main">
              <a:ext uri="{FF2B5EF4-FFF2-40B4-BE49-F238E27FC236}">
                <a16:creationId xmlns:a16="http://schemas.microsoft.com/office/drawing/2014/main" id="{7666D1F1-CCA5-44AF-9D6D-C566FCD7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7" name="path-4">
            <a:extLst xmlns:a="http://schemas.openxmlformats.org/drawingml/2006/main">
              <a:ext uri="{FF2B5EF4-FFF2-40B4-BE49-F238E27FC236}">
                <a16:creationId xmlns:a16="http://schemas.microsoft.com/office/drawing/2014/main" id="{0C3B036D-6DB8-424D-AAA6-9AF71DC4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3762375" cy="847725"/>
          </a:xfrm>
          <a:custGeom xmlns:a="http://schemas.openxmlformats.org/drawingml/2006/main">
            <a:pathLst>
              <a:path w="3762375" h="847725">
                <a:moveTo>
                  <a:pt x="0" y="0"/>
                </a:moveTo>
                <a:lnTo>
                  <a:pt x="3762375" y="0"/>
                </a:lnTo>
                <a:lnTo>
                  <a:pt x="3762375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8" name="flow arrow-5">
            <a:extLst xmlns:a="http://schemas.openxmlformats.org/drawingml/2006/main">
              <a:ext uri="{FF2B5EF4-FFF2-40B4-BE49-F238E27FC236}">
                <a16:creationId xmlns:a16="http://schemas.microsoft.com/office/drawing/2014/main" id="{82317C33-B4D0-4589-9EBB-BABF87E9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76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9" name="ellipse-6">
            <a:extLst xmlns:a="http://schemas.openxmlformats.org/drawingml/2006/main">
              <a:ext uri="{FF2B5EF4-FFF2-40B4-BE49-F238E27FC236}">
                <a16:creationId xmlns:a16="http://schemas.microsoft.com/office/drawing/2014/main" id="{926039CE-A0F4-4397-9FFF-56E11C3D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722"/>
          </a:solidFill>
          <a:ln xmlns:a="http://schemas.openxmlformats.org/drawingml/2006/main" w="0">
            <a:solidFill>
              <a:srgbClr val="B44722"/>
            </a:solidFill>
            <a:prstDash val="solid"/>
          </a:ln>
        </p:spPr>
      </p:sp>
      <p:sp>
        <p:nvSpPr>
          <p:cNvPr id="10" name="path-7">
            <a:extLst xmlns:a="http://schemas.openxmlformats.org/drawingml/2006/main">
              <a:ext uri="{FF2B5EF4-FFF2-40B4-BE49-F238E27FC236}">
                <a16:creationId xmlns:a16="http://schemas.microsoft.com/office/drawing/2014/main" id="{0C967E8E-3662-4EE4-B745-BCC741C1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43325"/>
            <a:ext cx="1476375" cy="9525"/>
          </a:xfrm>
          <a:custGeom xmlns:a="http://schemas.openxmlformats.org/drawingml/2006/main"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1" name="flow arrow-8">
            <a:extLst xmlns:a="http://schemas.openxmlformats.org/drawingml/2006/main">
              <a:ext uri="{FF2B5EF4-FFF2-40B4-BE49-F238E27FC236}">
                <a16:creationId xmlns:a16="http://schemas.microsoft.com/office/drawing/2014/main" id="{B69E3CF1-CF40-46FD-8794-8EDC95B2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2" name="path-9">
            <a:extLst xmlns:a="http://schemas.openxmlformats.org/drawingml/2006/main">
              <a:ext uri="{FF2B5EF4-FFF2-40B4-BE49-F238E27FC236}">
                <a16:creationId xmlns:a16="http://schemas.microsoft.com/office/drawing/2014/main" id="{188F81FA-859F-48ED-9AA5-FAD87548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43325"/>
            <a:ext cx="1524000" cy="9525"/>
          </a:xfrm>
          <a:custGeom xmlns:a="http://schemas.openxmlformats.org/drawingml/2006/main"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3" name="flow arrow-10">
            <a:extLst xmlns:a="http://schemas.openxmlformats.org/drawingml/2006/main">
              <a:ext uri="{FF2B5EF4-FFF2-40B4-BE49-F238E27FC236}">
                <a16:creationId xmlns:a16="http://schemas.microsoft.com/office/drawing/2014/main" id="{D81356A0-9412-4DCB-804D-2494A28E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4" name="path-11">
            <a:extLst xmlns:a="http://schemas.openxmlformats.org/drawingml/2006/main">
              <a:ext uri="{FF2B5EF4-FFF2-40B4-BE49-F238E27FC236}">
                <a16:creationId xmlns:a16="http://schemas.microsoft.com/office/drawing/2014/main" id="{1BB9E438-6EA6-482C-81EF-2166D74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743325"/>
            <a:ext cx="1476375" cy="9525"/>
          </a:xfrm>
          <a:custGeom xmlns:a="http://schemas.openxmlformats.org/drawingml/2006/main"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5" name="flow arrow-12">
            <a:extLst xmlns:a="http://schemas.openxmlformats.org/drawingml/2006/main">
              <a:ext uri="{FF2B5EF4-FFF2-40B4-BE49-F238E27FC236}">
                <a16:creationId xmlns:a16="http://schemas.microsoft.com/office/drawing/2014/main" id="{4A5DCBE8-8B50-49F7-ABCF-C54E8EB6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6" name="path-13">
            <a:extLst xmlns:a="http://schemas.openxmlformats.org/drawingml/2006/main">
              <a:ext uri="{FF2B5EF4-FFF2-40B4-BE49-F238E27FC236}">
                <a16:creationId xmlns:a16="http://schemas.microsoft.com/office/drawing/2014/main" id="{B16D35A9-3CF2-4D86-AEE9-A842E620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3743325"/>
            <a:ext cx="2143125" cy="2305050"/>
          </a:xfrm>
          <a:custGeom xmlns:a="http://schemas.openxmlformats.org/drawingml/2006/main">
            <a:pathLst>
              <a:path w="2143125" h="2305050">
                <a:moveTo>
                  <a:pt x="0" y="0"/>
                </a:moveTo>
                <a:lnTo>
                  <a:pt x="2143125" y="0"/>
                </a:lnTo>
                <a:lnTo>
                  <a:pt x="2143125" y="2305050"/>
                </a:lnTo>
                <a:lnTo>
                  <a:pt x="1857375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7" name="flow arrow-14">
            <a:extLst xmlns:a="http://schemas.openxmlformats.org/drawingml/2006/main">
              <a:ext uri="{FF2B5EF4-FFF2-40B4-BE49-F238E27FC236}">
                <a16:creationId xmlns:a16="http://schemas.microsoft.com/office/drawing/2014/main" id="{777E9843-DDC5-49D4-BC08-573493B3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6000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8" name="roundRect-15">
            <a:extLst xmlns:a="http://schemas.openxmlformats.org/drawingml/2006/main">
              <a:ext uri="{FF2B5EF4-FFF2-40B4-BE49-F238E27FC236}">
                <a16:creationId xmlns:a16="http://schemas.microsoft.com/office/drawing/2014/main" id="{2DFA2979-5622-4CFC-A0EE-353DC055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71875"/>
            <a:ext cx="95250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19" name="Steam / generators / (3 × 500 MWt)">
            <a:extLst xmlns:a="http://schemas.openxmlformats.org/drawingml/2006/main">
              <a:ext uri="{FF2B5EF4-FFF2-40B4-BE49-F238E27FC236}">
                <a16:creationId xmlns:a16="http://schemas.microsoft.com/office/drawing/2014/main" id="{66B9E4A5-E2ED-4A89-ADE1-414A37D1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52850"/>
            <a:ext cx="1619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Steam</a:t>
            </a:r>
          </a:p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generators</a:t>
            </a:r>
          </a:p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(3 × 500 MWt)</a:t>
            </a:r>
          </a:p>
        </p:txBody>
      </p:sp>
      <p:sp>
        <p:nvSpPr>
          <p:cNvPr id="20" name="path-16">
            <a:extLst xmlns:a="http://schemas.openxmlformats.org/drawingml/2006/main">
              <a:ext uri="{FF2B5EF4-FFF2-40B4-BE49-F238E27FC236}">
                <a16:creationId xmlns:a16="http://schemas.microsoft.com/office/drawing/2014/main" id="{C60A028B-278D-4E92-BA62-7168E5B0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476250" cy="1428750"/>
          </a:xfrm>
          <a:custGeom xmlns:a="http://schemas.openxmlformats.org/drawingml/2006/main">
            <a:pathLst>
              <a:path w="476250" h="1428750">
                <a:moveTo>
                  <a:pt x="0" y="0"/>
                </a:moveTo>
                <a:lnTo>
                  <a:pt x="476250" y="285750"/>
                </a:lnTo>
                <a:lnTo>
                  <a:pt x="0" y="571500"/>
                </a:lnTo>
                <a:lnTo>
                  <a:pt x="476250" y="857250"/>
                </a:lnTo>
                <a:lnTo>
                  <a:pt x="0" y="1143000"/>
                </a:lnTo>
                <a:lnTo>
                  <a:pt x="476250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21" name="path-17">
            <a:extLst xmlns:a="http://schemas.openxmlformats.org/drawingml/2006/main">
              <a:ext uri="{FF2B5EF4-FFF2-40B4-BE49-F238E27FC236}">
                <a16:creationId xmlns:a16="http://schemas.microsoft.com/office/drawing/2014/main" id="{1CB72327-097E-496C-9C15-DF9BD3B2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1381125" cy="1238250"/>
          </a:xfrm>
          <a:custGeom xmlns:a="http://schemas.openxmlformats.org/drawingml/2006/main">
            <a:pathLst>
              <a:path w="1381125" h="1238250">
                <a:moveTo>
                  <a:pt x="0" y="285750"/>
                </a:moveTo>
                <a:lnTo>
                  <a:pt x="1381125" y="0"/>
                </a:lnTo>
                <a:lnTo>
                  <a:pt x="1381125" y="123825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22" name="HP / turbine">
            <a:extLst xmlns:a="http://schemas.openxmlformats.org/drawingml/2006/main">
              <a:ext uri="{FF2B5EF4-FFF2-40B4-BE49-F238E27FC236}">
                <a16:creationId xmlns:a16="http://schemas.microsoft.com/office/drawing/2014/main" id="{A4F034FA-E614-4553-B186-75D0E758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09950"/>
            <a:ext cx="1228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</a:t>
            </a:r>
          </a:p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turbine</a:t>
            </a:r>
          </a:p>
        </p:txBody>
      </p:sp>
      <p:sp>
        <p:nvSpPr>
          <p:cNvPr id="23" name="rect-18">
            <a:extLst xmlns:a="http://schemas.openxmlformats.org/drawingml/2006/main">
              <a:ext uri="{FF2B5EF4-FFF2-40B4-BE49-F238E27FC236}">
                <a16:creationId xmlns:a16="http://schemas.microsoft.com/office/drawing/2014/main" id="{8AF7B98E-3646-4D8A-A454-65141151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1428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24" name="Steam / reheater">
            <a:extLst xmlns:a="http://schemas.openxmlformats.org/drawingml/2006/main">
              <a:ext uri="{FF2B5EF4-FFF2-40B4-BE49-F238E27FC236}">
                <a16:creationId xmlns:a16="http://schemas.microsoft.com/office/drawing/2014/main" id="{5ED1F2C4-4A4C-4D73-BF24-112E0499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38500"/>
            <a:ext cx="133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Steam</a:t>
            </a:r>
          </a:p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reheater</a:t>
            </a:r>
          </a:p>
        </p:txBody>
      </p:sp>
      <p:sp>
        <p:nvSpPr>
          <p:cNvPr id="25" name="path-19">
            <a:extLst xmlns:a="http://schemas.openxmlformats.org/drawingml/2006/main">
              <a:ext uri="{FF2B5EF4-FFF2-40B4-BE49-F238E27FC236}">
                <a16:creationId xmlns:a16="http://schemas.microsoft.com/office/drawing/2014/main" id="{C5F7D8CE-3918-46E5-A0D0-42C5ADFC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124200"/>
            <a:ext cx="1381125" cy="1238250"/>
          </a:xfrm>
          <a:custGeom xmlns:a="http://schemas.openxmlformats.org/drawingml/2006/main">
            <a:pathLst>
              <a:path w="1381125" h="1238250">
                <a:moveTo>
                  <a:pt x="0" y="285750"/>
                </a:moveTo>
                <a:lnTo>
                  <a:pt x="1381125" y="0"/>
                </a:lnTo>
                <a:lnTo>
                  <a:pt x="1381125" y="123825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26" name="Reheat / (IP)">
            <a:extLst xmlns:a="http://schemas.openxmlformats.org/drawingml/2006/main">
              <a:ext uri="{FF2B5EF4-FFF2-40B4-BE49-F238E27FC236}">
                <a16:creationId xmlns:a16="http://schemas.microsoft.com/office/drawing/2014/main" id="{18C23B32-843F-456F-978B-62C94657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3409950"/>
            <a:ext cx="1228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Reheat</a:t>
            </a:r>
          </a:p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(IP)</a:t>
            </a:r>
          </a:p>
        </p:txBody>
      </p:sp>
      <p:sp>
        <p:nvSpPr>
          <p:cNvPr id="27" name="path-20">
            <a:extLst xmlns:a="http://schemas.openxmlformats.org/drawingml/2006/main">
              <a:ext uri="{FF2B5EF4-FFF2-40B4-BE49-F238E27FC236}">
                <a16:creationId xmlns:a16="http://schemas.microsoft.com/office/drawing/2014/main" id="{44D2245D-8ED7-4A4A-B6FE-48C6970F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124200"/>
            <a:ext cx="1381125" cy="1238250"/>
          </a:xfrm>
          <a:custGeom xmlns:a="http://schemas.openxmlformats.org/drawingml/2006/main">
            <a:pathLst>
              <a:path w="1381125" h="1238250">
                <a:moveTo>
                  <a:pt x="0" y="285750"/>
                </a:moveTo>
                <a:lnTo>
                  <a:pt x="1381125" y="0"/>
                </a:lnTo>
                <a:lnTo>
                  <a:pt x="1381125" y="123825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28" name="LP / turbine">
            <a:extLst xmlns:a="http://schemas.openxmlformats.org/drawingml/2006/main">
              <a:ext uri="{FF2B5EF4-FFF2-40B4-BE49-F238E27FC236}">
                <a16:creationId xmlns:a16="http://schemas.microsoft.com/office/drawing/2014/main" id="{96637749-8272-4963-9D6B-06B8F114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3409950"/>
            <a:ext cx="1228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</a:t>
            </a:r>
          </a:p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turbine</a:t>
            </a:r>
          </a:p>
        </p:txBody>
      </p:sp>
      <p:sp>
        <p:nvSpPr>
          <p:cNvPr id="29" name="Main steam / 24 MPa • 557°C / 711.7 kg/s">
            <a:extLst xmlns:a="http://schemas.openxmlformats.org/drawingml/2006/main">
              <a:ext uri="{FF2B5EF4-FFF2-40B4-BE49-F238E27FC236}">
                <a16:creationId xmlns:a16="http://schemas.microsoft.com/office/drawing/2014/main" id="{7D70E282-1D60-4F03-AD1A-D88F75DF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Main steam</a:t>
            </a:r>
          </a:p>
          <a:p xmlns:a="http://schemas.openxmlformats.org/drawingml/2006/main">
            <a: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24 MPa • 557°C</a:t>
            </a:r>
          </a:p>
          <a:p xmlns:a="http://schemas.openxmlformats.org/drawingml/2006/main">
            <a: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711.7 kg/s</a:t>
            </a:r>
          </a:p>
        </p:txBody>
      </p:sp>
      <p:sp>
        <p:nvSpPr>
          <p:cNvPr id="30" name="Heating branch / 208.6 kg/s">
            <a:extLst xmlns:a="http://schemas.openxmlformats.org/drawingml/2006/main">
              <a:ext uri="{FF2B5EF4-FFF2-40B4-BE49-F238E27FC236}">
                <a16:creationId xmlns:a16="http://schemas.microsoft.com/office/drawing/2014/main" id="{3F2277A5-B5F2-4571-92D4-6BEC1AB5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66975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Heating branch</a:t>
            </a:r>
          </a:p>
          <a:p xmlns:a="http://schemas.openxmlformats.org/drawingml/2006/main">
            <a:pPr algn="l">
              <a:defRPr sz="195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208.6 kg/s</a:t>
            </a:r>
          </a:p>
        </p:txBody>
      </p:sp>
      <p:sp>
        <p:nvSpPr>
          <p:cNvPr id="31" name="2.8 MPa / 253°C">
            <a:extLst xmlns:a="http://schemas.openxmlformats.org/drawingml/2006/main">
              <a:ext uri="{FF2B5EF4-FFF2-40B4-BE49-F238E27FC236}">
                <a16:creationId xmlns:a16="http://schemas.microsoft.com/office/drawing/2014/main" id="{4DF8EE53-A7E4-49C3-BD67-946FF286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33725"/>
            <a:ext cx="130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2.8 MPa</a:t>
            </a:r>
          </a:p>
          <a:p xmlns:a="http://schemas.openxmlformats.org/drawingml/2006/main">
            <a:pPr algn="ctr">
              <a:defRPr sz="1875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253°C</a:t>
            </a:r>
          </a:p>
        </p:txBody>
      </p:sp>
      <p:sp>
        <p:nvSpPr>
          <p:cNvPr id="32" name="2.66 MPa / 510°C / 463.2 kg/s">
            <a:extLst xmlns:a="http://schemas.openxmlformats.org/drawingml/2006/main">
              <a:ext uri="{FF2B5EF4-FFF2-40B4-BE49-F238E27FC236}">
                <a16:creationId xmlns:a16="http://schemas.microsoft.com/office/drawing/2014/main" id="{249CA445-785E-4102-B3D4-88A08339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19375"/>
            <a:ext cx="1409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2.66 MPa</a:t>
            </a:r>
          </a:p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510°C</a:t>
            </a:r>
          </a:p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463.2 kg/s</a:t>
            </a:r>
          </a:p>
        </p:txBody>
      </p:sp>
      <p:sp>
        <p:nvSpPr>
          <p:cNvPr id="33" name="0.60 MPa / 308°C">
            <a:extLst xmlns:a="http://schemas.openxmlformats.org/drawingml/2006/main">
              <a:ext uri="{FF2B5EF4-FFF2-40B4-BE49-F238E27FC236}">
                <a16:creationId xmlns:a16="http://schemas.microsoft.com/office/drawing/2014/main" id="{3DF36643-76F4-4714-87DE-E4DF56C6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2981325"/>
            <a:ext cx="1247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0.60 MPa</a:t>
            </a:r>
          </a:p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308°C</a:t>
            </a:r>
          </a:p>
        </p:txBody>
      </p:sp>
      <p:sp>
        <p:nvSpPr>
          <p:cNvPr id="34" name="282 MW reheat">
            <a:extLst xmlns:a="http://schemas.openxmlformats.org/drawingml/2006/main">
              <a:ext uri="{FF2B5EF4-FFF2-40B4-BE49-F238E27FC236}">
                <a16:creationId xmlns:a16="http://schemas.microsoft.com/office/drawing/2014/main" id="{992CB035-D401-4E92-8CCC-87B0F4E2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282 MW reheat</a:t>
            </a:r>
          </a:p>
        </p:txBody>
      </p:sp>
      <p:sp>
        <p:nvSpPr>
          <p:cNvPr id="35" name="LP exhaust / 5 kPa • 33°C / 9.0% moisture">
            <a:extLst xmlns:a="http://schemas.openxmlformats.org/drawingml/2006/main">
              <a:ext uri="{FF2B5EF4-FFF2-40B4-BE49-F238E27FC236}">
                <a16:creationId xmlns:a16="http://schemas.microsoft.com/office/drawing/2014/main" id="{23E1E99B-A802-4EB0-BEEE-375659EF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975" y="4514850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LP exhaust</a:t>
            </a:r>
          </a:p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5 kPa • 33°C</a:t>
            </a:r>
          </a:p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9.0% moisture</a:t>
            </a:r>
          </a:p>
        </p:txBody>
      </p:sp>
      <p:sp>
        <p:nvSpPr>
          <p:cNvPr id="36" name="rect-21">
            <a:extLst xmlns:a="http://schemas.openxmlformats.org/drawingml/2006/main">
              <a:ext uri="{FF2B5EF4-FFF2-40B4-BE49-F238E27FC236}">
                <a16:creationId xmlns:a16="http://schemas.microsoft.com/office/drawing/2014/main" id="{720EC6F9-C8B2-4541-BC38-F7C4C0A2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1238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37" name="WISTR">
            <a:extLst xmlns:a="http://schemas.openxmlformats.org/drawingml/2006/main">
              <a:ext uri="{FF2B5EF4-FFF2-40B4-BE49-F238E27FC236}">
                <a16:creationId xmlns:a16="http://schemas.microsoft.com/office/drawing/2014/main" id="{22B5FC00-EF61-496D-A7E7-6AC6934B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114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WISTR</a:t>
            </a:r>
          </a:p>
        </p:txBody>
      </p:sp>
      <p:sp>
        <p:nvSpPr>
          <p:cNvPr id="38" name="path-22">
            <a:extLst xmlns:a="http://schemas.openxmlformats.org/drawingml/2006/main">
              <a:ext uri="{FF2B5EF4-FFF2-40B4-BE49-F238E27FC236}">
                <a16:creationId xmlns:a16="http://schemas.microsoft.com/office/drawing/2014/main" id="{8A7E8BEF-03F8-4FEE-BD13-068061DD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1762125" cy="600075"/>
          </a:xfrm>
          <a:custGeom xmlns:a="http://schemas.openxmlformats.org/drawingml/2006/main">
            <a:pathLst>
              <a:path w="1762125" h="600075">
                <a:moveTo>
                  <a:pt x="0" y="600075"/>
                </a:moveTo>
                <a:lnTo>
                  <a:pt x="0" y="0"/>
                </a:lnTo>
                <a:lnTo>
                  <a:pt x="1762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46038"/>
            </a:solidFill>
            <a:prstDash val="solid"/>
          </a:ln>
        </p:spPr>
      </p:sp>
      <p:sp>
        <p:nvSpPr>
          <p:cNvPr id="39" name="flow arrow-23">
            <a:extLst xmlns:a="http://schemas.openxmlformats.org/drawingml/2006/main">
              <a:ext uri="{FF2B5EF4-FFF2-40B4-BE49-F238E27FC236}">
                <a16:creationId xmlns:a16="http://schemas.microsoft.com/office/drawing/2014/main" id="{D4F5F887-461E-4E9E-A16F-630CBDF2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24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846038"/>
          </a:solidFill>
          <a:ln xmlns:a="http://schemas.openxmlformats.org/drawingml/2006/main" w="9525">
            <a:solidFill>
              <a:srgbClr val="846038"/>
            </a:solidFill>
            <a:prstDash val="solid"/>
          </a:ln>
        </p:spPr>
      </p:sp>
      <p:sp>
        <p:nvSpPr>
          <p:cNvPr id="40" name="path-24">
            <a:extLst xmlns:a="http://schemas.openxmlformats.org/drawingml/2006/main">
              <a:ext uri="{FF2B5EF4-FFF2-40B4-BE49-F238E27FC236}">
                <a16:creationId xmlns:a16="http://schemas.microsoft.com/office/drawing/2014/main" id="{6FCCD435-2F7F-43F6-BF16-076C90D3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62575"/>
            <a:ext cx="1762125" cy="257175"/>
          </a:xfrm>
          <a:custGeom xmlns:a="http://schemas.openxmlformats.org/drawingml/2006/main">
            <a:pathLst>
              <a:path w="1762125" h="257175">
                <a:moveTo>
                  <a:pt x="1762125" y="19050"/>
                </a:moveTo>
                <a:lnTo>
                  <a:pt x="1285875" y="19050"/>
                </a:lnTo>
                <a:lnTo>
                  <a:pt x="1285875" y="257175"/>
                </a:lnTo>
                <a:lnTo>
                  <a:pt x="0" y="2571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46038"/>
            </a:solidFill>
            <a:prstDash val="solid"/>
          </a:ln>
        </p:spPr>
      </p:sp>
      <p:sp>
        <p:nvSpPr>
          <p:cNvPr id="41" name="flow arrow-25">
            <a:extLst xmlns:a="http://schemas.openxmlformats.org/drawingml/2006/main">
              <a:ext uri="{FF2B5EF4-FFF2-40B4-BE49-F238E27FC236}">
                <a16:creationId xmlns:a16="http://schemas.microsoft.com/office/drawing/2014/main" id="{A0192865-420E-4178-BD46-9612614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62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846038"/>
          </a:solidFill>
          <a:ln xmlns:a="http://schemas.openxmlformats.org/drawingml/2006/main" w="9525">
            <a:solidFill>
              <a:srgbClr val="846038"/>
            </a:solidFill>
            <a:prstDash val="solid"/>
          </a:ln>
        </p:spPr>
      </p:sp>
      <p:sp>
        <p:nvSpPr>
          <p:cNvPr id="42" name="ellipse-26">
            <a:extLst xmlns:a="http://schemas.openxmlformats.org/drawingml/2006/main">
              <a:ext uri="{FF2B5EF4-FFF2-40B4-BE49-F238E27FC236}">
                <a16:creationId xmlns:a16="http://schemas.microsoft.com/office/drawing/2014/main" id="{893841CF-2AB4-4066-9618-B78B63B7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14350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46038"/>
            </a:solidFill>
            <a:prstDash val="solid"/>
          </a:ln>
        </p:spPr>
      </p:sp>
      <p:sp>
        <p:nvSpPr>
          <p:cNvPr id="43" name="P">
            <a:extLst xmlns:a="http://schemas.openxmlformats.org/drawingml/2006/main">
              <a:ext uri="{FF2B5EF4-FFF2-40B4-BE49-F238E27FC236}">
                <a16:creationId xmlns:a16="http://schemas.microsoft.com/office/drawing/2014/main" id="{4E98BC3B-CD69-410D-A2EA-8CF82C06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181600"/>
            <a:ext cx="447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46038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4" name="Salt / 602°C">
            <a:extLst xmlns:a="http://schemas.openxmlformats.org/drawingml/2006/main">
              <a:ext uri="{FF2B5EF4-FFF2-40B4-BE49-F238E27FC236}">
                <a16:creationId xmlns:a16="http://schemas.microsoft.com/office/drawing/2014/main" id="{400703F2-AFE6-4494-A584-2DE8888C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7180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Salt</a:t>
            </a:r>
          </a:p>
          <a:p xmlns:a="http://schemas.openxmlformats.org/drawingml/2006/main">
            <a: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602°C</a:t>
            </a:r>
          </a:p>
        </p:txBody>
      </p:sp>
      <p:sp>
        <p:nvSpPr>
          <p:cNvPr id="45" name="537°C">
            <a:extLst xmlns:a="http://schemas.openxmlformats.org/drawingml/2006/main">
              <a:ext uri="{FF2B5EF4-FFF2-40B4-BE49-F238E27FC236}">
                <a16:creationId xmlns:a16="http://schemas.microsoft.com/office/drawing/2014/main" id="{F721D588-6554-4A35-8C41-0FF7E3E4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7054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537°C</a:t>
            </a:r>
          </a:p>
        </p:txBody>
      </p:sp>
      <p:sp>
        <p:nvSpPr>
          <p:cNvPr id="46" name="Coolant pump">
            <a:extLst xmlns:a="http://schemas.openxmlformats.org/drawingml/2006/main">
              <a:ext uri="{FF2B5EF4-FFF2-40B4-BE49-F238E27FC236}">
                <a16:creationId xmlns:a16="http://schemas.microsoft.com/office/drawing/2014/main" id="{5F912437-36E3-47A5-BEFF-F60410E9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Coolant pump</a:t>
            </a:r>
          </a:p>
        </p:txBody>
      </p:sp>
      <p:sp>
        <p:nvSpPr>
          <p:cNvPr id="47" name="path-27">
            <a:extLst xmlns:a="http://schemas.openxmlformats.org/drawingml/2006/main">
              <a:ext uri="{FF2B5EF4-FFF2-40B4-BE49-F238E27FC236}">
                <a16:creationId xmlns:a16="http://schemas.microsoft.com/office/drawing/2014/main" id="{A01222E4-4AA2-4324-90DE-8555A9F2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6191250" cy="438150"/>
          </a:xfrm>
          <a:custGeom xmlns:a="http://schemas.openxmlformats.org/drawingml/2006/main">
            <a:pathLst>
              <a:path w="6191250" h="438150">
                <a:moveTo>
                  <a:pt x="0" y="0"/>
                </a:moveTo>
                <a:lnTo>
                  <a:pt x="0" y="438150"/>
                </a:lnTo>
                <a:lnTo>
                  <a:pt x="619125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A6874"/>
            </a:solidFill>
            <a:prstDash val="solid"/>
          </a:ln>
        </p:spPr>
      </p:sp>
      <p:sp>
        <p:nvSpPr>
          <p:cNvPr id="48" name="path-28">
            <a:extLst xmlns:a="http://schemas.openxmlformats.org/drawingml/2006/main">
              <a:ext uri="{FF2B5EF4-FFF2-40B4-BE49-F238E27FC236}">
                <a16:creationId xmlns:a16="http://schemas.microsoft.com/office/drawing/2014/main" id="{C5017BA7-A0CA-4150-81AF-9E0778D4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2291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A6874"/>
            </a:solidFill>
            <a:prstDash val="solid"/>
          </a:ln>
        </p:spPr>
      </p:sp>
      <p:sp>
        <p:nvSpPr>
          <p:cNvPr id="49" name="ellipse-29">
            <a:extLst xmlns:a="http://schemas.openxmlformats.org/drawingml/2006/main">
              <a:ext uri="{FF2B5EF4-FFF2-40B4-BE49-F238E27FC236}">
                <a16:creationId xmlns:a16="http://schemas.microsoft.com/office/drawing/2014/main" id="{86A56A7C-DC3F-4B21-99B7-E69A83A0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429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50" name="G">
            <a:extLst xmlns:a="http://schemas.openxmlformats.org/drawingml/2006/main">
              <a:ext uri="{FF2B5EF4-FFF2-40B4-BE49-F238E27FC236}">
                <a16:creationId xmlns:a16="http://schemas.microsoft.com/office/drawing/2014/main" id="{1726DBDC-525D-4B9A-A788-3B6187AD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4767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1" name="path-30">
            <a:extLst xmlns:a="http://schemas.openxmlformats.org/drawingml/2006/main">
              <a:ext uri="{FF2B5EF4-FFF2-40B4-BE49-F238E27FC236}">
                <a16:creationId xmlns:a16="http://schemas.microsoft.com/office/drawing/2014/main" id="{3352E20C-1B01-4760-8177-E98C1873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4229100"/>
            <a:ext cx="619125" cy="438150"/>
          </a:xfrm>
          <a:custGeom xmlns:a="http://schemas.openxmlformats.org/drawingml/2006/main">
            <a:pathLst>
              <a:path w="619125" h="438150">
                <a:moveTo>
                  <a:pt x="619125" y="0"/>
                </a:moveTo>
                <a:lnTo>
                  <a:pt x="619125" y="438150"/>
                </a:ln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A6874"/>
            </a:solidFill>
            <a:prstDash val="solid"/>
          </a:ln>
        </p:spPr>
      </p:sp>
      <p:sp>
        <p:nvSpPr>
          <p:cNvPr id="52" name="ellipse-31">
            <a:extLst xmlns:a="http://schemas.openxmlformats.org/drawingml/2006/main">
              <a:ext uri="{FF2B5EF4-FFF2-40B4-BE49-F238E27FC236}">
                <a16:creationId xmlns:a16="http://schemas.microsoft.com/office/drawing/2014/main" id="{21936AE6-67EF-451B-BAA1-B51745FD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4429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53" name="G">
            <a:extLst xmlns:a="http://schemas.openxmlformats.org/drawingml/2006/main">
              <a:ext uri="{FF2B5EF4-FFF2-40B4-BE49-F238E27FC236}">
                <a16:creationId xmlns:a16="http://schemas.microsoft.com/office/drawing/2014/main" id="{827A2656-D0BF-404A-BEF9-64AE9605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44767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4" name="rect-32">
            <a:extLst xmlns:a="http://schemas.openxmlformats.org/drawingml/2006/main">
              <a:ext uri="{FF2B5EF4-FFF2-40B4-BE49-F238E27FC236}">
                <a16:creationId xmlns:a16="http://schemas.microsoft.com/office/drawing/2014/main" id="{C5228731-B4E0-41E6-BCD1-5E077500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6197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55" name="Condenser">
            <a:extLst xmlns:a="http://schemas.openxmlformats.org/drawingml/2006/main">
              <a:ext uri="{FF2B5EF4-FFF2-40B4-BE49-F238E27FC236}">
                <a16:creationId xmlns:a16="http://schemas.microsoft.com/office/drawing/2014/main" id="{0BFBCF8E-89B5-4F5A-9D5B-429A4792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57150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Condenser</a:t>
            </a:r>
          </a:p>
        </p:txBody>
      </p:sp>
      <p:sp>
        <p:nvSpPr>
          <p:cNvPr id="56" name="809 MW rejected">
            <a:extLst xmlns:a="http://schemas.openxmlformats.org/drawingml/2006/main">
              <a:ext uri="{FF2B5EF4-FFF2-40B4-BE49-F238E27FC236}">
                <a16:creationId xmlns:a16="http://schemas.microsoft.com/office/drawing/2014/main" id="{9B629DBC-3678-461F-AE0A-AC058F37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61245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809 MW rejected</a:t>
            </a:r>
          </a:p>
        </p:txBody>
      </p:sp>
      <p:sp>
        <p:nvSpPr>
          <p:cNvPr id="57" name="path-33">
            <a:extLst xmlns:a="http://schemas.openxmlformats.org/drawingml/2006/main">
              <a:ext uri="{FF2B5EF4-FFF2-40B4-BE49-F238E27FC236}">
                <a16:creationId xmlns:a16="http://schemas.microsoft.com/office/drawing/2014/main" id="{A4128A3E-EFA8-4BD8-96A8-CCDB21BF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810250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E877E"/>
            </a:solidFill>
            <a:prstDash val="solid"/>
          </a:ln>
        </p:spPr>
      </p:sp>
      <p:sp>
        <p:nvSpPr>
          <p:cNvPr id="58" name="flow arrow-34">
            <a:extLst xmlns:a="http://schemas.openxmlformats.org/drawingml/2006/main">
              <a:ext uri="{FF2B5EF4-FFF2-40B4-BE49-F238E27FC236}">
                <a16:creationId xmlns:a16="http://schemas.microsoft.com/office/drawing/2014/main" id="{42C46096-5304-42BA-B60B-B7DE34A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5762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3E877E"/>
          </a:solidFill>
          <a:ln xmlns:a="http://schemas.openxmlformats.org/drawingml/2006/main" w="9525">
            <a:solidFill>
              <a:srgbClr val="3E877E"/>
            </a:solidFill>
            <a:prstDash val="solid"/>
          </a:ln>
        </p:spPr>
      </p:sp>
      <p:sp>
        <p:nvSpPr>
          <p:cNvPr id="59" name="path-35">
            <a:extLst xmlns:a="http://schemas.openxmlformats.org/drawingml/2006/main">
              <a:ext uri="{FF2B5EF4-FFF2-40B4-BE49-F238E27FC236}">
                <a16:creationId xmlns:a16="http://schemas.microsoft.com/office/drawing/2014/main" id="{43F0BD41-6A79-482E-97F4-E79B3E4B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6286500"/>
            <a:ext cx="381000" cy="9525"/>
          </a:xfrm>
          <a:custGeom xmlns:a="http://schemas.openxmlformats.org/drawingml/2006/main">
            <a:pathLst>
              <a:path w="381000" h="9525">
                <a:moveTo>
                  <a:pt x="381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E877E"/>
            </a:solidFill>
            <a:prstDash val="solid"/>
          </a:ln>
        </p:spPr>
      </p:sp>
      <p:sp>
        <p:nvSpPr>
          <p:cNvPr id="60" name="flow arrow-36">
            <a:extLst xmlns:a="http://schemas.openxmlformats.org/drawingml/2006/main">
              <a:ext uri="{FF2B5EF4-FFF2-40B4-BE49-F238E27FC236}">
                <a16:creationId xmlns:a16="http://schemas.microsoft.com/office/drawing/2014/main" id="{E7755F62-9731-4A1E-877F-9F0B134A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62388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3E877E"/>
          </a:solidFill>
          <a:ln xmlns:a="http://schemas.openxmlformats.org/drawingml/2006/main" w="9525">
            <a:solidFill>
              <a:srgbClr val="3E877E"/>
            </a:solidFill>
            <a:prstDash val="solid"/>
          </a:ln>
        </p:spPr>
      </p:sp>
      <p:sp>
        <p:nvSpPr>
          <p:cNvPr id="61" name="Cooling water / 19.7 → 27.9°C / 23.8 m³/s">
            <a:extLst xmlns:a="http://schemas.openxmlformats.org/drawingml/2006/main">
              <a:ext uri="{FF2B5EF4-FFF2-40B4-BE49-F238E27FC236}">
                <a16:creationId xmlns:a16="http://schemas.microsoft.com/office/drawing/2014/main" id="{413D5ACD-CAE1-41F8-A1D5-BB25B470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657850"/>
            <a:ext cx="1971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Cooling water</a:t>
            </a:r>
          </a:p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19.7 → 27.9°C</a:t>
            </a:r>
          </a:p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23.8 m³/s</a:t>
            </a:r>
          </a:p>
        </p:txBody>
      </p:sp>
      <p:sp>
        <p:nvSpPr>
          <p:cNvPr id="62" name="24 MPa / 380°C¹">
            <a:extLst xmlns:a="http://schemas.openxmlformats.org/drawingml/2006/main">
              <a:ext uri="{FF2B5EF4-FFF2-40B4-BE49-F238E27FC236}">
                <a16:creationId xmlns:a16="http://schemas.microsoft.com/office/drawing/2014/main" id="{4E8F6993-D6FA-4F58-AC28-F69689D5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43450"/>
            <a:ext cx="173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24 MPa / 380°C¹</a:t>
            </a:r>
          </a:p>
        </p:txBody>
      </p:sp>
      <p:sp>
        <p:nvSpPr>
          <p:cNvPr id="63" name="25.0 MW electric">
            <a:extLst xmlns:a="http://schemas.openxmlformats.org/drawingml/2006/main">
              <a:ext uri="{FF2B5EF4-FFF2-40B4-BE49-F238E27FC236}">
                <a16:creationId xmlns:a16="http://schemas.microsoft.com/office/drawing/2014/main" id="{D9D34A7D-0C50-4D66-A30B-4AE30927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198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25.0 MW electric</a:t>
            </a:r>
          </a:p>
        </p:txBody>
      </p:sp>
      <p:sp>
        <p:nvSpPr>
          <p:cNvPr id="64" name="ellipse-37">
            <a:extLst xmlns:a="http://schemas.openxmlformats.org/drawingml/2006/main">
              <a:ext uri="{FF2B5EF4-FFF2-40B4-BE49-F238E27FC236}">
                <a16:creationId xmlns:a16="http://schemas.microsoft.com/office/drawing/2014/main" id="{B6C9C973-5C7D-4888-AECF-C0A1B227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019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6C9A"/>
            </a:solidFill>
            <a:prstDash val="solid"/>
          </a:ln>
        </p:spPr>
      </p:sp>
      <p:sp>
        <p:nvSpPr>
          <p:cNvPr id="65" name="M">
            <a:extLst xmlns:a="http://schemas.openxmlformats.org/drawingml/2006/main">
              <a:ext uri="{FF2B5EF4-FFF2-40B4-BE49-F238E27FC236}">
                <a16:creationId xmlns:a16="http://schemas.microsoft.com/office/drawing/2014/main" id="{675DFA29-FB19-43BD-8839-D001D110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058025"/>
            <a:ext cx="419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66" name="path-38">
            <a:extLst xmlns:a="http://schemas.openxmlformats.org/drawingml/2006/main">
              <a:ext uri="{FF2B5EF4-FFF2-40B4-BE49-F238E27FC236}">
                <a16:creationId xmlns:a16="http://schemas.microsoft.com/office/drawing/2014/main" id="{8F85BE25-E83B-4985-8BAF-13D2FCB3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553325"/>
            <a:ext cx="9525" cy="209550"/>
          </a:xfrm>
          <a:custGeom xmlns:a="http://schemas.openxmlformats.org/drawingml/2006/main"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A6874"/>
            </a:solidFill>
            <a:prstDash val="solid"/>
          </a:ln>
        </p:spPr>
      </p:sp>
      <p:sp>
        <p:nvSpPr>
          <p:cNvPr id="67" name="BFP motor">
            <a:extLst xmlns:a="http://schemas.openxmlformats.org/drawingml/2006/main">
              <a:ext uri="{FF2B5EF4-FFF2-40B4-BE49-F238E27FC236}">
                <a16:creationId xmlns:a16="http://schemas.microsoft.com/office/drawing/2014/main" id="{621F705C-63DE-47CA-943D-64911D02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7105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BFP motor</a:t>
            </a:r>
          </a:p>
        </p:txBody>
      </p:sp>
      <p:sp>
        <p:nvSpPr>
          <p:cNvPr id="68" name="23.7 MW shaft">
            <a:extLst xmlns:a="http://schemas.openxmlformats.org/drawingml/2006/main">
              <a:ext uri="{FF2B5EF4-FFF2-40B4-BE49-F238E27FC236}">
                <a16:creationId xmlns:a16="http://schemas.microsoft.com/office/drawing/2014/main" id="{6631A22E-D3FE-449A-A01A-B67D1F5B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74199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23.7 MW shaft</a:t>
            </a:r>
          </a:p>
        </p:txBody>
      </p:sp>
      <p:sp>
        <p:nvSpPr>
          <p:cNvPr id="69" name="path-39">
            <a:extLst xmlns:a="http://schemas.openxmlformats.org/drawingml/2006/main">
              <a:ext uri="{FF2B5EF4-FFF2-40B4-BE49-F238E27FC236}">
                <a16:creationId xmlns:a16="http://schemas.microsoft.com/office/drawing/2014/main" id="{907D51B1-4A45-4017-A1E5-B5967E7D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6477000"/>
            <a:ext cx="9525" cy="1238250"/>
          </a:xfrm>
          <a:custGeom xmlns:a="http://schemas.openxmlformats.org/drawingml/2006/main"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70" name="flow arrow-40">
            <a:extLst xmlns:a="http://schemas.openxmlformats.org/drawingml/2006/main">
              <a:ext uri="{FF2B5EF4-FFF2-40B4-BE49-F238E27FC236}">
                <a16:creationId xmlns:a16="http://schemas.microsoft.com/office/drawing/2014/main" id="{B91347E2-2EA0-460D-BA4C-541F1990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76009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71" name="ellipse-41">
            <a:extLst xmlns:a="http://schemas.openxmlformats.org/drawingml/2006/main">
              <a:ext uri="{FF2B5EF4-FFF2-40B4-BE49-F238E27FC236}">
                <a16:creationId xmlns:a16="http://schemas.microsoft.com/office/drawing/2014/main" id="{674C7A43-9659-480B-B2BD-B9AF9E8D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7762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6C9A"/>
            </a:solidFill>
            <a:prstDash val="solid"/>
          </a:ln>
        </p:spPr>
      </p:sp>
      <p:sp>
        <p:nvSpPr>
          <p:cNvPr id="72" name="path-42">
            <a:extLst xmlns:a="http://schemas.openxmlformats.org/drawingml/2006/main">
              <a:ext uri="{FF2B5EF4-FFF2-40B4-BE49-F238E27FC236}">
                <a16:creationId xmlns:a16="http://schemas.microsoft.com/office/drawing/2014/main" id="{96D8DD1C-A732-411B-8BD5-9F4285C6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7877175"/>
            <a:ext cx="228600" cy="247650"/>
          </a:xfrm>
          <a:custGeom xmlns:a="http://schemas.openxmlformats.org/drawingml/2006/main">
            <a:pathLst>
              <a:path w="228600" h="247650">
                <a:moveTo>
                  <a:pt x="228600" y="0"/>
                </a:moveTo>
                <a:lnTo>
                  <a:pt x="0" y="123825"/>
                </a:lnTo>
                <a:lnTo>
                  <a:pt x="228600" y="24765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19050">
            <a:solidFill>
              <a:srgbClr val="166C9A"/>
            </a:solidFill>
            <a:prstDash val="solid"/>
          </a:ln>
        </p:spPr>
      </p:sp>
      <p:sp>
        <p:nvSpPr>
          <p:cNvPr id="73" name="Cond. pump">
            <a:extLst xmlns:a="http://schemas.openxmlformats.org/drawingml/2006/main">
              <a:ext uri="{FF2B5EF4-FFF2-40B4-BE49-F238E27FC236}">
                <a16:creationId xmlns:a16="http://schemas.microsoft.com/office/drawing/2014/main" id="{EE28ED79-28AB-4453-875B-B467B447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8305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Cond. pump</a:t>
            </a:r>
          </a:p>
        </p:txBody>
      </p:sp>
      <p:sp>
        <p:nvSpPr>
          <p:cNvPr id="74" name="path-43">
            <a:extLst xmlns:a="http://schemas.openxmlformats.org/drawingml/2006/main">
              <a:ext uri="{FF2B5EF4-FFF2-40B4-BE49-F238E27FC236}">
                <a16:creationId xmlns:a16="http://schemas.microsoft.com/office/drawing/2014/main" id="{A999FBB2-8E38-4076-8B70-CBB32809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8001000"/>
            <a:ext cx="666750" cy="9525"/>
          </a:xfrm>
          <a:custGeom xmlns:a="http://schemas.openxmlformats.org/drawingml/2006/main">
            <a:pathLst>
              <a:path w="666750" h="9525">
                <a:moveTo>
                  <a:pt x="666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75" name="flow arrow-44">
            <a:extLst xmlns:a="http://schemas.openxmlformats.org/drawingml/2006/main">
              <a:ext uri="{FF2B5EF4-FFF2-40B4-BE49-F238E27FC236}">
                <a16:creationId xmlns:a16="http://schemas.microsoft.com/office/drawing/2014/main" id="{90727FF2-AE41-490E-8CCF-DD5DED4D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76" name="path-45">
            <a:extLst xmlns:a="http://schemas.openxmlformats.org/drawingml/2006/main">
              <a:ext uri="{FF2B5EF4-FFF2-40B4-BE49-F238E27FC236}">
                <a16:creationId xmlns:a16="http://schemas.microsoft.com/office/drawing/2014/main" id="{877F60BA-0651-403D-8C35-F34C8444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001000"/>
            <a:ext cx="428625" cy="9525"/>
          </a:xfrm>
          <a:custGeom xmlns:a="http://schemas.openxmlformats.org/drawingml/2006/main">
            <a:pathLst>
              <a:path w="428625" h="9525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77" name="flow arrow-46">
            <a:extLst xmlns:a="http://schemas.openxmlformats.org/drawingml/2006/main">
              <a:ext uri="{FF2B5EF4-FFF2-40B4-BE49-F238E27FC236}">
                <a16:creationId xmlns:a16="http://schemas.microsoft.com/office/drawing/2014/main" id="{D195B20D-1B3C-47A7-BD0B-C0B6E5DE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78" name="path-47">
            <a:extLst xmlns:a="http://schemas.openxmlformats.org/drawingml/2006/main">
              <a:ext uri="{FF2B5EF4-FFF2-40B4-BE49-F238E27FC236}">
                <a16:creationId xmlns:a16="http://schemas.microsoft.com/office/drawing/2014/main" id="{5BA75B45-33DF-419B-A8FC-3DF0D44A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8001000"/>
            <a:ext cx="666750" cy="9525"/>
          </a:xfrm>
          <a:custGeom xmlns:a="http://schemas.openxmlformats.org/drawingml/2006/main">
            <a:pathLst>
              <a:path w="666750" h="9525">
                <a:moveTo>
                  <a:pt x="666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79" name="flow arrow-48">
            <a:extLst xmlns:a="http://schemas.openxmlformats.org/drawingml/2006/main">
              <a:ext uri="{FF2B5EF4-FFF2-40B4-BE49-F238E27FC236}">
                <a16:creationId xmlns:a16="http://schemas.microsoft.com/office/drawing/2014/main" id="{2FC148BA-1244-4A58-919C-9F6A47CE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80" name="ellipse-49">
            <a:extLst xmlns:a="http://schemas.openxmlformats.org/drawingml/2006/main">
              <a:ext uri="{FF2B5EF4-FFF2-40B4-BE49-F238E27FC236}">
                <a16:creationId xmlns:a16="http://schemas.microsoft.com/office/drawing/2014/main" id="{1AD9DB74-5540-4E44-8260-B07D37DC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762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6C9A"/>
            </a:solidFill>
            <a:prstDash val="solid"/>
          </a:ln>
        </p:spPr>
      </p:sp>
      <p:sp>
        <p:nvSpPr>
          <p:cNvPr id="81" name="path-50">
            <a:extLst xmlns:a="http://schemas.openxmlformats.org/drawingml/2006/main">
              <a:ext uri="{FF2B5EF4-FFF2-40B4-BE49-F238E27FC236}">
                <a16:creationId xmlns:a16="http://schemas.microsoft.com/office/drawing/2014/main" id="{DD836A04-4971-4A93-A7EF-13B1E5DB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77175"/>
            <a:ext cx="228600" cy="247650"/>
          </a:xfrm>
          <a:custGeom xmlns:a="http://schemas.openxmlformats.org/drawingml/2006/main">
            <a:pathLst>
              <a:path w="228600" h="247650">
                <a:moveTo>
                  <a:pt x="228600" y="0"/>
                </a:moveTo>
                <a:lnTo>
                  <a:pt x="0" y="123825"/>
                </a:lnTo>
                <a:lnTo>
                  <a:pt x="228600" y="24765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19050">
            <a:solidFill>
              <a:srgbClr val="166C9A"/>
            </a:solidFill>
            <a:prstDash val="solid"/>
          </a:ln>
        </p:spPr>
      </p:sp>
      <p:sp>
        <p:nvSpPr>
          <p:cNvPr id="82" name="Feed pump">
            <a:extLst xmlns:a="http://schemas.openxmlformats.org/drawingml/2006/main">
              <a:ext uri="{FF2B5EF4-FFF2-40B4-BE49-F238E27FC236}">
                <a16:creationId xmlns:a16="http://schemas.microsoft.com/office/drawing/2014/main" id="{5D6E4BE7-C69C-4900-8ADA-593B2D13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8305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Feed pump</a:t>
            </a:r>
          </a:p>
        </p:txBody>
      </p:sp>
      <p:sp>
        <p:nvSpPr>
          <p:cNvPr id="83" name="rect-51">
            <a:extLst xmlns:a="http://schemas.openxmlformats.org/drawingml/2006/main">
              <a:ext uri="{FF2B5EF4-FFF2-40B4-BE49-F238E27FC236}">
                <a16:creationId xmlns:a16="http://schemas.microsoft.com/office/drawing/2014/main" id="{E6E11F15-5E38-4C00-842F-62C5BE74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696200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84" name="Deaerator">
            <a:extLst xmlns:a="http://schemas.openxmlformats.org/drawingml/2006/main">
              <a:ext uri="{FF2B5EF4-FFF2-40B4-BE49-F238E27FC236}">
                <a16:creationId xmlns:a16="http://schemas.microsoft.com/office/drawing/2014/main" id="{FC6505B2-D920-412D-B382-7439428A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743825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Deaerator</a:t>
            </a:r>
          </a:p>
        </p:txBody>
      </p:sp>
      <p:sp>
        <p:nvSpPr>
          <p:cNvPr id="85" name="0.60 MPa / 159°C">
            <a:extLst xmlns:a="http://schemas.openxmlformats.org/drawingml/2006/main">
              <a:ext uri="{FF2B5EF4-FFF2-40B4-BE49-F238E27FC236}">
                <a16:creationId xmlns:a16="http://schemas.microsoft.com/office/drawing/2014/main" id="{A49E7980-6265-422A-B7A9-F073B4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8382000"/>
            <a:ext cx="135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0.60 MPa</a:t>
            </a:r>
          </a:p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159°C</a:t>
            </a:r>
          </a:p>
        </p:txBody>
      </p:sp>
      <p:sp>
        <p:nvSpPr>
          <p:cNvPr id="86" name="path-52">
            <a:extLst xmlns:a="http://schemas.openxmlformats.org/drawingml/2006/main">
              <a:ext uri="{FF2B5EF4-FFF2-40B4-BE49-F238E27FC236}">
                <a16:creationId xmlns:a16="http://schemas.microsoft.com/office/drawing/2014/main" id="{BE4156F3-67A9-4433-9826-E01C06D7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001000"/>
            <a:ext cx="238125" cy="9525"/>
          </a:xfrm>
          <a:custGeom xmlns:a="http://schemas.openxmlformats.org/drawingml/2006/main"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87" name="flow arrow-53">
            <a:extLst xmlns:a="http://schemas.openxmlformats.org/drawingml/2006/main">
              <a:ext uri="{FF2B5EF4-FFF2-40B4-BE49-F238E27FC236}">
                <a16:creationId xmlns:a16="http://schemas.microsoft.com/office/drawing/2014/main" id="{B1B7C6D0-38F5-45EB-9E7F-2A65B807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88" name="rect-54">
            <a:extLst xmlns:a="http://schemas.openxmlformats.org/drawingml/2006/main">
              <a:ext uri="{FF2B5EF4-FFF2-40B4-BE49-F238E27FC236}">
                <a16:creationId xmlns:a16="http://schemas.microsoft.com/office/drawing/2014/main" id="{B20E2CD5-88AD-455E-97A4-125E96FE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89" name="HP4">
            <a:extLst xmlns:a="http://schemas.openxmlformats.org/drawingml/2006/main">
              <a:ext uri="{FF2B5EF4-FFF2-40B4-BE49-F238E27FC236}">
                <a16:creationId xmlns:a16="http://schemas.microsoft.com/office/drawing/2014/main" id="{5987A33B-48E4-4719-8964-BB96632B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HP4</a:t>
            </a:r>
          </a:p>
        </p:txBody>
      </p:sp>
      <p:sp>
        <p:nvSpPr>
          <p:cNvPr id="90" name="287°C">
            <a:extLst xmlns:a="http://schemas.openxmlformats.org/drawingml/2006/main">
              <a:ext uri="{FF2B5EF4-FFF2-40B4-BE49-F238E27FC236}">
                <a16:creationId xmlns:a16="http://schemas.microsoft.com/office/drawing/2014/main" id="{D097D6EB-5229-4E43-873C-B6886A54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287°C</a:t>
            </a:r>
          </a:p>
        </p:txBody>
      </p:sp>
      <p:sp>
        <p:nvSpPr>
          <p:cNvPr id="91" name="7.64 / MPa">
            <a:extLst xmlns:a="http://schemas.openxmlformats.org/drawingml/2006/main">
              <a:ext uri="{FF2B5EF4-FFF2-40B4-BE49-F238E27FC236}">
                <a16:creationId xmlns:a16="http://schemas.microsoft.com/office/drawing/2014/main" id="{6E1104DF-D479-4189-8EBE-CD798DFC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7.64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92" name="path-55">
            <a:extLst xmlns:a="http://schemas.openxmlformats.org/drawingml/2006/main">
              <a:ext uri="{FF2B5EF4-FFF2-40B4-BE49-F238E27FC236}">
                <a16:creationId xmlns:a16="http://schemas.microsoft.com/office/drawing/2014/main" id="{13DD3975-33EC-472E-8E90-A2F8BA5A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01000"/>
            <a:ext cx="333375" cy="9525"/>
          </a:xfrm>
          <a:custGeom xmlns:a="http://schemas.openxmlformats.org/drawingml/2006/main">
            <a:pathLst>
              <a:path w="333375" h="952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93" name="flow arrow-56">
            <a:extLst xmlns:a="http://schemas.openxmlformats.org/drawingml/2006/main">
              <a:ext uri="{FF2B5EF4-FFF2-40B4-BE49-F238E27FC236}">
                <a16:creationId xmlns:a16="http://schemas.microsoft.com/office/drawing/2014/main" id="{869D1EF4-077A-440E-8F01-CAA07C51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94" name="rect-57">
            <a:extLst xmlns:a="http://schemas.openxmlformats.org/drawingml/2006/main">
              <a:ext uri="{FF2B5EF4-FFF2-40B4-BE49-F238E27FC236}">
                <a16:creationId xmlns:a16="http://schemas.microsoft.com/office/drawing/2014/main" id="{9B09E8E3-70A2-4A38-8185-6B9E7F22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95" name="HP3">
            <a:extLst xmlns:a="http://schemas.openxmlformats.org/drawingml/2006/main">
              <a:ext uri="{FF2B5EF4-FFF2-40B4-BE49-F238E27FC236}">
                <a16:creationId xmlns:a16="http://schemas.microsoft.com/office/drawing/2014/main" id="{34905BCE-FF3B-4122-A229-5E3F29F3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HP3</a:t>
            </a:r>
          </a:p>
        </p:txBody>
      </p:sp>
      <p:sp>
        <p:nvSpPr>
          <p:cNvPr id="96" name="225°C">
            <a:extLst xmlns:a="http://schemas.openxmlformats.org/drawingml/2006/main">
              <a:ext uri="{FF2B5EF4-FFF2-40B4-BE49-F238E27FC236}">
                <a16:creationId xmlns:a16="http://schemas.microsoft.com/office/drawing/2014/main" id="{635BA885-6676-4753-B57B-B1941467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225°C</a:t>
            </a:r>
          </a:p>
        </p:txBody>
      </p:sp>
      <p:sp>
        <p:nvSpPr>
          <p:cNvPr id="97" name="2.80 / MPa">
            <a:extLst xmlns:a="http://schemas.openxmlformats.org/drawingml/2006/main">
              <a:ext uri="{FF2B5EF4-FFF2-40B4-BE49-F238E27FC236}">
                <a16:creationId xmlns:a16="http://schemas.microsoft.com/office/drawing/2014/main" id="{38CF779E-F8FA-4E4C-85A8-96B93D46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2.80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98" name="path-58">
            <a:extLst xmlns:a="http://schemas.openxmlformats.org/drawingml/2006/main">
              <a:ext uri="{FF2B5EF4-FFF2-40B4-BE49-F238E27FC236}">
                <a16:creationId xmlns:a16="http://schemas.microsoft.com/office/drawing/2014/main" id="{4C3DD691-F4C9-4DFA-83ED-457F8876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001000"/>
            <a:ext cx="333375" cy="9525"/>
          </a:xfrm>
          <a:custGeom xmlns:a="http://schemas.openxmlformats.org/drawingml/2006/main">
            <a:pathLst>
              <a:path w="333375" h="952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99" name="flow arrow-59">
            <a:extLst xmlns:a="http://schemas.openxmlformats.org/drawingml/2006/main">
              <a:ext uri="{FF2B5EF4-FFF2-40B4-BE49-F238E27FC236}">
                <a16:creationId xmlns:a16="http://schemas.microsoft.com/office/drawing/2014/main" id="{F79BE0BC-D674-4BC6-8234-909E796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00" name="rect-60">
            <a:extLst xmlns:a="http://schemas.openxmlformats.org/drawingml/2006/main">
              <a:ext uri="{FF2B5EF4-FFF2-40B4-BE49-F238E27FC236}">
                <a16:creationId xmlns:a16="http://schemas.microsoft.com/office/drawing/2014/main" id="{478FC37D-4562-471B-8FB5-2EA3A61A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01" name="HP2">
            <a:extLst xmlns:a="http://schemas.openxmlformats.org/drawingml/2006/main">
              <a:ext uri="{FF2B5EF4-FFF2-40B4-BE49-F238E27FC236}">
                <a16:creationId xmlns:a16="http://schemas.microsoft.com/office/drawing/2014/main" id="{F66BE7D8-BC7A-4792-B9E5-F64F729B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HP2</a:t>
            </a:r>
          </a:p>
        </p:txBody>
      </p:sp>
      <p:sp>
        <p:nvSpPr>
          <p:cNvPr id="102" name="196°C">
            <a:extLst xmlns:a="http://schemas.openxmlformats.org/drawingml/2006/main">
              <a:ext uri="{FF2B5EF4-FFF2-40B4-BE49-F238E27FC236}">
                <a16:creationId xmlns:a16="http://schemas.microsoft.com/office/drawing/2014/main" id="{52C1315F-0B5C-4E4A-AC2B-D21D6DEA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196°C</a:t>
            </a:r>
          </a:p>
        </p:txBody>
      </p:sp>
      <p:sp>
        <p:nvSpPr>
          <p:cNvPr id="103" name="1.60 / MPa">
            <a:extLst xmlns:a="http://schemas.openxmlformats.org/drawingml/2006/main">
              <a:ext uri="{FF2B5EF4-FFF2-40B4-BE49-F238E27FC236}">
                <a16:creationId xmlns:a16="http://schemas.microsoft.com/office/drawing/2014/main" id="{EB006939-0A35-4196-93A5-E54DAD49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1.60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104" name="path-61">
            <a:extLst xmlns:a="http://schemas.openxmlformats.org/drawingml/2006/main">
              <a:ext uri="{FF2B5EF4-FFF2-40B4-BE49-F238E27FC236}">
                <a16:creationId xmlns:a16="http://schemas.microsoft.com/office/drawing/2014/main" id="{9534301C-CBEA-48F6-BB85-078C9F2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001000"/>
            <a:ext cx="333375" cy="9525"/>
          </a:xfrm>
          <a:custGeom xmlns:a="http://schemas.openxmlformats.org/drawingml/2006/main">
            <a:pathLst>
              <a:path w="333375" h="952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05" name="flow arrow-62">
            <a:extLst xmlns:a="http://schemas.openxmlformats.org/drawingml/2006/main">
              <a:ext uri="{FF2B5EF4-FFF2-40B4-BE49-F238E27FC236}">
                <a16:creationId xmlns:a16="http://schemas.microsoft.com/office/drawing/2014/main" id="{C456475D-398E-44DE-930E-E6F21D87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06" name="rect-63">
            <a:extLst xmlns:a="http://schemas.openxmlformats.org/drawingml/2006/main">
              <a:ext uri="{FF2B5EF4-FFF2-40B4-BE49-F238E27FC236}">
                <a16:creationId xmlns:a16="http://schemas.microsoft.com/office/drawing/2014/main" id="{FF076843-C28C-4924-8D98-3C4DAB4B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07" name="HP1">
            <a:extLst xmlns:a="http://schemas.openxmlformats.org/drawingml/2006/main">
              <a:ext uri="{FF2B5EF4-FFF2-40B4-BE49-F238E27FC236}">
                <a16:creationId xmlns:a16="http://schemas.microsoft.com/office/drawing/2014/main" id="{B22C3099-60F6-42FB-A619-6089C9A1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HP1</a:t>
            </a:r>
          </a:p>
        </p:txBody>
      </p:sp>
      <p:sp>
        <p:nvSpPr>
          <p:cNvPr id="108" name="175°C">
            <a:extLst xmlns:a="http://schemas.openxmlformats.org/drawingml/2006/main">
              <a:ext uri="{FF2B5EF4-FFF2-40B4-BE49-F238E27FC236}">
                <a16:creationId xmlns:a16="http://schemas.microsoft.com/office/drawing/2014/main" id="{4B10188D-F622-4F7C-AA3D-A3B66DB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175°C</a:t>
            </a:r>
          </a:p>
        </p:txBody>
      </p:sp>
      <p:sp>
        <p:nvSpPr>
          <p:cNvPr id="109" name="1.00 / MPa">
            <a:extLst xmlns:a="http://schemas.openxmlformats.org/drawingml/2006/main">
              <a:ext uri="{FF2B5EF4-FFF2-40B4-BE49-F238E27FC236}">
                <a16:creationId xmlns:a16="http://schemas.microsoft.com/office/drawing/2014/main" id="{89F8F769-376D-41CA-9799-EA0D265C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1.00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110" name="rect-64">
            <a:extLst xmlns:a="http://schemas.openxmlformats.org/drawingml/2006/main">
              <a:ext uri="{FF2B5EF4-FFF2-40B4-BE49-F238E27FC236}">
                <a16:creationId xmlns:a16="http://schemas.microsoft.com/office/drawing/2014/main" id="{7CCDA289-06E5-43BE-8D81-529CF2B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11" name="LP3">
            <a:extLst xmlns:a="http://schemas.openxmlformats.org/drawingml/2006/main">
              <a:ext uri="{FF2B5EF4-FFF2-40B4-BE49-F238E27FC236}">
                <a16:creationId xmlns:a16="http://schemas.microsoft.com/office/drawing/2014/main" id="{14FD8BF9-FEFC-4F30-9BFE-04EC87BD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LP3</a:t>
            </a:r>
          </a:p>
        </p:txBody>
      </p:sp>
      <p:sp>
        <p:nvSpPr>
          <p:cNvPr id="112" name="100°C">
            <a:extLst xmlns:a="http://schemas.openxmlformats.org/drawingml/2006/main">
              <a:ext uri="{FF2B5EF4-FFF2-40B4-BE49-F238E27FC236}">
                <a16:creationId xmlns:a16="http://schemas.microsoft.com/office/drawing/2014/main" id="{707C29B2-3F40-45AE-AD6B-99CB1C2B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100°C</a:t>
            </a:r>
          </a:p>
        </p:txBody>
      </p:sp>
      <p:sp>
        <p:nvSpPr>
          <p:cNvPr id="113" name="0.122 / MPa">
            <a:extLst xmlns:a="http://schemas.openxmlformats.org/drawingml/2006/main">
              <a:ext uri="{FF2B5EF4-FFF2-40B4-BE49-F238E27FC236}">
                <a16:creationId xmlns:a16="http://schemas.microsoft.com/office/drawing/2014/main" id="{70E52DC6-F896-4965-ACCB-B95E728F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0.122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114" name="path-65">
            <a:extLst xmlns:a="http://schemas.openxmlformats.org/drawingml/2006/main">
              <a:ext uri="{FF2B5EF4-FFF2-40B4-BE49-F238E27FC236}">
                <a16:creationId xmlns:a16="http://schemas.microsoft.com/office/drawing/2014/main" id="{B6A781A3-F8E5-4E08-8606-422DA79F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001000"/>
            <a:ext cx="428625" cy="9525"/>
          </a:xfrm>
          <a:custGeom xmlns:a="http://schemas.openxmlformats.org/drawingml/2006/main">
            <a:pathLst>
              <a:path w="428625" h="9525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15" name="flow arrow-66">
            <a:extLst xmlns:a="http://schemas.openxmlformats.org/drawingml/2006/main">
              <a:ext uri="{FF2B5EF4-FFF2-40B4-BE49-F238E27FC236}">
                <a16:creationId xmlns:a16="http://schemas.microsoft.com/office/drawing/2014/main" id="{56479770-3A6F-4AD1-AF34-794D0E3A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16" name="rect-67">
            <a:extLst xmlns:a="http://schemas.openxmlformats.org/drawingml/2006/main">
              <a:ext uri="{FF2B5EF4-FFF2-40B4-BE49-F238E27FC236}">
                <a16:creationId xmlns:a16="http://schemas.microsoft.com/office/drawing/2014/main" id="{0BF897AA-4DA6-4646-BB26-DC315783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17" name="LP2">
            <a:extLst xmlns:a="http://schemas.openxmlformats.org/drawingml/2006/main">
              <a:ext uri="{FF2B5EF4-FFF2-40B4-BE49-F238E27FC236}">
                <a16:creationId xmlns:a16="http://schemas.microsoft.com/office/drawing/2014/main" id="{3DB08836-4A59-497C-9CE2-9DBD4A0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LP2</a:t>
            </a:r>
          </a:p>
        </p:txBody>
      </p:sp>
      <p:sp>
        <p:nvSpPr>
          <p:cNvPr id="118" name="95°C">
            <a:extLst xmlns:a="http://schemas.openxmlformats.org/drawingml/2006/main">
              <a:ext uri="{FF2B5EF4-FFF2-40B4-BE49-F238E27FC236}">
                <a16:creationId xmlns:a16="http://schemas.microsoft.com/office/drawing/2014/main" id="{1D8EDCB9-EBDA-4EC4-82D2-6F185BD9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95°C</a:t>
            </a:r>
          </a:p>
        </p:txBody>
      </p:sp>
      <p:sp>
        <p:nvSpPr>
          <p:cNvPr id="119" name="0.100 / MPa">
            <a:extLst xmlns:a="http://schemas.openxmlformats.org/drawingml/2006/main">
              <a:ext uri="{FF2B5EF4-FFF2-40B4-BE49-F238E27FC236}">
                <a16:creationId xmlns:a16="http://schemas.microsoft.com/office/drawing/2014/main" id="{D3EFF1AC-7216-474F-8977-9EF71C6A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0.100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120" name="path-68">
            <a:extLst xmlns:a="http://schemas.openxmlformats.org/drawingml/2006/main">
              <a:ext uri="{FF2B5EF4-FFF2-40B4-BE49-F238E27FC236}">
                <a16:creationId xmlns:a16="http://schemas.microsoft.com/office/drawing/2014/main" id="{FD8EBFD9-6A7C-4F55-A0BD-C6E9EBD9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428625" cy="9525"/>
          </a:xfrm>
          <a:custGeom xmlns:a="http://schemas.openxmlformats.org/drawingml/2006/main">
            <a:pathLst>
              <a:path w="428625" h="9525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21" name="flow arrow-69">
            <a:extLst xmlns:a="http://schemas.openxmlformats.org/drawingml/2006/main">
              <a:ext uri="{FF2B5EF4-FFF2-40B4-BE49-F238E27FC236}">
                <a16:creationId xmlns:a16="http://schemas.microsoft.com/office/drawing/2014/main" id="{22B11D1B-5D1A-4903-AE2F-D11D39D8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22" name="rect-70">
            <a:extLst xmlns:a="http://schemas.openxmlformats.org/drawingml/2006/main">
              <a:ext uri="{FF2B5EF4-FFF2-40B4-BE49-F238E27FC236}">
                <a16:creationId xmlns:a16="http://schemas.microsoft.com/office/drawing/2014/main" id="{D0D9CC90-A59A-4C2A-B495-71E2877E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23" name="LP1">
            <a:extLst xmlns:a="http://schemas.openxmlformats.org/drawingml/2006/main">
              <a:ext uri="{FF2B5EF4-FFF2-40B4-BE49-F238E27FC236}">
                <a16:creationId xmlns:a16="http://schemas.microsoft.com/office/drawing/2014/main" id="{AE877E9A-C3B5-41B4-9431-658AC03E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LP1</a:t>
            </a:r>
          </a:p>
        </p:txBody>
      </p:sp>
      <p:sp>
        <p:nvSpPr>
          <p:cNvPr id="124" name="64°C">
            <a:extLst xmlns:a="http://schemas.openxmlformats.org/drawingml/2006/main">
              <a:ext uri="{FF2B5EF4-FFF2-40B4-BE49-F238E27FC236}">
                <a16:creationId xmlns:a16="http://schemas.microsoft.com/office/drawing/2014/main" id="{3A42E832-E34E-4DE3-A3B7-1E9B2422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64°C</a:t>
            </a:r>
          </a:p>
        </p:txBody>
      </p:sp>
      <p:sp>
        <p:nvSpPr>
          <p:cNvPr id="125" name="0.030 / MPa">
            <a:extLst xmlns:a="http://schemas.openxmlformats.org/drawingml/2006/main">
              <a:ext uri="{FF2B5EF4-FFF2-40B4-BE49-F238E27FC236}">
                <a16:creationId xmlns:a16="http://schemas.microsoft.com/office/drawing/2014/main" id="{0180159B-EABC-473C-887B-3086FD65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143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0.030</a:t>
            </a:r>
          </a:p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MPa</a:t>
            </a:r>
          </a:p>
        </p:txBody>
      </p:sp>
      <p:sp>
        <p:nvSpPr>
          <p:cNvPr id="126" name="path-71">
            <a:extLst xmlns:a="http://schemas.openxmlformats.org/drawingml/2006/main">
              <a:ext uri="{FF2B5EF4-FFF2-40B4-BE49-F238E27FC236}">
                <a16:creationId xmlns:a16="http://schemas.microsoft.com/office/drawing/2014/main" id="{E628D537-CE10-4C10-8084-AA7AF43B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904875" cy="2286000"/>
          </a:xfrm>
          <a:custGeom xmlns:a="http://schemas.openxmlformats.org/drawingml/2006/main">
            <a:pathLst>
              <a:path w="904875" h="2286000">
                <a:moveTo>
                  <a:pt x="428625" y="2286000"/>
                </a:moveTo>
                <a:lnTo>
                  <a:pt x="0" y="2286000"/>
                </a:lnTo>
                <a:lnTo>
                  <a:pt x="0" y="1123950"/>
                </a:lnTo>
                <a:lnTo>
                  <a:pt x="904875" y="1123950"/>
                </a:lnTo>
                <a:lnTo>
                  <a:pt x="90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27" name="flow arrow-72">
            <a:extLst xmlns:a="http://schemas.openxmlformats.org/drawingml/2006/main">
              <a:ext uri="{FF2B5EF4-FFF2-40B4-BE49-F238E27FC236}">
                <a16:creationId xmlns:a16="http://schemas.microsoft.com/office/drawing/2014/main" id="{7353AE4C-A31F-42ED-82A6-3C0014E2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28" name="Feedwater → SG / 24 MPa • 287°C">
            <a:extLst xmlns:a="http://schemas.openxmlformats.org/drawingml/2006/main">
              <a:ext uri="{FF2B5EF4-FFF2-40B4-BE49-F238E27FC236}">
                <a16:creationId xmlns:a16="http://schemas.microsoft.com/office/drawing/2014/main" id="{E77FEC3C-80F1-4C97-8192-D11DA633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24700"/>
            <a:ext cx="2000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Feedwater → SG</a:t>
            </a:r>
          </a:p>
          <a:p xmlns:a="http://schemas.openxmlformats.org/drawingml/2006/main">
            <a:pPr algn="l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24 MPa • 287°C</a:t>
            </a:r>
          </a:p>
        </p:txBody>
      </p:sp>
      <p:sp>
        <p:nvSpPr>
          <p:cNvPr id="129" name="26.5 MPa / 163°C">
            <a:extLst xmlns:a="http://schemas.openxmlformats.org/drawingml/2006/main">
              <a:ext uri="{FF2B5EF4-FFF2-40B4-BE49-F238E27FC236}">
                <a16:creationId xmlns:a16="http://schemas.microsoft.com/office/drawing/2014/main" id="{7AA78AB8-7E05-4893-B22C-AE463984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72525"/>
            <a:ext cx="1362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26.5 MPa</a:t>
            </a:r>
          </a:p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163°C</a:t>
            </a:r>
          </a:p>
        </p:txBody>
      </p:sp>
      <p:sp>
        <p:nvSpPr>
          <p:cNvPr id="130" name="1.0 MPa / 33°C">
            <a:extLst xmlns:a="http://schemas.openxmlformats.org/drawingml/2006/main">
              <a:ext uri="{FF2B5EF4-FFF2-40B4-BE49-F238E27FC236}">
                <a16:creationId xmlns:a16="http://schemas.microsoft.com/office/drawing/2014/main" id="{95D73CE8-FD88-4B7F-AA65-A45A8F17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86582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1.0 MPa</a:t>
            </a:r>
          </a:p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33°C</a:t>
            </a:r>
          </a:p>
        </p:txBody>
      </p:sp>
      <p:sp>
        <p:nvSpPr>
          <p:cNvPr id="131" name="HP feedwater heaters">
            <a:extLst xmlns:a="http://schemas.openxmlformats.org/drawingml/2006/main">
              <a:ext uri="{FF2B5EF4-FFF2-40B4-BE49-F238E27FC236}">
                <a16:creationId xmlns:a16="http://schemas.microsoft.com/office/drawing/2014/main" id="{9740D127-E698-4EC0-A239-EC6E4E64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8801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 feedwater heaters</a:t>
            </a:r>
          </a:p>
        </p:txBody>
      </p:sp>
      <p:sp>
        <p:nvSpPr>
          <p:cNvPr id="132" name="LP feedwater heaters">
            <a:extLst xmlns:a="http://schemas.openxmlformats.org/drawingml/2006/main">
              <a:ext uri="{FF2B5EF4-FFF2-40B4-BE49-F238E27FC236}">
                <a16:creationId xmlns:a16="http://schemas.microsoft.com/office/drawing/2014/main" id="{E1FF9133-3F19-448A-8B02-4E2FC285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88011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 feedwater heaters</a:t>
            </a:r>
          </a:p>
        </p:txBody>
      </p:sp>
      <p:sp>
        <p:nvSpPr>
          <p:cNvPr id="133" name="Extraction route 73">
            <a:extLst xmlns:a="http://schemas.openxmlformats.org/drawingml/2006/main">
              <a:ext uri="{FF2B5EF4-FFF2-40B4-BE49-F238E27FC236}">
                <a16:creationId xmlns:a16="http://schemas.microsoft.com/office/drawing/2014/main" id="{CE2F207D-0EEE-4493-93C4-4994F13A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038600"/>
            <a:ext cx="2733675" cy="3819525"/>
          </a:xfrm>
          <a:custGeom xmlns:a="http://schemas.openxmlformats.org/drawingml/2006/main">
            <a:pathLst>
              <a:path w="2733675" h="3819525">
                <a:moveTo>
                  <a:pt x="2638425" y="95250"/>
                </a:moveTo>
                <a:lnTo>
                  <a:pt x="2638425" y="1390650"/>
                </a:lnTo>
                <a:lnTo>
                  <a:pt x="1066800" y="1390650"/>
                </a:lnTo>
                <a:lnTo>
                  <a:pt x="1066800" y="2914650"/>
                </a:lnTo>
                <a:lnTo>
                  <a:pt x="95250" y="2914650"/>
                </a:lnTo>
                <a:lnTo>
                  <a:pt x="95250" y="3724275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34" name="Extraction route 73">
            <a:extLst xmlns:a="http://schemas.openxmlformats.org/drawingml/2006/main">
              <a:ext uri="{FF2B5EF4-FFF2-40B4-BE49-F238E27FC236}">
                <a16:creationId xmlns:a16="http://schemas.microsoft.com/office/drawing/2014/main" id="{C802EB82-CCE2-468E-85C1-60135AF9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038600"/>
            <a:ext cx="2733675" cy="3819525"/>
          </a:xfrm>
          <a:custGeom xmlns:a="http://schemas.openxmlformats.org/drawingml/2006/main">
            <a:pathLst>
              <a:path w="2733675" h="3819525">
                <a:moveTo>
                  <a:pt x="2638425" y="95250"/>
                </a:moveTo>
                <a:lnTo>
                  <a:pt x="2638425" y="1390650"/>
                </a:lnTo>
                <a:lnTo>
                  <a:pt x="1066800" y="1390650"/>
                </a:lnTo>
                <a:lnTo>
                  <a:pt x="1066800" y="2914650"/>
                </a:lnTo>
                <a:lnTo>
                  <a:pt x="95250" y="2914650"/>
                </a:lnTo>
                <a:lnTo>
                  <a:pt x="95250" y="37242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35" name="flow arrow-74">
            <a:extLst xmlns:a="http://schemas.openxmlformats.org/drawingml/2006/main">
              <a:ext uri="{FF2B5EF4-FFF2-40B4-BE49-F238E27FC236}">
                <a16:creationId xmlns:a16="http://schemas.microsoft.com/office/drawing/2014/main" id="{34729237-1A67-461F-8B2A-8B3AED5C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36" name="Extraction route 75">
            <a:extLst xmlns:a="http://schemas.openxmlformats.org/drawingml/2006/main">
              <a:ext uri="{FF2B5EF4-FFF2-40B4-BE49-F238E27FC236}">
                <a16:creationId xmlns:a16="http://schemas.microsoft.com/office/drawing/2014/main" id="{F4C0B1D5-7ECF-410F-8663-6D7F90DE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48075"/>
            <a:ext cx="3019425" cy="4210050"/>
          </a:xfrm>
          <a:custGeom xmlns:a="http://schemas.openxmlformats.org/drawingml/2006/main">
            <a:pathLst>
              <a:path w="3019425" h="4210050">
                <a:moveTo>
                  <a:pt x="2924175" y="95250"/>
                </a:moveTo>
                <a:lnTo>
                  <a:pt x="2924175" y="952500"/>
                </a:lnTo>
                <a:cubicBezTo>
                  <a:pt x="3028950" y="952500"/>
                  <a:pt x="3028950" y="1085850"/>
                  <a:pt x="2924175" y="1085850"/>
                </a:cubicBezTo>
                <a:lnTo>
                  <a:pt x="2924175" y="2066925"/>
                </a:lnTo>
                <a:lnTo>
                  <a:pt x="95250" y="2066925"/>
                </a:lnTo>
                <a:lnTo>
                  <a:pt x="95250" y="41148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37" name="Extraction route 75">
            <a:extLst xmlns:a="http://schemas.openxmlformats.org/drawingml/2006/main">
              <a:ext uri="{FF2B5EF4-FFF2-40B4-BE49-F238E27FC236}">
                <a16:creationId xmlns:a16="http://schemas.microsoft.com/office/drawing/2014/main" id="{8C67942A-9A5F-422A-91F8-A7684097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48075"/>
            <a:ext cx="3019425" cy="4210050"/>
          </a:xfrm>
          <a:custGeom xmlns:a="http://schemas.openxmlformats.org/drawingml/2006/main">
            <a:pathLst>
              <a:path w="3019425" h="4210050">
                <a:moveTo>
                  <a:pt x="2924175" y="95250"/>
                </a:moveTo>
                <a:lnTo>
                  <a:pt x="2924175" y="952500"/>
                </a:lnTo>
                <a:cubicBezTo>
                  <a:pt x="3028950" y="952500"/>
                  <a:pt x="3028950" y="1085850"/>
                  <a:pt x="2924175" y="1085850"/>
                </a:cubicBezTo>
                <a:lnTo>
                  <a:pt x="2924175" y="2066925"/>
                </a:lnTo>
                <a:lnTo>
                  <a:pt x="95250" y="2066925"/>
                </a:lnTo>
                <a:lnTo>
                  <a:pt x="95250" y="41148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38" name="flow arrow-76">
            <a:extLst xmlns:a="http://schemas.openxmlformats.org/drawingml/2006/main">
              <a:ext uri="{FF2B5EF4-FFF2-40B4-BE49-F238E27FC236}">
                <a16:creationId xmlns:a16="http://schemas.microsoft.com/office/drawing/2014/main" id="{146842AC-DB0A-4DF1-B354-1C6643A6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39" name="ellipse-77">
            <a:extLst xmlns:a="http://schemas.openxmlformats.org/drawingml/2006/main">
              <a:ext uri="{FF2B5EF4-FFF2-40B4-BE49-F238E27FC236}">
                <a16:creationId xmlns:a16="http://schemas.microsoft.com/office/drawing/2014/main" id="{BF83A781-5444-434E-A2FF-4363B29C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722"/>
          </a:solidFill>
          <a:ln xmlns:a="http://schemas.openxmlformats.org/drawingml/2006/main" w="0">
            <a:solidFill>
              <a:srgbClr val="B44722"/>
            </a:solidFill>
            <a:prstDash val="solid"/>
          </a:ln>
        </p:spPr>
      </p:sp>
      <p:sp>
        <p:nvSpPr>
          <p:cNvPr id="140" name="Extraction route 78">
            <a:extLst xmlns:a="http://schemas.openxmlformats.org/drawingml/2006/main">
              <a:ext uri="{FF2B5EF4-FFF2-40B4-BE49-F238E27FC236}">
                <a16:creationId xmlns:a16="http://schemas.microsoft.com/office/drawing/2014/main" id="{D7CE22C2-BD2E-4542-8907-D83A84AC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91000"/>
            <a:ext cx="6019800" cy="2857500"/>
          </a:xfrm>
          <a:custGeom xmlns:a="http://schemas.openxmlformats.org/drawingml/2006/main">
            <a:pathLst>
              <a:path w="6019800" h="2857500">
                <a:moveTo>
                  <a:pt x="5924550" y="95250"/>
                </a:moveTo>
                <a:lnTo>
                  <a:pt x="5924550" y="409575"/>
                </a:lnTo>
                <a:cubicBezTo>
                  <a:pt x="6029325" y="409575"/>
                  <a:pt x="6029325" y="542925"/>
                  <a:pt x="5924550" y="542925"/>
                </a:cubicBezTo>
                <a:lnTo>
                  <a:pt x="5924550" y="857250"/>
                </a:lnTo>
                <a:lnTo>
                  <a:pt x="4419600" y="857250"/>
                </a:lnTo>
                <a:cubicBezTo>
                  <a:pt x="4419600" y="752475"/>
                  <a:pt x="4286250" y="752475"/>
                  <a:pt x="4286250" y="857250"/>
                </a:cubicBezTo>
                <a:lnTo>
                  <a:pt x="2705100" y="857250"/>
                </a:lnTo>
                <a:cubicBezTo>
                  <a:pt x="2705100" y="752475"/>
                  <a:pt x="2571750" y="752475"/>
                  <a:pt x="2571750" y="857250"/>
                </a:cubicBezTo>
                <a:lnTo>
                  <a:pt x="781050" y="857250"/>
                </a:lnTo>
                <a:lnTo>
                  <a:pt x="781050" y="2571750"/>
                </a:lnTo>
                <a:lnTo>
                  <a:pt x="95250" y="2571750"/>
                </a:lnTo>
                <a:lnTo>
                  <a:pt x="95250" y="27622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41" name="Extraction route 78">
            <a:extLst xmlns:a="http://schemas.openxmlformats.org/drawingml/2006/main">
              <a:ext uri="{FF2B5EF4-FFF2-40B4-BE49-F238E27FC236}">
                <a16:creationId xmlns:a16="http://schemas.microsoft.com/office/drawing/2014/main" id="{DF178757-428E-4E17-A564-57C46954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91000"/>
            <a:ext cx="6019800" cy="2857500"/>
          </a:xfrm>
          <a:custGeom xmlns:a="http://schemas.openxmlformats.org/drawingml/2006/main">
            <a:pathLst>
              <a:path w="6019800" h="2857500">
                <a:moveTo>
                  <a:pt x="5924550" y="95250"/>
                </a:moveTo>
                <a:lnTo>
                  <a:pt x="5924550" y="409575"/>
                </a:lnTo>
                <a:cubicBezTo>
                  <a:pt x="6029325" y="409575"/>
                  <a:pt x="6029325" y="542925"/>
                  <a:pt x="5924550" y="542925"/>
                </a:cubicBezTo>
                <a:lnTo>
                  <a:pt x="5924550" y="857250"/>
                </a:lnTo>
                <a:lnTo>
                  <a:pt x="4419600" y="857250"/>
                </a:lnTo>
                <a:cubicBezTo>
                  <a:pt x="4419600" y="752475"/>
                  <a:pt x="4286250" y="752475"/>
                  <a:pt x="4286250" y="857250"/>
                </a:cubicBezTo>
                <a:lnTo>
                  <a:pt x="2705100" y="857250"/>
                </a:lnTo>
                <a:cubicBezTo>
                  <a:pt x="2705100" y="752475"/>
                  <a:pt x="2571750" y="752475"/>
                  <a:pt x="2571750" y="857250"/>
                </a:cubicBezTo>
                <a:lnTo>
                  <a:pt x="781050" y="857250"/>
                </a:lnTo>
                <a:lnTo>
                  <a:pt x="781050" y="2571750"/>
                </a:lnTo>
                <a:lnTo>
                  <a:pt x="95250" y="2571750"/>
                </a:lnTo>
                <a:lnTo>
                  <a:pt x="95250" y="2762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42" name="flow arrow-79">
            <a:extLst xmlns:a="http://schemas.openxmlformats.org/drawingml/2006/main">
              <a:ext uri="{FF2B5EF4-FFF2-40B4-BE49-F238E27FC236}">
                <a16:creationId xmlns:a16="http://schemas.microsoft.com/office/drawing/2014/main" id="{BB47F79E-B8DE-4768-A6E9-1DB6EA96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8389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43" name="ellipse-80">
            <a:extLst xmlns:a="http://schemas.openxmlformats.org/drawingml/2006/main">
              <a:ext uri="{FF2B5EF4-FFF2-40B4-BE49-F238E27FC236}">
                <a16:creationId xmlns:a16="http://schemas.microsoft.com/office/drawing/2014/main" id="{A4B7EB31-D8E2-4417-A8DE-D5409448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90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7228"/>
          </a:solidFill>
          <a:ln xmlns:a="http://schemas.openxmlformats.org/drawingml/2006/main" w="0">
            <a:solidFill>
              <a:srgbClr val="967228"/>
            </a:solidFill>
            <a:prstDash val="solid"/>
          </a:ln>
        </p:spPr>
      </p:sp>
      <p:sp>
        <p:nvSpPr>
          <p:cNvPr id="144" name="Throttle valve-81">
            <a:extLst xmlns:a="http://schemas.openxmlformats.org/drawingml/2006/main">
              <a:ext uri="{FF2B5EF4-FFF2-40B4-BE49-F238E27FC236}">
                <a16:creationId xmlns:a16="http://schemas.microsoft.com/office/drawing/2014/main" id="{33BCC35B-C79C-4CFC-9F1F-A34A6404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43625"/>
            <a:ext cx="171450" cy="190500"/>
          </a:xfrm>
          <a:custGeom xmlns:a="http://schemas.openxmlformats.org/drawingml/2006/main">
            <a:pathLst>
              <a:path w="171450" h="190500">
                <a:moveTo>
                  <a:pt x="0" y="0"/>
                </a:moveTo>
                <a:lnTo>
                  <a:pt x="171450" y="190500"/>
                </a:lnTo>
                <a:lnTo>
                  <a:pt x="0" y="190500"/>
                </a:lnTo>
                <a:lnTo>
                  <a:pt x="1714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67228"/>
            </a:solidFill>
            <a:prstDash val="solid"/>
          </a:ln>
        </p:spPr>
      </p:sp>
      <p:sp>
        <p:nvSpPr>
          <p:cNvPr id="145" name="Extraction route 82">
            <a:extLst xmlns:a="http://schemas.openxmlformats.org/drawingml/2006/main">
              <a:ext uri="{FF2B5EF4-FFF2-40B4-BE49-F238E27FC236}">
                <a16:creationId xmlns:a16="http://schemas.microsoft.com/office/drawing/2014/main" id="{AB36CD84-D548-4F48-AA31-E8386E17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48125"/>
            <a:ext cx="5686425" cy="3810000"/>
          </a:xfrm>
          <a:custGeom xmlns:a="http://schemas.openxmlformats.org/drawingml/2006/main">
            <a:pathLst>
              <a:path w="5686425" h="3810000">
                <a:moveTo>
                  <a:pt x="5591175" y="95250"/>
                </a:moveTo>
                <a:lnTo>
                  <a:pt x="5591175" y="552450"/>
                </a:lnTo>
                <a:cubicBezTo>
                  <a:pt x="5695950" y="552450"/>
                  <a:pt x="5695950" y="685800"/>
                  <a:pt x="5591175" y="685800"/>
                </a:cubicBezTo>
                <a:lnTo>
                  <a:pt x="5591175" y="2143125"/>
                </a:lnTo>
                <a:lnTo>
                  <a:pt x="95250" y="2143125"/>
                </a:lnTo>
                <a:lnTo>
                  <a:pt x="95250" y="37147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46" name="Extraction route 82">
            <a:extLst xmlns:a="http://schemas.openxmlformats.org/drawingml/2006/main">
              <a:ext uri="{FF2B5EF4-FFF2-40B4-BE49-F238E27FC236}">
                <a16:creationId xmlns:a16="http://schemas.microsoft.com/office/drawing/2014/main" id="{4E3DEE5D-3CF2-4B81-B54E-8432E6C0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48125"/>
            <a:ext cx="5686425" cy="3810000"/>
          </a:xfrm>
          <a:custGeom xmlns:a="http://schemas.openxmlformats.org/drawingml/2006/main">
            <a:pathLst>
              <a:path w="5686425" h="3810000">
                <a:moveTo>
                  <a:pt x="5591175" y="95250"/>
                </a:moveTo>
                <a:lnTo>
                  <a:pt x="5591175" y="552450"/>
                </a:lnTo>
                <a:cubicBezTo>
                  <a:pt x="5695950" y="552450"/>
                  <a:pt x="5695950" y="685800"/>
                  <a:pt x="5591175" y="685800"/>
                </a:cubicBezTo>
                <a:lnTo>
                  <a:pt x="5591175" y="2143125"/>
                </a:lnTo>
                <a:lnTo>
                  <a:pt x="95250" y="2143125"/>
                </a:lnTo>
                <a:lnTo>
                  <a:pt x="95250" y="3714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47" name="flow arrow-83">
            <a:extLst xmlns:a="http://schemas.openxmlformats.org/drawingml/2006/main">
              <a:ext uri="{FF2B5EF4-FFF2-40B4-BE49-F238E27FC236}">
                <a16:creationId xmlns:a16="http://schemas.microsoft.com/office/drawing/2014/main" id="{05CE69C4-2D8A-445C-949B-594B398B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48" name="Extraction route 84">
            <a:extLst xmlns:a="http://schemas.openxmlformats.org/drawingml/2006/main">
              <a:ext uri="{FF2B5EF4-FFF2-40B4-BE49-F238E27FC236}">
                <a16:creationId xmlns:a16="http://schemas.microsoft.com/office/drawing/2014/main" id="{9D7A753F-8147-4626-83F0-73EE49EA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143375"/>
            <a:ext cx="4733925" cy="3714750"/>
          </a:xfrm>
          <a:custGeom xmlns:a="http://schemas.openxmlformats.org/drawingml/2006/main">
            <a:pathLst>
              <a:path w="4733925" h="3714750">
                <a:moveTo>
                  <a:pt x="4638675" y="95250"/>
                </a:moveTo>
                <a:lnTo>
                  <a:pt x="4638675" y="457200"/>
                </a:lnTo>
                <a:cubicBezTo>
                  <a:pt x="4743450" y="457200"/>
                  <a:pt x="4743450" y="590550"/>
                  <a:pt x="4638675" y="590550"/>
                </a:cubicBezTo>
                <a:lnTo>
                  <a:pt x="4638675" y="2333625"/>
                </a:lnTo>
                <a:lnTo>
                  <a:pt x="95250" y="2333625"/>
                </a:lnTo>
                <a:lnTo>
                  <a:pt x="95250" y="36195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49" name="Extraction route 84">
            <a:extLst xmlns:a="http://schemas.openxmlformats.org/drawingml/2006/main">
              <a:ext uri="{FF2B5EF4-FFF2-40B4-BE49-F238E27FC236}">
                <a16:creationId xmlns:a16="http://schemas.microsoft.com/office/drawing/2014/main" id="{32694DC7-D210-49E1-BF6D-57C24238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143375"/>
            <a:ext cx="4733925" cy="3714750"/>
          </a:xfrm>
          <a:custGeom xmlns:a="http://schemas.openxmlformats.org/drawingml/2006/main">
            <a:pathLst>
              <a:path w="4733925" h="3714750">
                <a:moveTo>
                  <a:pt x="4638675" y="95250"/>
                </a:moveTo>
                <a:lnTo>
                  <a:pt x="4638675" y="457200"/>
                </a:lnTo>
                <a:cubicBezTo>
                  <a:pt x="4743450" y="457200"/>
                  <a:pt x="4743450" y="590550"/>
                  <a:pt x="4638675" y="590550"/>
                </a:cubicBezTo>
                <a:lnTo>
                  <a:pt x="4638675" y="2333625"/>
                </a:lnTo>
                <a:lnTo>
                  <a:pt x="95250" y="2333625"/>
                </a:lnTo>
                <a:lnTo>
                  <a:pt x="95250" y="3619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50" name="flow arrow-85">
            <a:extLst xmlns:a="http://schemas.openxmlformats.org/drawingml/2006/main">
              <a:ext uri="{FF2B5EF4-FFF2-40B4-BE49-F238E27FC236}">
                <a16:creationId xmlns:a16="http://schemas.microsoft.com/office/drawing/2014/main" id="{89E3E3A9-FAC1-43B5-A510-1C49A5F4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51" name="Extraction route 86">
            <a:extLst xmlns:a="http://schemas.openxmlformats.org/drawingml/2006/main">
              <a:ext uri="{FF2B5EF4-FFF2-40B4-BE49-F238E27FC236}">
                <a16:creationId xmlns:a16="http://schemas.microsoft.com/office/drawing/2014/main" id="{DAF0D20B-72EF-475B-B1C6-F8CB6F70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48075"/>
            <a:ext cx="2476500" cy="4143375"/>
          </a:xfrm>
          <a:custGeom xmlns:a="http://schemas.openxmlformats.org/drawingml/2006/main">
            <a:pathLst>
              <a:path w="2476500" h="4143375">
                <a:moveTo>
                  <a:pt x="2381250" y="95250"/>
                </a:moveTo>
                <a:lnTo>
                  <a:pt x="2381250" y="1400175"/>
                </a:lnTo>
                <a:lnTo>
                  <a:pt x="1400175" y="1400175"/>
                </a:lnTo>
                <a:cubicBezTo>
                  <a:pt x="1400175" y="1295400"/>
                  <a:pt x="1266825" y="1295400"/>
                  <a:pt x="1266825" y="1400175"/>
                </a:cubicBezTo>
                <a:lnTo>
                  <a:pt x="923925" y="1400175"/>
                </a:lnTo>
                <a:cubicBezTo>
                  <a:pt x="923925" y="1295400"/>
                  <a:pt x="790575" y="1295400"/>
                  <a:pt x="790575" y="1400175"/>
                </a:cubicBezTo>
                <a:lnTo>
                  <a:pt x="95250" y="1400175"/>
                </a:lnTo>
                <a:lnTo>
                  <a:pt x="95250" y="2476500"/>
                </a:lnTo>
                <a:cubicBezTo>
                  <a:pt x="200025" y="2476500"/>
                  <a:pt x="200025" y="2609850"/>
                  <a:pt x="95250" y="2609850"/>
                </a:cubicBezTo>
                <a:lnTo>
                  <a:pt x="95250" y="2762250"/>
                </a:lnTo>
                <a:cubicBezTo>
                  <a:pt x="200025" y="2762250"/>
                  <a:pt x="200025" y="2895600"/>
                  <a:pt x="95250" y="2895600"/>
                </a:cubicBezTo>
                <a:lnTo>
                  <a:pt x="95250" y="4048125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52" name="Extraction route 86">
            <a:extLst xmlns:a="http://schemas.openxmlformats.org/drawingml/2006/main">
              <a:ext uri="{FF2B5EF4-FFF2-40B4-BE49-F238E27FC236}">
                <a16:creationId xmlns:a16="http://schemas.microsoft.com/office/drawing/2014/main" id="{41A53573-77E8-4F94-881E-9DFACB4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48075"/>
            <a:ext cx="2476500" cy="4143375"/>
          </a:xfrm>
          <a:custGeom xmlns:a="http://schemas.openxmlformats.org/drawingml/2006/main">
            <a:pathLst>
              <a:path w="2476500" h="4143375">
                <a:moveTo>
                  <a:pt x="2381250" y="95250"/>
                </a:moveTo>
                <a:lnTo>
                  <a:pt x="2381250" y="1400175"/>
                </a:lnTo>
                <a:lnTo>
                  <a:pt x="1400175" y="1400175"/>
                </a:lnTo>
                <a:cubicBezTo>
                  <a:pt x="1400175" y="1295400"/>
                  <a:pt x="1266825" y="1295400"/>
                  <a:pt x="1266825" y="1400175"/>
                </a:cubicBezTo>
                <a:lnTo>
                  <a:pt x="923925" y="1400175"/>
                </a:lnTo>
                <a:cubicBezTo>
                  <a:pt x="923925" y="1295400"/>
                  <a:pt x="790575" y="1295400"/>
                  <a:pt x="790575" y="1400175"/>
                </a:cubicBezTo>
                <a:lnTo>
                  <a:pt x="95250" y="1400175"/>
                </a:lnTo>
                <a:lnTo>
                  <a:pt x="95250" y="2476500"/>
                </a:lnTo>
                <a:cubicBezTo>
                  <a:pt x="200025" y="2476500"/>
                  <a:pt x="200025" y="2609850"/>
                  <a:pt x="95250" y="2609850"/>
                </a:cubicBezTo>
                <a:lnTo>
                  <a:pt x="95250" y="2762250"/>
                </a:lnTo>
                <a:cubicBezTo>
                  <a:pt x="200025" y="2762250"/>
                  <a:pt x="200025" y="2895600"/>
                  <a:pt x="95250" y="2895600"/>
                </a:cubicBezTo>
                <a:lnTo>
                  <a:pt x="95250" y="4048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53" name="flow arrow-87">
            <a:extLst xmlns:a="http://schemas.openxmlformats.org/drawingml/2006/main">
              <a:ext uri="{FF2B5EF4-FFF2-40B4-BE49-F238E27FC236}">
                <a16:creationId xmlns:a16="http://schemas.microsoft.com/office/drawing/2014/main" id="{526F42EF-54B5-449B-AFA5-73735D8F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58190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54" name="ellipse-88">
            <a:extLst xmlns:a="http://schemas.openxmlformats.org/drawingml/2006/main">
              <a:ext uri="{FF2B5EF4-FFF2-40B4-BE49-F238E27FC236}">
                <a16:creationId xmlns:a16="http://schemas.microsoft.com/office/drawing/2014/main" id="{7153D11C-BF4D-4D4C-8D98-D0D6ADF0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722"/>
          </a:solidFill>
          <a:ln xmlns:a="http://schemas.openxmlformats.org/drawingml/2006/main" w="0">
            <a:solidFill>
              <a:srgbClr val="B44722"/>
            </a:solidFill>
            <a:prstDash val="solid"/>
          </a:ln>
        </p:spPr>
      </p:sp>
      <p:sp>
        <p:nvSpPr>
          <p:cNvPr id="155" name="Extraction route 89">
            <a:extLst xmlns:a="http://schemas.openxmlformats.org/drawingml/2006/main">
              <a:ext uri="{FF2B5EF4-FFF2-40B4-BE49-F238E27FC236}">
                <a16:creationId xmlns:a16="http://schemas.microsoft.com/office/drawing/2014/main" id="{E4C3AB55-7840-4D46-8BA0-1A7BB3AC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4019550"/>
            <a:ext cx="2733675" cy="3838575"/>
          </a:xfrm>
          <a:custGeom xmlns:a="http://schemas.openxmlformats.org/drawingml/2006/main">
            <a:pathLst>
              <a:path w="2733675" h="3838575">
                <a:moveTo>
                  <a:pt x="2638425" y="95250"/>
                </a:moveTo>
                <a:lnTo>
                  <a:pt x="2638425" y="581025"/>
                </a:lnTo>
                <a:cubicBezTo>
                  <a:pt x="2743200" y="581025"/>
                  <a:pt x="2743200" y="714375"/>
                  <a:pt x="2638425" y="714375"/>
                </a:cubicBezTo>
                <a:lnTo>
                  <a:pt x="2638425" y="1200150"/>
                </a:lnTo>
                <a:lnTo>
                  <a:pt x="419100" y="1200150"/>
                </a:lnTo>
                <a:cubicBezTo>
                  <a:pt x="419100" y="1095375"/>
                  <a:pt x="285750" y="1095375"/>
                  <a:pt x="285750" y="1200150"/>
                </a:cubicBezTo>
                <a:lnTo>
                  <a:pt x="95250" y="1200150"/>
                </a:lnTo>
                <a:lnTo>
                  <a:pt x="95250" y="2390775"/>
                </a:lnTo>
                <a:cubicBezTo>
                  <a:pt x="200025" y="2390775"/>
                  <a:pt x="200025" y="2524125"/>
                  <a:pt x="95250" y="2524125"/>
                </a:cubicBezTo>
                <a:lnTo>
                  <a:pt x="95250" y="3743325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56" name="Extraction route 89">
            <a:extLst xmlns:a="http://schemas.openxmlformats.org/drawingml/2006/main">
              <a:ext uri="{FF2B5EF4-FFF2-40B4-BE49-F238E27FC236}">
                <a16:creationId xmlns:a16="http://schemas.microsoft.com/office/drawing/2014/main" id="{140E7922-7522-4CE7-8331-737BDCBD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4019550"/>
            <a:ext cx="2733675" cy="3838575"/>
          </a:xfrm>
          <a:custGeom xmlns:a="http://schemas.openxmlformats.org/drawingml/2006/main">
            <a:pathLst>
              <a:path w="2733675" h="3838575">
                <a:moveTo>
                  <a:pt x="2638425" y="95250"/>
                </a:moveTo>
                <a:lnTo>
                  <a:pt x="2638425" y="581025"/>
                </a:lnTo>
                <a:cubicBezTo>
                  <a:pt x="2743200" y="581025"/>
                  <a:pt x="2743200" y="714375"/>
                  <a:pt x="2638425" y="714375"/>
                </a:cubicBezTo>
                <a:lnTo>
                  <a:pt x="2638425" y="1200150"/>
                </a:lnTo>
                <a:lnTo>
                  <a:pt x="419100" y="1200150"/>
                </a:lnTo>
                <a:cubicBezTo>
                  <a:pt x="419100" y="1095375"/>
                  <a:pt x="285750" y="1095375"/>
                  <a:pt x="285750" y="1200150"/>
                </a:cubicBezTo>
                <a:lnTo>
                  <a:pt x="95250" y="1200150"/>
                </a:lnTo>
                <a:lnTo>
                  <a:pt x="95250" y="2390775"/>
                </a:lnTo>
                <a:cubicBezTo>
                  <a:pt x="200025" y="2390775"/>
                  <a:pt x="200025" y="2524125"/>
                  <a:pt x="95250" y="2524125"/>
                </a:cubicBezTo>
                <a:lnTo>
                  <a:pt x="95250" y="3743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57" name="flow arrow-90">
            <a:extLst xmlns:a="http://schemas.openxmlformats.org/drawingml/2006/main">
              <a:ext uri="{FF2B5EF4-FFF2-40B4-BE49-F238E27FC236}">
                <a16:creationId xmlns:a16="http://schemas.microsoft.com/office/drawing/2014/main" id="{A0B7C67E-A72A-4231-A7BE-9927BDFC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58" name="Extraction route 91">
            <a:extLst xmlns:a="http://schemas.openxmlformats.org/drawingml/2006/main">
              <a:ext uri="{FF2B5EF4-FFF2-40B4-BE49-F238E27FC236}">
                <a16:creationId xmlns:a16="http://schemas.microsoft.com/office/drawing/2014/main" id="{F4E9E58B-E384-4149-A4F3-68256193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143375"/>
            <a:ext cx="2762250" cy="3714750"/>
          </a:xfrm>
          <a:custGeom xmlns:a="http://schemas.openxmlformats.org/drawingml/2006/main">
            <a:pathLst>
              <a:path w="2762250" h="3714750">
                <a:moveTo>
                  <a:pt x="2667000" y="95250"/>
                </a:moveTo>
                <a:lnTo>
                  <a:pt x="2667000" y="1362075"/>
                </a:lnTo>
                <a:lnTo>
                  <a:pt x="95250" y="1362075"/>
                </a:lnTo>
                <a:lnTo>
                  <a:pt x="95250" y="2476500"/>
                </a:lnTo>
                <a:lnTo>
                  <a:pt x="1076325" y="2476500"/>
                </a:lnTo>
                <a:lnTo>
                  <a:pt x="1076325" y="361950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59" name="Extraction route 91">
            <a:extLst xmlns:a="http://schemas.openxmlformats.org/drawingml/2006/main">
              <a:ext uri="{FF2B5EF4-FFF2-40B4-BE49-F238E27FC236}">
                <a16:creationId xmlns:a16="http://schemas.microsoft.com/office/drawing/2014/main" id="{66ECBCCF-9B4E-4B08-95CF-24A0FA95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143375"/>
            <a:ext cx="2762250" cy="3714750"/>
          </a:xfrm>
          <a:custGeom xmlns:a="http://schemas.openxmlformats.org/drawingml/2006/main">
            <a:pathLst>
              <a:path w="2762250" h="3714750">
                <a:moveTo>
                  <a:pt x="2667000" y="95250"/>
                </a:moveTo>
                <a:lnTo>
                  <a:pt x="2667000" y="1362075"/>
                </a:lnTo>
                <a:lnTo>
                  <a:pt x="95250" y="1362075"/>
                </a:lnTo>
                <a:lnTo>
                  <a:pt x="95250" y="2476500"/>
                </a:lnTo>
                <a:lnTo>
                  <a:pt x="1076325" y="2476500"/>
                </a:lnTo>
                <a:lnTo>
                  <a:pt x="1076325" y="3619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60" name="flow arrow-92">
            <a:extLst xmlns:a="http://schemas.openxmlformats.org/drawingml/2006/main">
              <a:ext uri="{FF2B5EF4-FFF2-40B4-BE49-F238E27FC236}">
                <a16:creationId xmlns:a16="http://schemas.microsoft.com/office/drawing/2014/main" id="{DCEB669C-E92B-41DE-A0AF-FBE25D50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61" name="Extraction route 93">
            <a:extLst xmlns:a="http://schemas.openxmlformats.org/drawingml/2006/main">
              <a:ext uri="{FF2B5EF4-FFF2-40B4-BE49-F238E27FC236}">
                <a16:creationId xmlns:a16="http://schemas.microsoft.com/office/drawing/2014/main" id="{604EDD65-6F90-4CE1-A0A5-E0E43DA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238625"/>
            <a:ext cx="1047750" cy="3619500"/>
          </a:xfrm>
          <a:custGeom xmlns:a="http://schemas.openxmlformats.org/drawingml/2006/main">
            <a:pathLst>
              <a:path w="1047750" h="3619500">
                <a:moveTo>
                  <a:pt x="952500" y="95250"/>
                </a:moveTo>
                <a:lnTo>
                  <a:pt x="952500" y="1095375"/>
                </a:lnTo>
                <a:lnTo>
                  <a:pt x="542925" y="1095375"/>
                </a:lnTo>
                <a:cubicBezTo>
                  <a:pt x="542925" y="990600"/>
                  <a:pt x="409575" y="990600"/>
                  <a:pt x="409575" y="1095375"/>
                </a:cubicBezTo>
                <a:lnTo>
                  <a:pt x="95250" y="1095375"/>
                </a:lnTo>
                <a:lnTo>
                  <a:pt x="95250" y="1200150"/>
                </a:lnTo>
                <a:cubicBezTo>
                  <a:pt x="200025" y="1200150"/>
                  <a:pt x="200025" y="1333500"/>
                  <a:pt x="95250" y="1333500"/>
                </a:cubicBezTo>
                <a:lnTo>
                  <a:pt x="95250" y="2333625"/>
                </a:lnTo>
                <a:lnTo>
                  <a:pt x="409575" y="2333625"/>
                </a:lnTo>
                <a:lnTo>
                  <a:pt x="409575" y="35242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62" name="Extraction route 93">
            <a:extLst xmlns:a="http://schemas.openxmlformats.org/drawingml/2006/main">
              <a:ext uri="{FF2B5EF4-FFF2-40B4-BE49-F238E27FC236}">
                <a16:creationId xmlns:a16="http://schemas.microsoft.com/office/drawing/2014/main" id="{A82EDF0B-B2F6-4FD1-8CF0-3A539955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238625"/>
            <a:ext cx="1047750" cy="3619500"/>
          </a:xfrm>
          <a:custGeom xmlns:a="http://schemas.openxmlformats.org/drawingml/2006/main">
            <a:pathLst>
              <a:path w="1047750" h="3619500">
                <a:moveTo>
                  <a:pt x="952500" y="95250"/>
                </a:moveTo>
                <a:lnTo>
                  <a:pt x="952500" y="1095375"/>
                </a:lnTo>
                <a:lnTo>
                  <a:pt x="542925" y="1095375"/>
                </a:lnTo>
                <a:cubicBezTo>
                  <a:pt x="542925" y="990600"/>
                  <a:pt x="409575" y="990600"/>
                  <a:pt x="409575" y="1095375"/>
                </a:cubicBezTo>
                <a:lnTo>
                  <a:pt x="95250" y="1095375"/>
                </a:lnTo>
                <a:lnTo>
                  <a:pt x="95250" y="1200150"/>
                </a:lnTo>
                <a:cubicBezTo>
                  <a:pt x="200025" y="1200150"/>
                  <a:pt x="200025" y="1333500"/>
                  <a:pt x="95250" y="1333500"/>
                </a:cubicBezTo>
                <a:lnTo>
                  <a:pt x="95250" y="2333625"/>
                </a:lnTo>
                <a:lnTo>
                  <a:pt x="409575" y="2333625"/>
                </a:lnTo>
                <a:lnTo>
                  <a:pt x="409575" y="3524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63" name="flow arrow-94">
            <a:extLst xmlns:a="http://schemas.openxmlformats.org/drawingml/2006/main">
              <a:ext uri="{FF2B5EF4-FFF2-40B4-BE49-F238E27FC236}">
                <a16:creationId xmlns:a16="http://schemas.microsoft.com/office/drawing/2014/main" id="{B419592F-383B-46CD-AA06-9F59D90D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64" name="rect-95">
            <a:extLst xmlns:a="http://schemas.openxmlformats.org/drawingml/2006/main">
              <a:ext uri="{FF2B5EF4-FFF2-40B4-BE49-F238E27FC236}">
                <a16:creationId xmlns:a16="http://schemas.microsoft.com/office/drawing/2014/main" id="{700E8B29-A72E-431A-AE9D-36A09BCA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77375"/>
            <a:ext cx="1729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96">
            <a:extLst xmlns:a="http://schemas.openxmlformats.org/drawingml/2006/main">
              <a:ext uri="{FF2B5EF4-FFF2-40B4-BE49-F238E27FC236}">
                <a16:creationId xmlns:a16="http://schemas.microsoft.com/office/drawing/2014/main" id="{C609E64D-0007-423A-9AB5-89D52593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63125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66" name="Steam">
            <a:extLst xmlns:a="http://schemas.openxmlformats.org/drawingml/2006/main">
              <a:ext uri="{FF2B5EF4-FFF2-40B4-BE49-F238E27FC236}">
                <a16:creationId xmlns:a16="http://schemas.microsoft.com/office/drawing/2014/main" id="{A71DBD9D-577C-48DB-95A6-6876B0F1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9601200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Steam</a:t>
            </a:r>
          </a:p>
        </p:txBody>
      </p:sp>
      <p:sp>
        <p:nvSpPr>
          <p:cNvPr id="167" name="path-97">
            <a:extLst xmlns:a="http://schemas.openxmlformats.org/drawingml/2006/main">
              <a:ext uri="{FF2B5EF4-FFF2-40B4-BE49-F238E27FC236}">
                <a16:creationId xmlns:a16="http://schemas.microsoft.com/office/drawing/2014/main" id="{8CD0312F-159A-4182-B9B5-ACE11CDC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9763125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68" name="Water">
            <a:extLst xmlns:a="http://schemas.openxmlformats.org/drawingml/2006/main">
              <a:ext uri="{FF2B5EF4-FFF2-40B4-BE49-F238E27FC236}">
                <a16:creationId xmlns:a16="http://schemas.microsoft.com/office/drawing/2014/main" id="{94D5B092-DB5C-430D-8653-A4AE3268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9601200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sp>
        <p:nvSpPr>
          <p:cNvPr id="169" name="path-98">
            <a:extLst xmlns:a="http://schemas.openxmlformats.org/drawingml/2006/main">
              <a:ext uri="{FF2B5EF4-FFF2-40B4-BE49-F238E27FC236}">
                <a16:creationId xmlns:a16="http://schemas.microsoft.com/office/drawing/2014/main" id="{014AC2F4-9C1B-4D90-83D6-6854FA2C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9763125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70" name="Heating / extraction">
            <a:extLst xmlns:a="http://schemas.openxmlformats.org/drawingml/2006/main">
              <a:ext uri="{FF2B5EF4-FFF2-40B4-BE49-F238E27FC236}">
                <a16:creationId xmlns:a16="http://schemas.microsoft.com/office/drawing/2014/main" id="{2A77E3BA-F2C5-44B9-B865-E0183A68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9601200"/>
            <a:ext cx="2628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Heating / extraction</a:t>
            </a:r>
          </a:p>
        </p:txBody>
      </p:sp>
      <p:sp>
        <p:nvSpPr>
          <p:cNvPr id="171" name="Pressures absolute • *Other station loads excluded">
            <a:extLst xmlns:a="http://schemas.openxmlformats.org/drawingml/2006/main">
              <a:ext uri="{FF2B5EF4-FFF2-40B4-BE49-F238E27FC236}">
                <a16:creationId xmlns:a16="http://schemas.microsoft.com/office/drawing/2014/main" id="{CE2A1A74-4EAE-4B4D-8F17-3B0108DD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5821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8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8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Pressures absolute • *Other station loads excluded</a:t>
            </a:r>
          </a:p>
        </p:txBody>
      </p:sp>
      <p:sp>
        <p:nvSpPr>
          <p:cNvPr id="172" name="Dots = junctions; bridges = crossings. ¹ Return throttles into HP4. Drains cascade to deaerator (HP) / condenser (LP), not drawn.">
            <a:extLst xmlns:a="http://schemas.openxmlformats.org/drawingml/2006/main">
              <a:ext uri="{FF2B5EF4-FFF2-40B4-BE49-F238E27FC236}">
                <a16:creationId xmlns:a16="http://schemas.microsoft.com/office/drawing/2014/main" id="{6941B192-C85C-4DBA-B635-1ABD3437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953625"/>
            <a:ext cx="1724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Dots = junctions; bridges = crossings. ¹ Return throttles into HP4. Drains cascade to deaerator (HP) / condenser (LP), not drawn.</a:t>
            </a:r>
          </a:p>
        </p:txBody>
      </p:sp>
    </p:spTree>
    <p:extLst>
      <p:ext uri="{BB962C8B-B14F-4D97-AF65-F5344CB8AC3E}">
        <p14:creationId xmlns:p14="http://schemas.microsoft.com/office/powerpoint/2010/main" val="266931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2026-10-11T23:12:53.9480000Z</dcterms:created>
  <dcterms:modified xsi:type="dcterms:W3CDTF">2026-10-11T23:12:53.9480000Z</dcterms:modified>
</coreProperties>
</file>