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5e1902734499a" /><Relationship Type="http://schemas.openxmlformats.org/officeDocument/2006/relationships/extended-properties" Target="/docProps/app.xml" Id="R5134a4115a474416" /><Relationship Type="http://schemas.openxmlformats.org/officeDocument/2006/relationships/officeDocument" Target="/ppt/presentation.xml" Id="R6b5e1591dc9e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c3a6674fd44dd0"/>
  </p:sldMasterIdLst>
  <p:notesMasterIdLst>
    <p:notesMasterId xmlns:r="http://schemas.openxmlformats.org/officeDocument/2006/relationships" r:id="Rb5cf4678db674473"/>
  </p:notesMasterIdLst>
  <p:sldIdLst>
    <p:sldId xmlns:r="http://schemas.openxmlformats.org/officeDocument/2006/relationships" id="256" r:id="Rf6070fd6c7534b8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0ead3b69745bd" /><Relationship Type="http://schemas.openxmlformats.org/officeDocument/2006/relationships/slideMaster" Target="/ppt/slideMasters/slideMaster1.xml" Id="R63c3a6674fd44dd0" /><Relationship Type="http://schemas.openxmlformats.org/officeDocument/2006/relationships/notesMaster" Target="/ppt/notesMasters/notesMaster1.xml" Id="Rb5cf4678db674473" /><Relationship Type="http://schemas.openxmlformats.org/officeDocument/2006/relationships/presProps" Target="/ppt/presProps.xml" Id="Rc15eb1a199904314" /><Relationship Type="http://schemas.openxmlformats.org/officeDocument/2006/relationships/tableStyles" Target="/ppt/tableStyles.xml" Id="R8266ffa9c9a94b46" /><Relationship Type="http://schemas.openxmlformats.org/officeDocument/2006/relationships/slide" Target="/ppt/slides/slide1.xml" Id="Rf6070fd6c753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205f921b7d49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2b0812b9c3422d" /><Relationship Type="http://schemas.openxmlformats.org/officeDocument/2006/relationships/notesMaster" Target="/ppt/notesMasters/notesMaster1.xml" Id="R5188bb301417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 Salt System — preliminary Rankine cycle, 11 October 2026. Layout redrawn from Thomas J. Wielenga's supplied Diagram.pdf (23 April 2025), /Users/thomaswielenga/Documents/Ideas/Nuclear Reactor/Steam Generator/graphics/Diagram.pdf. Calculated states: /Users/thomaswielenga/Documents/dev/fastSalt/calculations/power-cycle/reheat-selection.json, selected_at_5kPa. SHA-256: eda8391e0fef20ae71c36a711a8f8fc8142972914360429a6b1b6119fb9be455. Official calculation commentary: calculations/power-cycle/Selected reheat and wetness - Hurmet.md. All pressures absolute. The 5 kPa reference, not the coupled 20°C cooling case, is used consistently. Main steam 711.670 kg/s, heating branch 187.006 kg/s, hot reheat 415.329 kg/s, LP exhaust 361.044 kg/s. Gross 678.723 MW (45.248%); no net power claim. Feed-pump turbine shaft 21.435 MW is already allowed in the cycle flow calculation. Reheater minimum approach 20.276 K. HP exhaust 2.8 MPa/253°C becomes 2.66 MPa/250.7°C after the reheater inlet loss. Heating fluid remains at 24 MPa until throttled into HP4; it is not an isothermal condensing stream. LP moisture is equilibrium exhaust moisture, not a supplier wetness guarantee. Condenser reference cooling water 19.820/27.932°C and 23.763 m³/s. SG salt 875/810 K from the inherited generator design. Three SG represented in aggregate. HP/IP and LP generator symbols preserve the source schematic, not a selected shaft-line design. Extraction paths are fully drawn; drain cascades are described in the footnote: HP4 at7.644 MPa also takes heating return; HP3 at2.8 MPa; HP2/HP1 at1.6/1.0 MPa from feed pump turbine; its0.6 MPa exhaust supplies deaerator. LP3/2/1 at0.155246/0.1/0.03 MPa. HP drains cascade4→3→2→1→DA; LP drains3→2→1→condenser. Feedwater pressure losses other than modeled pumps are not yet resolved. Preliminary performance and equipment arrangement; supplier verification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834f1a97945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4c1db9a7a49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4074d8bd043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fa7c8c69e46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8b8570bd44a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48bd6a971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CE2C3-E187-4267-8F07-5D544F07B1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B7332E-7366-4A55-82F0-FA88B02C5E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5F8154-5C7F-4F27-AB60-60B048ABB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61012-2609-4A55-BDC9-7420C6528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20D033-A6E8-4A10-8044-1D419806E4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189E73-9814-4E4D-A6E8-0467BA637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A11DD7-1D6D-48DD-BADB-2812F8575D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6A879E-2CFF-4CED-A663-9256538BAB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671AF-EEFC-47AF-B08D-CE280CD7A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082EFE-8307-4429-B99E-D7BBED51CD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7973fd17614b1a" /><Relationship Type="http://schemas.openxmlformats.org/officeDocument/2006/relationships/slideLayout" Target="/ppt/slideLayouts/slideLayout1.xml" Id="R16d549fbfe3a4686" /><Relationship Type="http://schemas.openxmlformats.org/officeDocument/2006/relationships/slideLayout" Target="/ppt/slideLayouts/slideLayout2.xml" Id="R7a826cba1ef64889" /><Relationship Type="http://schemas.openxmlformats.org/officeDocument/2006/relationships/slideLayout" Target="/ppt/slideLayouts/slideLayout3.xml" Id="Rd0ca14ba15224ebf" /><Relationship Type="http://schemas.openxmlformats.org/officeDocument/2006/relationships/slideLayout" Target="/ppt/slideLayouts/slideLayout4.xml" Id="R4eee9dd4c71b449a" /><Relationship Type="http://schemas.openxmlformats.org/officeDocument/2006/relationships/slideLayout" Target="/ppt/slideLayouts/slideLayout5.xml" Id="R98f7fd38f773414d" /><Relationship Type="http://schemas.openxmlformats.org/officeDocument/2006/relationships/slideLayout" Target="/ppt/slideLayouts/slideLayout6.xml" Id="Rcbf4e83cc09c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549fbfe3a4686"/>
    <p:sldLayoutId xmlns:r="http://schemas.openxmlformats.org/officeDocument/2006/relationships" id="2147483650" r:id="R7a826cba1ef64889"/>
    <p:sldLayoutId xmlns:r="http://schemas.openxmlformats.org/officeDocument/2006/relationships" id="2147483651" r:id="Rd0ca14ba15224ebf"/>
    <p:sldLayoutId xmlns:r="http://schemas.openxmlformats.org/officeDocument/2006/relationships" id="2147483652" r:id="R4eee9dd4c71b449a"/>
    <p:sldLayoutId xmlns:r="http://schemas.openxmlformats.org/officeDocument/2006/relationships" id="2147483653" r:id="R98f7fd38f773414d"/>
    <p:sldLayoutId xmlns:r="http://schemas.openxmlformats.org/officeDocument/2006/relationships" id="2147483654" r:id="Rcbf4e83cc09c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a4ab4e2aa4ee5" /><Relationship Type="http://schemas.openxmlformats.org/officeDocument/2006/relationships/notesSlide" Target="/ppt/notesSlides/notesSlide1.xml" Id="R4201b8db33c047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Fast Salt System | Rankine power cycle">
            <a:extLst xmlns:a="http://schemas.openxmlformats.org/drawingml/2006/main">
              <a:ext uri="{FF2B5EF4-FFF2-40B4-BE49-F238E27FC236}">
                <a16:creationId xmlns:a16="http://schemas.microsoft.com/office/drawing/2014/main" id="{AEF9604A-51F6-4381-8EEC-CEBF7A74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Fast Salt System | Rankine power cycle</a:t>
            </a:r>
          </a:p>
        </p:txBody>
      </p:sp>
      <p:sp>
        <p:nvSpPr>
          <p:cNvPr id="2" name="Selected preliminary design • 5 kPa condenser reference case">
            <a:extLst xmlns:a="http://schemas.openxmlformats.org/drawingml/2006/main">
              <a:ext uri="{FF2B5EF4-FFF2-40B4-BE49-F238E27FC236}">
                <a16:creationId xmlns:a16="http://schemas.microsoft.com/office/drawing/2014/main" id="{2B7F706E-0AB7-47D1-8B1F-7DD43DB0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2975"/>
            <a:ext cx="1533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Selected preliminary design • 5 kPa condenser reference case</a:t>
            </a:r>
          </a:p>
        </p:txBody>
      </p:sp>
      <p:sp>
        <p:nvSpPr>
          <p:cNvPr id="3" name="rect-1">
            <a:extLst xmlns:a="http://schemas.openxmlformats.org/drawingml/2006/main">
              <a:ext uri="{FF2B5EF4-FFF2-40B4-BE49-F238E27FC236}">
                <a16:creationId xmlns:a16="http://schemas.microsoft.com/office/drawing/2014/main" id="{3D28ADE8-B405-4BBE-8990-AE51AF9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0175"/>
            <a:ext cx="17297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,500 MW thermal     →     679 MW gross electric     |     45.2% gross efficiency">
            <a:extLst xmlns:a="http://schemas.openxmlformats.org/drawingml/2006/main">
              <a:ext uri="{FF2B5EF4-FFF2-40B4-BE49-F238E27FC236}">
                <a16:creationId xmlns:a16="http://schemas.microsoft.com/office/drawing/2014/main" id="{6BEB7F6A-E2C3-40A7-B9A9-8CB07E1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676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1,500 MW thermal     →     679 MW gross electric     |     45.2% gross efficiency</a:t>
            </a:r>
          </a:p>
        </p:txBody>
      </p:sp>
      <p:sp>
        <p:nvSpPr>
          <p:cNvPr id="5" name="path-2">
            <a:extLst xmlns:a="http://schemas.openxmlformats.org/drawingml/2006/main">
              <a:ext uri="{FF2B5EF4-FFF2-40B4-BE49-F238E27FC236}">
                <a16:creationId xmlns:a16="http://schemas.microsoft.com/office/drawing/2014/main" id="{6B1E09C0-19F8-4A84-BF31-4A13266C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43150"/>
            <a:ext cx="2333625" cy="1400175"/>
          </a:xfrm>
          <a:custGeom xmlns:a="http://schemas.openxmlformats.org/drawingml/2006/main">
            <a:pathLst>
              <a:path w="2333625" h="1400175">
                <a:moveTo>
                  <a:pt x="0" y="1228725"/>
                </a:moveTo>
                <a:lnTo>
                  <a:pt x="0" y="0"/>
                </a:lnTo>
                <a:lnTo>
                  <a:pt x="2143125" y="0"/>
                </a:lnTo>
                <a:lnTo>
                  <a:pt x="2143125" y="1400175"/>
                </a:lnTo>
                <a:lnTo>
                  <a:pt x="2333625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6" name="flow arrow-3">
            <a:extLst xmlns:a="http://schemas.openxmlformats.org/drawingml/2006/main">
              <a:ext uri="{FF2B5EF4-FFF2-40B4-BE49-F238E27FC236}">
                <a16:creationId xmlns:a16="http://schemas.microsoft.com/office/drawing/2014/main" id="{48DB5B45-C1FC-4F1F-AC2F-519EC29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7" name="path-4">
            <a:extLst xmlns:a="http://schemas.openxmlformats.org/drawingml/2006/main">
              <a:ext uri="{FF2B5EF4-FFF2-40B4-BE49-F238E27FC236}">
                <a16:creationId xmlns:a16="http://schemas.microsoft.com/office/drawing/2014/main" id="{D50521B3-CB80-44D3-8BB6-006E24A5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3762375" cy="847725"/>
          </a:xfrm>
          <a:custGeom xmlns:a="http://schemas.openxmlformats.org/drawingml/2006/main">
            <a:pathLst>
              <a:path w="3762375" h="847725">
                <a:moveTo>
                  <a:pt x="0" y="0"/>
                </a:moveTo>
                <a:lnTo>
                  <a:pt x="3762375" y="0"/>
                </a:lnTo>
                <a:lnTo>
                  <a:pt x="3762375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8" name="flow arrow-5">
            <a:extLst xmlns:a="http://schemas.openxmlformats.org/drawingml/2006/main">
              <a:ext uri="{FF2B5EF4-FFF2-40B4-BE49-F238E27FC236}">
                <a16:creationId xmlns:a16="http://schemas.microsoft.com/office/drawing/2014/main" id="{52FB6386-D5DD-4384-8796-856035A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9" name="ellipse-6">
            <a:extLst xmlns:a="http://schemas.openxmlformats.org/drawingml/2006/main">
              <a:ext uri="{FF2B5EF4-FFF2-40B4-BE49-F238E27FC236}">
                <a16:creationId xmlns:a16="http://schemas.microsoft.com/office/drawing/2014/main" id="{BEEB58F6-6151-4E0E-B13C-16561788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22"/>
          </a:solidFill>
          <a:ln xmlns:a="http://schemas.openxmlformats.org/drawingml/2006/main" w="0">
            <a:solidFill>
              <a:srgbClr val="B44722"/>
            </a:solidFill>
            <a:prstDash val="solid"/>
          </a:ln>
        </p:spPr>
      </p:sp>
      <p:sp>
        <p:nvSpPr>
          <p:cNvPr id="10" name="path-7">
            <a:extLst xmlns:a="http://schemas.openxmlformats.org/drawingml/2006/main">
              <a:ext uri="{FF2B5EF4-FFF2-40B4-BE49-F238E27FC236}">
                <a16:creationId xmlns:a16="http://schemas.microsoft.com/office/drawing/2014/main" id="{F999D0AC-F4BA-4C82-9966-6C5694B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1" name="flow arrow-8">
            <a:extLst xmlns:a="http://schemas.openxmlformats.org/drawingml/2006/main">
              <a:ext uri="{FF2B5EF4-FFF2-40B4-BE49-F238E27FC236}">
                <a16:creationId xmlns:a16="http://schemas.microsoft.com/office/drawing/2014/main" id="{D16964AB-C5C9-4CFB-8D86-8375150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2" name="path-9">
            <a:extLst xmlns:a="http://schemas.openxmlformats.org/drawingml/2006/main">
              <a:ext uri="{FF2B5EF4-FFF2-40B4-BE49-F238E27FC236}">
                <a16:creationId xmlns:a16="http://schemas.microsoft.com/office/drawing/2014/main" id="{217DA330-263F-4336-A915-A0A89601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43325"/>
            <a:ext cx="1524000" cy="9525"/>
          </a:xfrm>
          <a:custGeom xmlns:a="http://schemas.openxmlformats.org/drawingml/2006/main"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3" name="flow arrow-10">
            <a:extLst xmlns:a="http://schemas.openxmlformats.org/drawingml/2006/main">
              <a:ext uri="{FF2B5EF4-FFF2-40B4-BE49-F238E27FC236}">
                <a16:creationId xmlns:a16="http://schemas.microsoft.com/office/drawing/2014/main" id="{40D24FFE-B0A9-42F5-846C-1E75945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4" name="path-11">
            <a:extLst xmlns:a="http://schemas.openxmlformats.org/drawingml/2006/main">
              <a:ext uri="{FF2B5EF4-FFF2-40B4-BE49-F238E27FC236}">
                <a16:creationId xmlns:a16="http://schemas.microsoft.com/office/drawing/2014/main" id="{7CF948D9-B694-4CFC-A22B-5490BE9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74332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5" name="flow arrow-12">
            <a:extLst xmlns:a="http://schemas.openxmlformats.org/drawingml/2006/main">
              <a:ext uri="{FF2B5EF4-FFF2-40B4-BE49-F238E27FC236}">
                <a16:creationId xmlns:a16="http://schemas.microsoft.com/office/drawing/2014/main" id="{DB601C14-D1E0-47D9-B82B-645F34BA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6" name="path-13">
            <a:extLst xmlns:a="http://schemas.openxmlformats.org/drawingml/2006/main">
              <a:ext uri="{FF2B5EF4-FFF2-40B4-BE49-F238E27FC236}">
                <a16:creationId xmlns:a16="http://schemas.microsoft.com/office/drawing/2014/main" id="{FC8DC0F6-1308-473F-8445-24BB60E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3743325"/>
            <a:ext cx="2143125" cy="2305050"/>
          </a:xfrm>
          <a:custGeom xmlns:a="http://schemas.openxmlformats.org/drawingml/2006/main">
            <a:pathLst>
              <a:path w="2143125" h="2305050">
                <a:moveTo>
                  <a:pt x="0" y="0"/>
                </a:moveTo>
                <a:lnTo>
                  <a:pt x="2143125" y="0"/>
                </a:lnTo>
                <a:lnTo>
                  <a:pt x="2143125" y="2305050"/>
                </a:lnTo>
                <a:lnTo>
                  <a:pt x="1857375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7" name="flow arrow-14">
            <a:extLst xmlns:a="http://schemas.openxmlformats.org/drawingml/2006/main">
              <a:ext uri="{FF2B5EF4-FFF2-40B4-BE49-F238E27FC236}">
                <a16:creationId xmlns:a16="http://schemas.microsoft.com/office/drawing/2014/main" id="{F27A266F-09DB-49DB-849A-9F62CEB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6000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8" name="roundRect-15">
            <a:extLst xmlns:a="http://schemas.openxmlformats.org/drawingml/2006/main">
              <a:ext uri="{FF2B5EF4-FFF2-40B4-BE49-F238E27FC236}">
                <a16:creationId xmlns:a16="http://schemas.microsoft.com/office/drawing/2014/main" id="{6AF94591-3410-4303-9223-861BECF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71875"/>
            <a:ext cx="9525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19" name="Steam / generators / (3 × 500 MWt)">
            <a:extLst xmlns:a="http://schemas.openxmlformats.org/drawingml/2006/main">
              <a:ext uri="{FF2B5EF4-FFF2-40B4-BE49-F238E27FC236}">
                <a16:creationId xmlns:a16="http://schemas.microsoft.com/office/drawing/2014/main" id="{90593117-DEAF-4768-91FF-512CBC2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Steam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generators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(3 × 500 MWt)</a:t>
            </a:r>
          </a:p>
        </p:txBody>
      </p:sp>
      <p:sp>
        <p:nvSpPr>
          <p:cNvPr id="20" name="path-16">
            <a:extLst xmlns:a="http://schemas.openxmlformats.org/drawingml/2006/main">
              <a:ext uri="{FF2B5EF4-FFF2-40B4-BE49-F238E27FC236}">
                <a16:creationId xmlns:a16="http://schemas.microsoft.com/office/drawing/2014/main" id="{FD5ED31C-6390-4437-A4B1-B00C1A5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76250" cy="1428750"/>
          </a:xfrm>
          <a:custGeom xmlns:a="http://schemas.openxmlformats.org/drawingml/2006/main">
            <a:pathLst>
              <a:path w="476250" h="1428750">
                <a:moveTo>
                  <a:pt x="0" y="0"/>
                </a:moveTo>
                <a:lnTo>
                  <a:pt x="476250" y="285750"/>
                </a:lnTo>
                <a:lnTo>
                  <a:pt x="0" y="571500"/>
                </a:lnTo>
                <a:lnTo>
                  <a:pt x="476250" y="857250"/>
                </a:lnTo>
                <a:lnTo>
                  <a:pt x="0" y="1143000"/>
                </a:lnTo>
                <a:lnTo>
                  <a:pt x="4762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21" name="path-17">
            <a:extLst xmlns:a="http://schemas.openxmlformats.org/drawingml/2006/main">
              <a:ext uri="{FF2B5EF4-FFF2-40B4-BE49-F238E27FC236}">
                <a16:creationId xmlns:a16="http://schemas.microsoft.com/office/drawing/2014/main" id="{849E7208-A0BD-4F01-B06E-D7CBE783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2" name="HP / turbine">
            <a:extLst xmlns:a="http://schemas.openxmlformats.org/drawingml/2006/main">
              <a:ext uri="{FF2B5EF4-FFF2-40B4-BE49-F238E27FC236}">
                <a16:creationId xmlns:a16="http://schemas.microsoft.com/office/drawing/2014/main" id="{41683076-6C3F-41CA-9CFB-C980A9F7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09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</a:t>
            </a:r>
          </a:p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23" name="rect-18">
            <a:extLst xmlns:a="http://schemas.openxmlformats.org/drawingml/2006/main">
              <a:ext uri="{FF2B5EF4-FFF2-40B4-BE49-F238E27FC236}">
                <a16:creationId xmlns:a16="http://schemas.microsoft.com/office/drawing/2014/main" id="{DE6FFF7E-0741-4475-9359-B13DFFD9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428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24" name="Steam / reheater">
            <a:extLst xmlns:a="http://schemas.openxmlformats.org/drawingml/2006/main">
              <a:ext uri="{FF2B5EF4-FFF2-40B4-BE49-F238E27FC236}">
                <a16:creationId xmlns:a16="http://schemas.microsoft.com/office/drawing/2014/main" id="{77393FED-DF90-4746-A6C4-2A646C70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Steam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reheater</a:t>
            </a:r>
          </a:p>
        </p:txBody>
      </p:sp>
      <p:sp>
        <p:nvSpPr>
          <p:cNvPr id="25" name="path-19">
            <a:extLst xmlns:a="http://schemas.openxmlformats.org/drawingml/2006/main">
              <a:ext uri="{FF2B5EF4-FFF2-40B4-BE49-F238E27FC236}">
                <a16:creationId xmlns:a16="http://schemas.microsoft.com/office/drawing/2014/main" id="{9DBF78CC-52E5-48B7-9F05-8E79A269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6" name="Reheat / (IP)">
            <a:extLst xmlns:a="http://schemas.openxmlformats.org/drawingml/2006/main">
              <a:ext uri="{FF2B5EF4-FFF2-40B4-BE49-F238E27FC236}">
                <a16:creationId xmlns:a16="http://schemas.microsoft.com/office/drawing/2014/main" id="{CD71A531-1C3F-4BE9-A257-8F2D682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3409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Reheat</a:t>
            </a:r>
          </a:p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(IP)</a:t>
            </a:r>
          </a:p>
        </p:txBody>
      </p:sp>
      <p:sp>
        <p:nvSpPr>
          <p:cNvPr id="27" name="path-20">
            <a:extLst xmlns:a="http://schemas.openxmlformats.org/drawingml/2006/main">
              <a:ext uri="{FF2B5EF4-FFF2-40B4-BE49-F238E27FC236}">
                <a16:creationId xmlns:a16="http://schemas.microsoft.com/office/drawing/2014/main" id="{91519229-6123-4A44-90E7-C68D6E23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8" name="LP / turbine">
            <a:extLst xmlns:a="http://schemas.openxmlformats.org/drawingml/2006/main">
              <a:ext uri="{FF2B5EF4-FFF2-40B4-BE49-F238E27FC236}">
                <a16:creationId xmlns:a16="http://schemas.microsoft.com/office/drawing/2014/main" id="{7BEC6C96-3A72-4CC9-8DF3-6D974168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409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</a:t>
            </a:r>
          </a:p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29" name="Main steam / 24 MPa • 557°C / 711.7 kg/s">
            <a:extLst xmlns:a="http://schemas.openxmlformats.org/drawingml/2006/main">
              <a:ext uri="{FF2B5EF4-FFF2-40B4-BE49-F238E27FC236}">
                <a16:creationId xmlns:a16="http://schemas.microsoft.com/office/drawing/2014/main" id="{7D11C758-13D3-4ACD-8CF4-E637AAD1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Main steam</a:t>
            </a:r>
          </a:p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24 MPa • 557°C</a:t>
            </a:r>
          </a:p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711.7 kg/s</a:t>
            </a:r>
          </a:p>
        </p:txBody>
      </p:sp>
      <p:sp>
        <p:nvSpPr>
          <p:cNvPr id="30" name="Heating branch / 187.0 kg/s">
            <a:extLst xmlns:a="http://schemas.openxmlformats.org/drawingml/2006/main">
              <a:ext uri="{FF2B5EF4-FFF2-40B4-BE49-F238E27FC236}">
                <a16:creationId xmlns:a16="http://schemas.microsoft.com/office/drawing/2014/main" id="{93C74B8E-B29A-4F24-A105-D7A2B1EB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66975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Heating branch</a:t>
            </a:r>
          </a:p>
          <a:p xmlns:a="http://schemas.openxmlformats.org/drawingml/2006/main">
            <a: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187.0 kg/s</a:t>
            </a:r>
          </a:p>
        </p:txBody>
      </p:sp>
      <p:sp>
        <p:nvSpPr>
          <p:cNvPr id="31" name="2.8 MPa / 253°C">
            <a:extLst xmlns:a="http://schemas.openxmlformats.org/drawingml/2006/main">
              <a:ext uri="{FF2B5EF4-FFF2-40B4-BE49-F238E27FC236}">
                <a16:creationId xmlns:a16="http://schemas.microsoft.com/office/drawing/2014/main" id="{A8C5D3F1-6F37-498C-8FA4-C97B3EB4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33725"/>
            <a:ext cx="130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2.8 MPa</a:t>
            </a:r>
          </a:p>
          <a:p xmlns:a="http://schemas.openxmlformats.org/drawingml/2006/main">
            <a: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253°C</a:t>
            </a:r>
          </a:p>
        </p:txBody>
      </p:sp>
      <p:sp>
        <p:nvSpPr>
          <p:cNvPr id="32" name="2.66 MPa / 510°C / 415.3 kg/s">
            <a:extLst xmlns:a="http://schemas.openxmlformats.org/drawingml/2006/main">
              <a:ext uri="{FF2B5EF4-FFF2-40B4-BE49-F238E27FC236}">
                <a16:creationId xmlns:a16="http://schemas.microsoft.com/office/drawing/2014/main" id="{C8DF47A7-B5F8-4469-9A88-C8CD4D7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2.66 MPa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510°C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415.3 kg/s</a:t>
            </a:r>
          </a:p>
        </p:txBody>
      </p:sp>
      <p:sp>
        <p:nvSpPr>
          <p:cNvPr id="33" name="0.60 MPa / 308°C">
            <a:extLst xmlns:a="http://schemas.openxmlformats.org/drawingml/2006/main">
              <a:ext uri="{FF2B5EF4-FFF2-40B4-BE49-F238E27FC236}">
                <a16:creationId xmlns:a16="http://schemas.microsoft.com/office/drawing/2014/main" id="{1CD244E6-01DD-44C4-8C6D-16EC350B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981325"/>
            <a:ext cx="1247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308°C</a:t>
            </a:r>
          </a:p>
        </p:txBody>
      </p:sp>
      <p:sp>
        <p:nvSpPr>
          <p:cNvPr id="34" name="253 MW reheat">
            <a:extLst xmlns:a="http://schemas.openxmlformats.org/drawingml/2006/main">
              <a:ext uri="{FF2B5EF4-FFF2-40B4-BE49-F238E27FC236}">
                <a16:creationId xmlns:a16="http://schemas.microsoft.com/office/drawing/2014/main" id="{4CF4C646-3BED-4AE9-B11F-DAD89A30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253 MW reheat</a:t>
            </a:r>
          </a:p>
        </p:txBody>
      </p:sp>
      <p:sp>
        <p:nvSpPr>
          <p:cNvPr id="35" name="LP exhaust / 5 kPa • 33°C / 9.0% moisture">
            <a:extLst xmlns:a="http://schemas.openxmlformats.org/drawingml/2006/main">
              <a:ext uri="{FF2B5EF4-FFF2-40B4-BE49-F238E27FC236}">
                <a16:creationId xmlns:a16="http://schemas.microsoft.com/office/drawing/2014/main" id="{94D719E0-53DE-4B54-BCF2-84CCA367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4514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LP exhaust</a:t>
            </a:r>
          </a:p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5 kPa • 33°C</a:t>
            </a:r>
          </a:p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9.0% moisture</a:t>
            </a:r>
          </a:p>
        </p:txBody>
      </p:sp>
      <p:sp>
        <p:nvSpPr>
          <p:cNvPr id="36" name="rect-21">
            <a:extLst xmlns:a="http://schemas.openxmlformats.org/drawingml/2006/main">
              <a:ext uri="{FF2B5EF4-FFF2-40B4-BE49-F238E27FC236}">
                <a16:creationId xmlns:a16="http://schemas.microsoft.com/office/drawing/2014/main" id="{8CE57430-3C38-4FB5-AF0F-0A54C507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238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37" name="WISTR">
            <a:extLst xmlns:a="http://schemas.openxmlformats.org/drawingml/2006/main">
              <a:ext uri="{FF2B5EF4-FFF2-40B4-BE49-F238E27FC236}">
                <a16:creationId xmlns:a16="http://schemas.microsoft.com/office/drawing/2014/main" id="{AEF034E6-A666-4801-8983-5FA53CD9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14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WISTR</a:t>
            </a:r>
          </a:p>
        </p:txBody>
      </p:sp>
      <p:sp>
        <p:nvSpPr>
          <p:cNvPr id="38" name="path-22">
            <a:extLst xmlns:a="http://schemas.openxmlformats.org/drawingml/2006/main">
              <a:ext uri="{FF2B5EF4-FFF2-40B4-BE49-F238E27FC236}">
                <a16:creationId xmlns:a16="http://schemas.microsoft.com/office/drawing/2014/main" id="{3FCF1384-8307-4CAD-BE47-877BFCF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1762125" cy="600075"/>
          </a:xfrm>
          <a:custGeom xmlns:a="http://schemas.openxmlformats.org/drawingml/2006/main">
            <a:pathLst>
              <a:path w="1762125" h="600075">
                <a:moveTo>
                  <a:pt x="0" y="600075"/>
                </a:moveTo>
                <a:lnTo>
                  <a:pt x="0" y="0"/>
                </a:ln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46038"/>
            </a:solidFill>
            <a:prstDash val="solid"/>
          </a:ln>
        </p:spPr>
      </p:sp>
      <p:sp>
        <p:nvSpPr>
          <p:cNvPr id="39" name="flow arrow-23">
            <a:extLst xmlns:a="http://schemas.openxmlformats.org/drawingml/2006/main">
              <a:ext uri="{FF2B5EF4-FFF2-40B4-BE49-F238E27FC236}">
                <a16:creationId xmlns:a16="http://schemas.microsoft.com/office/drawing/2014/main" id="{CE4E7059-37BB-42F7-8BF6-1A561C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846038"/>
          </a:solidFill>
          <a:ln xmlns:a="http://schemas.openxmlformats.org/drawingml/2006/main" w="9525">
            <a:solidFill>
              <a:srgbClr val="846038"/>
            </a:solidFill>
            <a:prstDash val="solid"/>
          </a:ln>
        </p:spPr>
      </p:sp>
      <p:sp>
        <p:nvSpPr>
          <p:cNvPr id="40" name="path-24">
            <a:extLst xmlns:a="http://schemas.openxmlformats.org/drawingml/2006/main">
              <a:ext uri="{FF2B5EF4-FFF2-40B4-BE49-F238E27FC236}">
                <a16:creationId xmlns:a16="http://schemas.microsoft.com/office/drawing/2014/main" id="{DB40132E-DDBA-4394-B661-92D8EF0E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62575"/>
            <a:ext cx="1762125" cy="257175"/>
          </a:xfrm>
          <a:custGeom xmlns:a="http://schemas.openxmlformats.org/drawingml/2006/main">
            <a:pathLst>
              <a:path w="1762125" h="257175">
                <a:moveTo>
                  <a:pt x="1762125" y="19050"/>
                </a:moveTo>
                <a:lnTo>
                  <a:pt x="1285875" y="19050"/>
                </a:lnTo>
                <a:lnTo>
                  <a:pt x="1285875" y="257175"/>
                </a:lnTo>
                <a:lnTo>
                  <a:pt x="0" y="2571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46038"/>
            </a:solidFill>
            <a:prstDash val="solid"/>
          </a:ln>
        </p:spPr>
      </p:sp>
      <p:sp>
        <p:nvSpPr>
          <p:cNvPr id="41" name="flow arrow-25">
            <a:extLst xmlns:a="http://schemas.openxmlformats.org/drawingml/2006/main">
              <a:ext uri="{FF2B5EF4-FFF2-40B4-BE49-F238E27FC236}">
                <a16:creationId xmlns:a16="http://schemas.microsoft.com/office/drawing/2014/main" id="{7B6F9A49-A142-47B2-83BA-5F0D5E9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62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846038"/>
          </a:solidFill>
          <a:ln xmlns:a="http://schemas.openxmlformats.org/drawingml/2006/main" w="9525">
            <a:solidFill>
              <a:srgbClr val="846038"/>
            </a:solidFill>
            <a:prstDash val="solid"/>
          </a:ln>
        </p:spPr>
      </p:sp>
      <p:sp>
        <p:nvSpPr>
          <p:cNvPr id="42" name="ellipse-26">
            <a:extLst xmlns:a="http://schemas.openxmlformats.org/drawingml/2006/main">
              <a:ext uri="{FF2B5EF4-FFF2-40B4-BE49-F238E27FC236}">
                <a16:creationId xmlns:a16="http://schemas.microsoft.com/office/drawing/2014/main" id="{F85AEEFF-6145-4628-A84B-11D58C09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1435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46038"/>
            </a:solidFill>
            <a:prstDash val="solid"/>
          </a:ln>
        </p:spPr>
      </p:sp>
      <p:sp>
        <p:nvSpPr>
          <p:cNvPr id="43" name="P">
            <a:extLst xmlns:a="http://schemas.openxmlformats.org/drawingml/2006/main">
              <a:ext uri="{FF2B5EF4-FFF2-40B4-BE49-F238E27FC236}">
                <a16:creationId xmlns:a16="http://schemas.microsoft.com/office/drawing/2014/main" id="{32BFBD81-38B9-4ECC-9DDA-42A9575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181600"/>
            <a:ext cx="447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46038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4" name="Salt / 602°C">
            <a:extLst xmlns:a="http://schemas.openxmlformats.org/drawingml/2006/main">
              <a:ext uri="{FF2B5EF4-FFF2-40B4-BE49-F238E27FC236}">
                <a16:creationId xmlns:a16="http://schemas.microsoft.com/office/drawing/2014/main" id="{0B21249F-72D9-4AC8-B746-660AB8A5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Salt</a:t>
            </a:r>
          </a:p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602°C</a:t>
            </a:r>
          </a:p>
        </p:txBody>
      </p:sp>
      <p:sp>
        <p:nvSpPr>
          <p:cNvPr id="45" name="537°C">
            <a:extLst xmlns:a="http://schemas.openxmlformats.org/drawingml/2006/main">
              <a:ext uri="{FF2B5EF4-FFF2-40B4-BE49-F238E27FC236}">
                <a16:creationId xmlns:a16="http://schemas.microsoft.com/office/drawing/2014/main" id="{2D60B04F-5001-4856-AD37-5A21A8AA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70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537°C</a:t>
            </a:r>
          </a:p>
        </p:txBody>
      </p:sp>
      <p:sp>
        <p:nvSpPr>
          <p:cNvPr id="46" name="Coolant pump">
            <a:extLst xmlns:a="http://schemas.openxmlformats.org/drawingml/2006/main">
              <a:ext uri="{FF2B5EF4-FFF2-40B4-BE49-F238E27FC236}">
                <a16:creationId xmlns:a16="http://schemas.microsoft.com/office/drawing/2014/main" id="{909D5DF7-D8CB-4769-9801-E3B7E77B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Coolant pump</a:t>
            </a:r>
          </a:p>
        </p:txBody>
      </p:sp>
      <p:sp>
        <p:nvSpPr>
          <p:cNvPr id="47" name="path-27">
            <a:extLst xmlns:a="http://schemas.openxmlformats.org/drawingml/2006/main">
              <a:ext uri="{FF2B5EF4-FFF2-40B4-BE49-F238E27FC236}">
                <a16:creationId xmlns:a16="http://schemas.microsoft.com/office/drawing/2014/main" id="{A1BE6DC6-A3D9-4978-84E7-B801F51D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6191250" cy="438150"/>
          </a:xfrm>
          <a:custGeom xmlns:a="http://schemas.openxmlformats.org/drawingml/2006/main">
            <a:pathLst>
              <a:path w="6191250" h="438150">
                <a:moveTo>
                  <a:pt x="0" y="0"/>
                </a:moveTo>
                <a:lnTo>
                  <a:pt x="0" y="438150"/>
                </a:lnTo>
                <a:lnTo>
                  <a:pt x="619125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48" name="path-28">
            <a:extLst xmlns:a="http://schemas.openxmlformats.org/drawingml/2006/main">
              <a:ext uri="{FF2B5EF4-FFF2-40B4-BE49-F238E27FC236}">
                <a16:creationId xmlns:a16="http://schemas.microsoft.com/office/drawing/2014/main" id="{48699C76-495E-4CE6-8A63-1043960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291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49" name="ellipse-29">
            <a:extLst xmlns:a="http://schemas.openxmlformats.org/drawingml/2006/main">
              <a:ext uri="{FF2B5EF4-FFF2-40B4-BE49-F238E27FC236}">
                <a16:creationId xmlns:a16="http://schemas.microsoft.com/office/drawing/2014/main" id="{BF1D50ED-038F-4F1F-B39F-7BDC1272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0" name="G">
            <a:extLst xmlns:a="http://schemas.openxmlformats.org/drawingml/2006/main">
              <a:ext uri="{FF2B5EF4-FFF2-40B4-BE49-F238E27FC236}">
                <a16:creationId xmlns:a16="http://schemas.microsoft.com/office/drawing/2014/main" id="{4BA8FD95-BC83-45D4-B3EC-EB4E8DB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4767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1" name="path-30">
            <a:extLst xmlns:a="http://schemas.openxmlformats.org/drawingml/2006/main">
              <a:ext uri="{FF2B5EF4-FFF2-40B4-BE49-F238E27FC236}">
                <a16:creationId xmlns:a16="http://schemas.microsoft.com/office/drawing/2014/main" id="{2168B3A1-E1BA-497E-9232-A122175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4229100"/>
            <a:ext cx="619125" cy="438150"/>
          </a:xfrm>
          <a:custGeom xmlns:a="http://schemas.openxmlformats.org/drawingml/2006/main">
            <a:pathLst>
              <a:path w="619125" h="438150">
                <a:moveTo>
                  <a:pt x="619125" y="0"/>
                </a:moveTo>
                <a:lnTo>
                  <a:pt x="619125" y="438150"/>
                </a:ln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52" name="ellipse-31">
            <a:extLst xmlns:a="http://schemas.openxmlformats.org/drawingml/2006/main">
              <a:ext uri="{FF2B5EF4-FFF2-40B4-BE49-F238E27FC236}">
                <a16:creationId xmlns:a16="http://schemas.microsoft.com/office/drawing/2014/main" id="{61EE5261-6BD1-4BE9-9EE9-6B17DD72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3" name="G">
            <a:extLst xmlns:a="http://schemas.openxmlformats.org/drawingml/2006/main">
              <a:ext uri="{FF2B5EF4-FFF2-40B4-BE49-F238E27FC236}">
                <a16:creationId xmlns:a16="http://schemas.microsoft.com/office/drawing/2014/main" id="{8BC85BD7-3FD0-4D2A-B86C-5064047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4767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4" name="rect-32">
            <a:extLst xmlns:a="http://schemas.openxmlformats.org/drawingml/2006/main">
              <a:ext uri="{FF2B5EF4-FFF2-40B4-BE49-F238E27FC236}">
                <a16:creationId xmlns:a16="http://schemas.microsoft.com/office/drawing/2014/main" id="{987AC0D6-F796-4ED6-8386-ED28B43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61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5" name="Condenser">
            <a:extLst xmlns:a="http://schemas.openxmlformats.org/drawingml/2006/main">
              <a:ext uri="{FF2B5EF4-FFF2-40B4-BE49-F238E27FC236}">
                <a16:creationId xmlns:a16="http://schemas.microsoft.com/office/drawing/2014/main" id="{4A832F9F-23F2-4DCF-BC45-068C8D7F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5715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Condenser</a:t>
            </a:r>
          </a:p>
        </p:txBody>
      </p:sp>
      <p:sp>
        <p:nvSpPr>
          <p:cNvPr id="56" name="804 MW rejected">
            <a:extLst xmlns:a="http://schemas.openxmlformats.org/drawingml/2006/main">
              <a:ext uri="{FF2B5EF4-FFF2-40B4-BE49-F238E27FC236}">
                <a16:creationId xmlns:a16="http://schemas.microsoft.com/office/drawing/2014/main" id="{E0906120-5B66-474E-9D66-A5C93C3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6124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804 MW rejected</a:t>
            </a:r>
          </a:p>
        </p:txBody>
      </p:sp>
      <p:sp>
        <p:nvSpPr>
          <p:cNvPr id="57" name="path-33">
            <a:extLst xmlns:a="http://schemas.openxmlformats.org/drawingml/2006/main">
              <a:ext uri="{FF2B5EF4-FFF2-40B4-BE49-F238E27FC236}">
                <a16:creationId xmlns:a16="http://schemas.microsoft.com/office/drawing/2014/main" id="{D5BE98FD-43FF-4F26-BD98-4FAF454F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8102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877E"/>
            </a:solidFill>
            <a:prstDash val="solid"/>
          </a:ln>
        </p:spPr>
      </p:sp>
      <p:sp>
        <p:nvSpPr>
          <p:cNvPr id="58" name="flow arrow-34">
            <a:extLst xmlns:a="http://schemas.openxmlformats.org/drawingml/2006/main">
              <a:ext uri="{FF2B5EF4-FFF2-40B4-BE49-F238E27FC236}">
                <a16:creationId xmlns:a16="http://schemas.microsoft.com/office/drawing/2014/main" id="{9016E1AC-A80B-4EB9-A538-D4F9A787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5762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E877E"/>
          </a:solidFill>
          <a:ln xmlns:a="http://schemas.openxmlformats.org/drawingml/2006/main" w="9525">
            <a:solidFill>
              <a:srgbClr val="3E877E"/>
            </a:solidFill>
            <a:prstDash val="solid"/>
          </a:ln>
        </p:spPr>
      </p:sp>
      <p:sp>
        <p:nvSpPr>
          <p:cNvPr id="59" name="path-35">
            <a:extLst xmlns:a="http://schemas.openxmlformats.org/drawingml/2006/main">
              <a:ext uri="{FF2B5EF4-FFF2-40B4-BE49-F238E27FC236}">
                <a16:creationId xmlns:a16="http://schemas.microsoft.com/office/drawing/2014/main" id="{B51F8ECE-7C34-4E20-A008-D943DE3E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286500"/>
            <a:ext cx="381000" cy="9525"/>
          </a:xfrm>
          <a:custGeom xmlns:a="http://schemas.openxmlformats.org/drawingml/2006/main">
            <a:pathLst>
              <a:path w="381000" h="9525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877E"/>
            </a:solidFill>
            <a:prstDash val="solid"/>
          </a:ln>
        </p:spPr>
      </p:sp>
      <p:sp>
        <p:nvSpPr>
          <p:cNvPr id="60" name="flow arrow-36">
            <a:extLst xmlns:a="http://schemas.openxmlformats.org/drawingml/2006/main">
              <a:ext uri="{FF2B5EF4-FFF2-40B4-BE49-F238E27FC236}">
                <a16:creationId xmlns:a16="http://schemas.microsoft.com/office/drawing/2014/main" id="{88FB0428-288C-4E47-8926-8D712AE6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238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3E877E"/>
          </a:solidFill>
          <a:ln xmlns:a="http://schemas.openxmlformats.org/drawingml/2006/main" w="9525">
            <a:solidFill>
              <a:srgbClr val="3E877E"/>
            </a:solidFill>
            <a:prstDash val="solid"/>
          </a:ln>
        </p:spPr>
      </p:sp>
      <p:sp>
        <p:nvSpPr>
          <p:cNvPr id="61" name="Cooling water / 19.8 → 27.9°C / 23.8 m³/s">
            <a:extLst xmlns:a="http://schemas.openxmlformats.org/drawingml/2006/main">
              <a:ext uri="{FF2B5EF4-FFF2-40B4-BE49-F238E27FC236}">
                <a16:creationId xmlns:a16="http://schemas.microsoft.com/office/drawing/2014/main" id="{0F1DAEBF-D719-4F06-9613-554B7688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57850"/>
            <a:ext cx="1971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Cooling water</a:t>
            </a:r>
          </a:p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19.8 → 27.9°C</a:t>
            </a:r>
          </a:p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23.8 m³/s</a:t>
            </a:r>
          </a:p>
        </p:txBody>
      </p:sp>
      <p:sp>
        <p:nvSpPr>
          <p:cNvPr id="62" name="rect-37">
            <a:extLst xmlns:a="http://schemas.openxmlformats.org/drawingml/2006/main">
              <a:ext uri="{FF2B5EF4-FFF2-40B4-BE49-F238E27FC236}">
                <a16:creationId xmlns:a16="http://schemas.microsoft.com/office/drawing/2014/main" id="{B0B09CA9-6C00-4D88-9394-5C7E8A85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10250"/>
            <a:ext cx="180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63" name="Feed-pump / turbine">
            <a:extLst xmlns:a="http://schemas.openxmlformats.org/drawingml/2006/main">
              <a:ext uri="{FF2B5EF4-FFF2-40B4-BE49-F238E27FC236}">
                <a16:creationId xmlns:a16="http://schemas.microsoft.com/office/drawing/2014/main" id="{DD9EF5C8-4485-4527-B873-F93F79B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578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Feed-pump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64" name="7.64 MPa / 378°C">
            <a:extLst xmlns:a="http://schemas.openxmlformats.org/drawingml/2006/main">
              <a:ext uri="{FF2B5EF4-FFF2-40B4-BE49-F238E27FC236}">
                <a16:creationId xmlns:a16="http://schemas.microsoft.com/office/drawing/2014/main" id="{1770A883-397F-49BC-BD3A-41594166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149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7.64 MPa / 378°C</a:t>
            </a:r>
          </a:p>
        </p:txBody>
      </p:sp>
      <p:sp>
        <p:nvSpPr>
          <p:cNvPr id="65" name="21.4 MW shaft">
            <a:extLst xmlns:a="http://schemas.openxmlformats.org/drawingml/2006/main">
              <a:ext uri="{FF2B5EF4-FFF2-40B4-BE49-F238E27FC236}">
                <a16:creationId xmlns:a16="http://schemas.microsoft.com/office/drawing/2014/main" id="{FFCCA43B-9A89-4D92-8EC8-9CEC4631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21.4 MW shaft</a:t>
            </a:r>
          </a:p>
        </p:txBody>
      </p:sp>
      <p:sp>
        <p:nvSpPr>
          <p:cNvPr id="66" name="24 MPa / 380°C¹">
            <a:extLst xmlns:a="http://schemas.openxmlformats.org/drawingml/2006/main">
              <a:ext uri="{FF2B5EF4-FFF2-40B4-BE49-F238E27FC236}">
                <a16:creationId xmlns:a16="http://schemas.microsoft.com/office/drawing/2014/main" id="{837D4B15-0C34-478D-A1BD-05F648D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434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24 MPa / 380°C¹</a:t>
            </a:r>
          </a:p>
        </p:txBody>
      </p:sp>
      <p:sp>
        <p:nvSpPr>
          <p:cNvPr id="67" name="0.60 MPa / exhaust">
            <a:extLst xmlns:a="http://schemas.openxmlformats.org/drawingml/2006/main">
              <a:ext uri="{FF2B5EF4-FFF2-40B4-BE49-F238E27FC236}">
                <a16:creationId xmlns:a16="http://schemas.microsoft.com/office/drawing/2014/main" id="{D4A98BC1-ED47-4BE5-807C-426330B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153275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l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exhaust</a:t>
            </a:r>
          </a:p>
        </p:txBody>
      </p:sp>
      <p:sp>
        <p:nvSpPr>
          <p:cNvPr id="68" name="path-38">
            <a:extLst xmlns:a="http://schemas.openxmlformats.org/drawingml/2006/main">
              <a:ext uri="{FF2B5EF4-FFF2-40B4-BE49-F238E27FC236}">
                <a16:creationId xmlns:a16="http://schemas.microsoft.com/office/drawing/2014/main" id="{80CF2B7D-9C02-4239-AFD0-841857F4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6477000"/>
            <a:ext cx="9525" cy="1238250"/>
          </a:xfrm>
          <a:custGeom xmlns:a="http://schemas.openxmlformats.org/drawingml/2006/main"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69" name="flow arrow-39">
            <a:extLst xmlns:a="http://schemas.openxmlformats.org/drawingml/2006/main">
              <a:ext uri="{FF2B5EF4-FFF2-40B4-BE49-F238E27FC236}">
                <a16:creationId xmlns:a16="http://schemas.microsoft.com/office/drawing/2014/main" id="{83355E9A-A339-4DBE-82B6-5504DFBF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7600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0" name="ellipse-40">
            <a:extLst xmlns:a="http://schemas.openxmlformats.org/drawingml/2006/main">
              <a:ext uri="{FF2B5EF4-FFF2-40B4-BE49-F238E27FC236}">
                <a16:creationId xmlns:a16="http://schemas.microsoft.com/office/drawing/2014/main" id="{120D41FD-6358-497C-A421-6959ACA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7762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71" name="path-41">
            <a:extLst xmlns:a="http://schemas.openxmlformats.org/drawingml/2006/main">
              <a:ext uri="{FF2B5EF4-FFF2-40B4-BE49-F238E27FC236}">
                <a16:creationId xmlns:a16="http://schemas.microsoft.com/office/drawing/2014/main" id="{6FF4BFAD-80B8-4937-9689-6BCA86E9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7877175"/>
            <a:ext cx="228600" cy="247650"/>
          </a:xfrm>
          <a:custGeom xmlns:a="http://schemas.openxmlformats.org/drawingml/2006/main">
            <a:pathLst>
              <a:path w="228600" h="247650">
                <a:moveTo>
                  <a:pt x="228600" y="0"/>
                </a:moveTo>
                <a:lnTo>
                  <a:pt x="0" y="123825"/>
                </a:lnTo>
                <a:lnTo>
                  <a:pt x="228600" y="24765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19050">
            <a:solidFill>
              <a:srgbClr val="166C9A"/>
            </a:solidFill>
            <a:prstDash val="solid"/>
          </a:ln>
        </p:spPr>
      </p:sp>
      <p:sp>
        <p:nvSpPr>
          <p:cNvPr id="72" name="Cond. pump">
            <a:extLst xmlns:a="http://schemas.openxmlformats.org/drawingml/2006/main">
              <a:ext uri="{FF2B5EF4-FFF2-40B4-BE49-F238E27FC236}">
                <a16:creationId xmlns:a16="http://schemas.microsoft.com/office/drawing/2014/main" id="{3CE351E4-3DE2-41B0-BC84-FE0FF86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8305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Cond. pump</a:t>
            </a:r>
          </a:p>
        </p:txBody>
      </p:sp>
      <p:sp>
        <p:nvSpPr>
          <p:cNvPr id="73" name="path-42">
            <a:extLst xmlns:a="http://schemas.openxmlformats.org/drawingml/2006/main">
              <a:ext uri="{FF2B5EF4-FFF2-40B4-BE49-F238E27FC236}">
                <a16:creationId xmlns:a16="http://schemas.microsoft.com/office/drawing/2014/main" id="{12688192-30B5-4839-A7FB-9F006D71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8001000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4" name="flow arrow-43">
            <a:extLst xmlns:a="http://schemas.openxmlformats.org/drawingml/2006/main">
              <a:ext uri="{FF2B5EF4-FFF2-40B4-BE49-F238E27FC236}">
                <a16:creationId xmlns:a16="http://schemas.microsoft.com/office/drawing/2014/main" id="{6E23CC64-DC32-41F0-AA0C-D6448B2E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5" name="path-44">
            <a:extLst xmlns:a="http://schemas.openxmlformats.org/drawingml/2006/main">
              <a:ext uri="{FF2B5EF4-FFF2-40B4-BE49-F238E27FC236}">
                <a16:creationId xmlns:a16="http://schemas.microsoft.com/office/drawing/2014/main" id="{BF6B0E40-AA76-4826-A298-0649BC6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6" name="flow arrow-45">
            <a:extLst xmlns:a="http://schemas.openxmlformats.org/drawingml/2006/main">
              <a:ext uri="{FF2B5EF4-FFF2-40B4-BE49-F238E27FC236}">
                <a16:creationId xmlns:a16="http://schemas.microsoft.com/office/drawing/2014/main" id="{F4ED6154-BA7B-467F-8DB2-CA4DB784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7" name="path-46">
            <a:extLst xmlns:a="http://schemas.openxmlformats.org/drawingml/2006/main">
              <a:ext uri="{FF2B5EF4-FFF2-40B4-BE49-F238E27FC236}">
                <a16:creationId xmlns:a16="http://schemas.microsoft.com/office/drawing/2014/main" id="{6D269B96-8146-4147-86DA-9B3858C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001000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8" name="flow arrow-47">
            <a:extLst xmlns:a="http://schemas.openxmlformats.org/drawingml/2006/main">
              <a:ext uri="{FF2B5EF4-FFF2-40B4-BE49-F238E27FC236}">
                <a16:creationId xmlns:a16="http://schemas.microsoft.com/office/drawing/2014/main" id="{12080F80-44C2-42D4-875B-2976EC6F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9" name="ellipse-48">
            <a:extLst xmlns:a="http://schemas.openxmlformats.org/drawingml/2006/main">
              <a:ext uri="{FF2B5EF4-FFF2-40B4-BE49-F238E27FC236}">
                <a16:creationId xmlns:a16="http://schemas.microsoft.com/office/drawing/2014/main" id="{9896C129-C731-4B9B-9C2E-49B943D8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762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80" name="path-49">
            <a:extLst xmlns:a="http://schemas.openxmlformats.org/drawingml/2006/main">
              <a:ext uri="{FF2B5EF4-FFF2-40B4-BE49-F238E27FC236}">
                <a16:creationId xmlns:a16="http://schemas.microsoft.com/office/drawing/2014/main" id="{CB59E787-F4D7-40BD-A765-1DF4386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228600" cy="247650"/>
          </a:xfrm>
          <a:custGeom xmlns:a="http://schemas.openxmlformats.org/drawingml/2006/main">
            <a:pathLst>
              <a:path w="228600" h="247650">
                <a:moveTo>
                  <a:pt x="228600" y="0"/>
                </a:moveTo>
                <a:lnTo>
                  <a:pt x="0" y="123825"/>
                </a:lnTo>
                <a:lnTo>
                  <a:pt x="228600" y="24765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19050">
            <a:solidFill>
              <a:srgbClr val="166C9A"/>
            </a:solidFill>
            <a:prstDash val="solid"/>
          </a:ln>
        </p:spPr>
      </p:sp>
      <p:sp>
        <p:nvSpPr>
          <p:cNvPr id="81" name="Feed pump">
            <a:extLst xmlns:a="http://schemas.openxmlformats.org/drawingml/2006/main">
              <a:ext uri="{FF2B5EF4-FFF2-40B4-BE49-F238E27FC236}">
                <a16:creationId xmlns:a16="http://schemas.microsoft.com/office/drawing/2014/main" id="{BEFA6A9A-7003-42AA-A218-B3D522BA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305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Feed pump</a:t>
            </a:r>
          </a:p>
        </p:txBody>
      </p:sp>
      <p:sp>
        <p:nvSpPr>
          <p:cNvPr id="82" name="rect-50">
            <a:extLst xmlns:a="http://schemas.openxmlformats.org/drawingml/2006/main">
              <a:ext uri="{FF2B5EF4-FFF2-40B4-BE49-F238E27FC236}">
                <a16:creationId xmlns:a16="http://schemas.microsoft.com/office/drawing/2014/main" id="{326A666F-3888-4608-82F4-5C8E557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962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83" name="Deaerator">
            <a:extLst xmlns:a="http://schemas.openxmlformats.org/drawingml/2006/main">
              <a:ext uri="{FF2B5EF4-FFF2-40B4-BE49-F238E27FC236}">
                <a16:creationId xmlns:a16="http://schemas.microsoft.com/office/drawing/2014/main" id="{A3C9D748-84B4-42DE-88DA-11FC1FA0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7438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Deaerator</a:t>
            </a:r>
          </a:p>
        </p:txBody>
      </p:sp>
      <p:sp>
        <p:nvSpPr>
          <p:cNvPr id="84" name="0.60 MPa / 159°C">
            <a:extLst xmlns:a="http://schemas.openxmlformats.org/drawingml/2006/main">
              <a:ext uri="{FF2B5EF4-FFF2-40B4-BE49-F238E27FC236}">
                <a16:creationId xmlns:a16="http://schemas.microsoft.com/office/drawing/2014/main" id="{734125BF-9922-4DBD-9A99-4233F896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8382000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159°C</a:t>
            </a:r>
          </a:p>
        </p:txBody>
      </p:sp>
      <p:sp>
        <p:nvSpPr>
          <p:cNvPr id="85" name="path-51">
            <a:extLst xmlns:a="http://schemas.openxmlformats.org/drawingml/2006/main">
              <a:ext uri="{FF2B5EF4-FFF2-40B4-BE49-F238E27FC236}">
                <a16:creationId xmlns:a16="http://schemas.microsoft.com/office/drawing/2014/main" id="{7B98AED1-7482-49A3-94CC-913C448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001000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86" name="flow arrow-52">
            <a:extLst xmlns:a="http://schemas.openxmlformats.org/drawingml/2006/main">
              <a:ext uri="{FF2B5EF4-FFF2-40B4-BE49-F238E27FC236}">
                <a16:creationId xmlns:a16="http://schemas.microsoft.com/office/drawing/2014/main" id="{5D0D4B5A-998A-4B45-AEEF-9FAFE2F2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87" name="rect-53">
            <a:extLst xmlns:a="http://schemas.openxmlformats.org/drawingml/2006/main">
              <a:ext uri="{FF2B5EF4-FFF2-40B4-BE49-F238E27FC236}">
                <a16:creationId xmlns:a16="http://schemas.microsoft.com/office/drawing/2014/main" id="{C9827FD0-253C-4867-A373-746E714E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88" name="HP4">
            <a:extLst xmlns:a="http://schemas.openxmlformats.org/drawingml/2006/main">
              <a:ext uri="{FF2B5EF4-FFF2-40B4-BE49-F238E27FC236}">
                <a16:creationId xmlns:a16="http://schemas.microsoft.com/office/drawing/2014/main" id="{A7D5E747-2D1E-4E6C-A4FA-C75A8142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HP4</a:t>
            </a:r>
          </a:p>
        </p:txBody>
      </p:sp>
      <p:sp>
        <p:nvSpPr>
          <p:cNvPr id="89" name="287°C">
            <a:extLst xmlns:a="http://schemas.openxmlformats.org/drawingml/2006/main">
              <a:ext uri="{FF2B5EF4-FFF2-40B4-BE49-F238E27FC236}">
                <a16:creationId xmlns:a16="http://schemas.microsoft.com/office/drawing/2014/main" id="{1047B1CF-50B4-40C2-88E9-9D92C80A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287°C</a:t>
            </a:r>
          </a:p>
        </p:txBody>
      </p:sp>
      <p:sp>
        <p:nvSpPr>
          <p:cNvPr id="90" name="7.64 / MPa">
            <a:extLst xmlns:a="http://schemas.openxmlformats.org/drawingml/2006/main">
              <a:ext uri="{FF2B5EF4-FFF2-40B4-BE49-F238E27FC236}">
                <a16:creationId xmlns:a16="http://schemas.microsoft.com/office/drawing/2014/main" id="{15F6622A-8F73-4B9C-8295-ED09C0A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7.64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91" name="path-54">
            <a:extLst xmlns:a="http://schemas.openxmlformats.org/drawingml/2006/main">
              <a:ext uri="{FF2B5EF4-FFF2-40B4-BE49-F238E27FC236}">
                <a16:creationId xmlns:a16="http://schemas.microsoft.com/office/drawing/2014/main" id="{E00E9D1E-FF39-44AA-A352-D2E39191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92" name="flow arrow-55">
            <a:extLst xmlns:a="http://schemas.openxmlformats.org/drawingml/2006/main">
              <a:ext uri="{FF2B5EF4-FFF2-40B4-BE49-F238E27FC236}">
                <a16:creationId xmlns:a16="http://schemas.microsoft.com/office/drawing/2014/main" id="{23A695A4-3418-4B32-B113-921BE58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93" name="rect-56">
            <a:extLst xmlns:a="http://schemas.openxmlformats.org/drawingml/2006/main">
              <a:ext uri="{FF2B5EF4-FFF2-40B4-BE49-F238E27FC236}">
                <a16:creationId xmlns:a16="http://schemas.microsoft.com/office/drawing/2014/main" id="{07F171AA-C566-4A4B-A76C-C2A6F430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94" name="HP3">
            <a:extLst xmlns:a="http://schemas.openxmlformats.org/drawingml/2006/main">
              <a:ext uri="{FF2B5EF4-FFF2-40B4-BE49-F238E27FC236}">
                <a16:creationId xmlns:a16="http://schemas.microsoft.com/office/drawing/2014/main" id="{46BB21A8-B3F1-4A89-88E7-DBA59D5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HP3</a:t>
            </a:r>
          </a:p>
        </p:txBody>
      </p:sp>
      <p:sp>
        <p:nvSpPr>
          <p:cNvPr id="95" name="225°C">
            <a:extLst xmlns:a="http://schemas.openxmlformats.org/drawingml/2006/main">
              <a:ext uri="{FF2B5EF4-FFF2-40B4-BE49-F238E27FC236}">
                <a16:creationId xmlns:a16="http://schemas.microsoft.com/office/drawing/2014/main" id="{5B2CA1BE-17D1-4C5D-9372-AD1A15B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225°C</a:t>
            </a:r>
          </a:p>
        </p:txBody>
      </p:sp>
      <p:sp>
        <p:nvSpPr>
          <p:cNvPr id="96" name="2.80 / MPa">
            <a:extLst xmlns:a="http://schemas.openxmlformats.org/drawingml/2006/main">
              <a:ext uri="{FF2B5EF4-FFF2-40B4-BE49-F238E27FC236}">
                <a16:creationId xmlns:a16="http://schemas.microsoft.com/office/drawing/2014/main" id="{7ED5E0EC-9505-46E1-B3F7-AFB3FA89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2.80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97" name="path-57">
            <a:extLst xmlns:a="http://schemas.openxmlformats.org/drawingml/2006/main">
              <a:ext uri="{FF2B5EF4-FFF2-40B4-BE49-F238E27FC236}">
                <a16:creationId xmlns:a16="http://schemas.microsoft.com/office/drawing/2014/main" id="{E9FD9EB6-45F2-4FE8-B92E-EEF45C8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98" name="flow arrow-58">
            <a:extLst xmlns:a="http://schemas.openxmlformats.org/drawingml/2006/main">
              <a:ext uri="{FF2B5EF4-FFF2-40B4-BE49-F238E27FC236}">
                <a16:creationId xmlns:a16="http://schemas.microsoft.com/office/drawing/2014/main" id="{C1775735-C157-4A91-9718-501A2544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99" name="rect-59">
            <a:extLst xmlns:a="http://schemas.openxmlformats.org/drawingml/2006/main">
              <a:ext uri="{FF2B5EF4-FFF2-40B4-BE49-F238E27FC236}">
                <a16:creationId xmlns:a16="http://schemas.microsoft.com/office/drawing/2014/main" id="{D2FA1DAF-69E5-43E2-B61B-7860DF31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00" name="HP2">
            <a:extLst xmlns:a="http://schemas.openxmlformats.org/drawingml/2006/main">
              <a:ext uri="{FF2B5EF4-FFF2-40B4-BE49-F238E27FC236}">
                <a16:creationId xmlns:a16="http://schemas.microsoft.com/office/drawing/2014/main" id="{1E45FFD8-E740-497D-A66D-7DB7A39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HP2</a:t>
            </a:r>
          </a:p>
        </p:txBody>
      </p:sp>
      <p:sp>
        <p:nvSpPr>
          <p:cNvPr id="101" name="196°C">
            <a:extLst xmlns:a="http://schemas.openxmlformats.org/drawingml/2006/main">
              <a:ext uri="{FF2B5EF4-FFF2-40B4-BE49-F238E27FC236}">
                <a16:creationId xmlns:a16="http://schemas.microsoft.com/office/drawing/2014/main" id="{2D6B7DF3-3BB3-4FED-BD05-85DBC542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196°C</a:t>
            </a:r>
          </a:p>
        </p:txBody>
      </p:sp>
      <p:sp>
        <p:nvSpPr>
          <p:cNvPr id="102" name="1.60 / MPa">
            <a:extLst xmlns:a="http://schemas.openxmlformats.org/drawingml/2006/main">
              <a:ext uri="{FF2B5EF4-FFF2-40B4-BE49-F238E27FC236}">
                <a16:creationId xmlns:a16="http://schemas.microsoft.com/office/drawing/2014/main" id="{CFC42C67-43C3-432C-A5D9-8E29D4B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1.60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03" name="path-60">
            <a:extLst xmlns:a="http://schemas.openxmlformats.org/drawingml/2006/main">
              <a:ext uri="{FF2B5EF4-FFF2-40B4-BE49-F238E27FC236}">
                <a16:creationId xmlns:a16="http://schemas.microsoft.com/office/drawing/2014/main" id="{54493558-14F3-411B-A5F8-1D521F3E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04" name="flow arrow-61">
            <a:extLst xmlns:a="http://schemas.openxmlformats.org/drawingml/2006/main">
              <a:ext uri="{FF2B5EF4-FFF2-40B4-BE49-F238E27FC236}">
                <a16:creationId xmlns:a16="http://schemas.microsoft.com/office/drawing/2014/main" id="{1406A80B-CBFA-4F79-86C4-1779149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05" name="rect-62">
            <a:extLst xmlns:a="http://schemas.openxmlformats.org/drawingml/2006/main">
              <a:ext uri="{FF2B5EF4-FFF2-40B4-BE49-F238E27FC236}">
                <a16:creationId xmlns:a16="http://schemas.microsoft.com/office/drawing/2014/main" id="{D73E41AE-C867-426D-876E-BD0C7C01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06" name="HP1">
            <a:extLst xmlns:a="http://schemas.openxmlformats.org/drawingml/2006/main">
              <a:ext uri="{FF2B5EF4-FFF2-40B4-BE49-F238E27FC236}">
                <a16:creationId xmlns:a16="http://schemas.microsoft.com/office/drawing/2014/main" id="{5CCEDE59-F8F4-49BC-A22F-9BE61D6C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HP1</a:t>
            </a:r>
          </a:p>
        </p:txBody>
      </p:sp>
      <p:sp>
        <p:nvSpPr>
          <p:cNvPr id="107" name="175°C">
            <a:extLst xmlns:a="http://schemas.openxmlformats.org/drawingml/2006/main">
              <a:ext uri="{FF2B5EF4-FFF2-40B4-BE49-F238E27FC236}">
                <a16:creationId xmlns:a16="http://schemas.microsoft.com/office/drawing/2014/main" id="{D78CD71F-4207-426E-8DB9-558705A7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175°C</a:t>
            </a:r>
          </a:p>
        </p:txBody>
      </p:sp>
      <p:sp>
        <p:nvSpPr>
          <p:cNvPr id="108" name="1.00 / MPa">
            <a:extLst xmlns:a="http://schemas.openxmlformats.org/drawingml/2006/main">
              <a:ext uri="{FF2B5EF4-FFF2-40B4-BE49-F238E27FC236}">
                <a16:creationId xmlns:a16="http://schemas.microsoft.com/office/drawing/2014/main" id="{17C9CE04-0A1A-468D-8628-42C47D9C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1.00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09" name="rect-63">
            <a:extLst xmlns:a="http://schemas.openxmlformats.org/drawingml/2006/main">
              <a:ext uri="{FF2B5EF4-FFF2-40B4-BE49-F238E27FC236}">
                <a16:creationId xmlns:a16="http://schemas.microsoft.com/office/drawing/2014/main" id="{A8123E1C-5C0E-48C2-B352-20C85482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10" name="LP3">
            <a:extLst xmlns:a="http://schemas.openxmlformats.org/drawingml/2006/main">
              <a:ext uri="{FF2B5EF4-FFF2-40B4-BE49-F238E27FC236}">
                <a16:creationId xmlns:a16="http://schemas.microsoft.com/office/drawing/2014/main" id="{36654C41-97BB-431E-835C-2CD7EFC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LP3</a:t>
            </a:r>
          </a:p>
        </p:txBody>
      </p:sp>
      <p:sp>
        <p:nvSpPr>
          <p:cNvPr id="111" name="107°C">
            <a:extLst xmlns:a="http://schemas.openxmlformats.org/drawingml/2006/main">
              <a:ext uri="{FF2B5EF4-FFF2-40B4-BE49-F238E27FC236}">
                <a16:creationId xmlns:a16="http://schemas.microsoft.com/office/drawing/2014/main" id="{7AEC105D-73A5-4F37-8EA5-9BA45421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107°C</a:t>
            </a:r>
          </a:p>
        </p:txBody>
      </p:sp>
      <p:sp>
        <p:nvSpPr>
          <p:cNvPr id="112" name="0.155 / MPa">
            <a:extLst xmlns:a="http://schemas.openxmlformats.org/drawingml/2006/main">
              <a:ext uri="{FF2B5EF4-FFF2-40B4-BE49-F238E27FC236}">
                <a16:creationId xmlns:a16="http://schemas.microsoft.com/office/drawing/2014/main" id="{71F45C22-552C-4762-8758-9E63298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0.155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13" name="path-64">
            <a:extLst xmlns:a="http://schemas.openxmlformats.org/drawingml/2006/main">
              <a:ext uri="{FF2B5EF4-FFF2-40B4-BE49-F238E27FC236}">
                <a16:creationId xmlns:a16="http://schemas.microsoft.com/office/drawing/2014/main" id="{A81C1F2C-371F-4414-BAB4-B65B7C0D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14" name="flow arrow-65">
            <a:extLst xmlns:a="http://schemas.openxmlformats.org/drawingml/2006/main">
              <a:ext uri="{FF2B5EF4-FFF2-40B4-BE49-F238E27FC236}">
                <a16:creationId xmlns:a16="http://schemas.microsoft.com/office/drawing/2014/main" id="{04C3BE02-747C-4B20-BF55-3A870326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15" name="rect-66">
            <a:extLst xmlns:a="http://schemas.openxmlformats.org/drawingml/2006/main">
              <a:ext uri="{FF2B5EF4-FFF2-40B4-BE49-F238E27FC236}">
                <a16:creationId xmlns:a16="http://schemas.microsoft.com/office/drawing/2014/main" id="{33E906BA-1809-4CB0-8DCF-F593745B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16" name="LP2">
            <a:extLst xmlns:a="http://schemas.openxmlformats.org/drawingml/2006/main">
              <a:ext uri="{FF2B5EF4-FFF2-40B4-BE49-F238E27FC236}">
                <a16:creationId xmlns:a16="http://schemas.microsoft.com/office/drawing/2014/main" id="{651859AE-3D33-4BB9-9588-840D5EB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LP2</a:t>
            </a:r>
          </a:p>
        </p:txBody>
      </p:sp>
      <p:sp>
        <p:nvSpPr>
          <p:cNvPr id="117" name="95°C">
            <a:extLst xmlns:a="http://schemas.openxmlformats.org/drawingml/2006/main">
              <a:ext uri="{FF2B5EF4-FFF2-40B4-BE49-F238E27FC236}">
                <a16:creationId xmlns:a16="http://schemas.microsoft.com/office/drawing/2014/main" id="{96EF8493-5D01-41F4-9425-FE45ADE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95°C</a:t>
            </a:r>
          </a:p>
        </p:txBody>
      </p:sp>
      <p:sp>
        <p:nvSpPr>
          <p:cNvPr id="118" name="0.100 / MPa">
            <a:extLst xmlns:a="http://schemas.openxmlformats.org/drawingml/2006/main">
              <a:ext uri="{FF2B5EF4-FFF2-40B4-BE49-F238E27FC236}">
                <a16:creationId xmlns:a16="http://schemas.microsoft.com/office/drawing/2014/main" id="{CA9CE777-8D89-4F30-99AF-79F45E0C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0.100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19" name="path-67">
            <a:extLst xmlns:a="http://schemas.openxmlformats.org/drawingml/2006/main">
              <a:ext uri="{FF2B5EF4-FFF2-40B4-BE49-F238E27FC236}">
                <a16:creationId xmlns:a16="http://schemas.microsoft.com/office/drawing/2014/main" id="{B30695E1-ACD0-419D-8B3C-44FFCB9F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20" name="flow arrow-68">
            <a:extLst xmlns:a="http://schemas.openxmlformats.org/drawingml/2006/main">
              <a:ext uri="{FF2B5EF4-FFF2-40B4-BE49-F238E27FC236}">
                <a16:creationId xmlns:a16="http://schemas.microsoft.com/office/drawing/2014/main" id="{554B754B-86CC-4715-9333-D0631A82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21" name="rect-69">
            <a:extLst xmlns:a="http://schemas.openxmlformats.org/drawingml/2006/main">
              <a:ext uri="{FF2B5EF4-FFF2-40B4-BE49-F238E27FC236}">
                <a16:creationId xmlns:a16="http://schemas.microsoft.com/office/drawing/2014/main" id="{6BD2C345-E072-4D8B-A5E8-F4A282C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22" name="LP1">
            <a:extLst xmlns:a="http://schemas.openxmlformats.org/drawingml/2006/main">
              <a:ext uri="{FF2B5EF4-FFF2-40B4-BE49-F238E27FC236}">
                <a16:creationId xmlns:a16="http://schemas.microsoft.com/office/drawing/2014/main" id="{04C03D6D-F5DE-4498-8010-5C4B69C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LP1</a:t>
            </a:r>
          </a:p>
        </p:txBody>
      </p:sp>
      <p:sp>
        <p:nvSpPr>
          <p:cNvPr id="123" name="64°C">
            <a:extLst xmlns:a="http://schemas.openxmlformats.org/drawingml/2006/main">
              <a:ext uri="{FF2B5EF4-FFF2-40B4-BE49-F238E27FC236}">
                <a16:creationId xmlns:a16="http://schemas.microsoft.com/office/drawing/2014/main" id="{086DEE6D-EEFD-43E2-B3ED-C2D90022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64°C</a:t>
            </a:r>
          </a:p>
        </p:txBody>
      </p:sp>
      <p:sp>
        <p:nvSpPr>
          <p:cNvPr id="124" name="0.030 / MPa">
            <a:extLst xmlns:a="http://schemas.openxmlformats.org/drawingml/2006/main">
              <a:ext uri="{FF2B5EF4-FFF2-40B4-BE49-F238E27FC236}">
                <a16:creationId xmlns:a16="http://schemas.microsoft.com/office/drawing/2014/main" id="{A0F1F35A-1B51-42CA-9332-30A62CE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0.030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25" name="path-70">
            <a:extLst xmlns:a="http://schemas.openxmlformats.org/drawingml/2006/main">
              <a:ext uri="{FF2B5EF4-FFF2-40B4-BE49-F238E27FC236}">
                <a16:creationId xmlns:a16="http://schemas.microsoft.com/office/drawing/2014/main" id="{3B401500-FF9C-431C-B505-8FC1FE01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904875" cy="2286000"/>
          </a:xfrm>
          <a:custGeom xmlns:a="http://schemas.openxmlformats.org/drawingml/2006/main">
            <a:pathLst>
              <a:path w="904875" h="2286000">
                <a:moveTo>
                  <a:pt x="428625" y="2286000"/>
                </a:moveTo>
                <a:lnTo>
                  <a:pt x="0" y="2286000"/>
                </a:lnTo>
                <a:lnTo>
                  <a:pt x="0" y="1123950"/>
                </a:lnTo>
                <a:lnTo>
                  <a:pt x="904875" y="1123950"/>
                </a:ln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26" name="flow arrow-71">
            <a:extLst xmlns:a="http://schemas.openxmlformats.org/drawingml/2006/main">
              <a:ext uri="{FF2B5EF4-FFF2-40B4-BE49-F238E27FC236}">
                <a16:creationId xmlns:a16="http://schemas.microsoft.com/office/drawing/2014/main" id="{2A67E8BC-0624-40AA-9499-EB9B2A84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27" name="Feedwater → SG / 24 MPa • 287°C">
            <a:extLst xmlns:a="http://schemas.openxmlformats.org/drawingml/2006/main">
              <a:ext uri="{FF2B5EF4-FFF2-40B4-BE49-F238E27FC236}">
                <a16:creationId xmlns:a16="http://schemas.microsoft.com/office/drawing/2014/main" id="{D9F65126-2CBA-4F40-8012-CA85AB68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200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Feedwater → SG</a:t>
            </a:r>
          </a:p>
          <a:p xmlns:a="http://schemas.openxmlformats.org/drawingml/2006/main">
            <a: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24 MPa • 287°C</a:t>
            </a:r>
          </a:p>
        </p:txBody>
      </p:sp>
      <p:sp>
        <p:nvSpPr>
          <p:cNvPr id="128" name="24 MPa / 163°C">
            <a:extLst xmlns:a="http://schemas.openxmlformats.org/drawingml/2006/main">
              <a:ext uri="{FF2B5EF4-FFF2-40B4-BE49-F238E27FC236}">
                <a16:creationId xmlns:a16="http://schemas.microsoft.com/office/drawing/2014/main" id="{5BF9C036-1DA5-40AB-AA47-6DEC7161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7252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24 MPa</a:t>
            </a:r>
          </a:p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163°C</a:t>
            </a:r>
          </a:p>
        </p:txBody>
      </p:sp>
      <p:sp>
        <p:nvSpPr>
          <p:cNvPr id="129" name="0.72 MPa / 33°C">
            <a:extLst xmlns:a="http://schemas.openxmlformats.org/drawingml/2006/main">
              <a:ext uri="{FF2B5EF4-FFF2-40B4-BE49-F238E27FC236}">
                <a16:creationId xmlns:a16="http://schemas.microsoft.com/office/drawing/2014/main" id="{46CB3D12-E6A7-4824-8604-1487C4CE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86582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0.72 MPa</a:t>
            </a:r>
          </a:p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33°C</a:t>
            </a:r>
          </a:p>
        </p:txBody>
      </p:sp>
      <p:sp>
        <p:nvSpPr>
          <p:cNvPr id="130" name="HP feedwater heaters">
            <a:extLst xmlns:a="http://schemas.openxmlformats.org/drawingml/2006/main">
              <a:ext uri="{FF2B5EF4-FFF2-40B4-BE49-F238E27FC236}">
                <a16:creationId xmlns:a16="http://schemas.microsoft.com/office/drawing/2014/main" id="{8CB18E1E-4E23-4322-ACD3-3B189A4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801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 feedwater heaters</a:t>
            </a:r>
          </a:p>
        </p:txBody>
      </p:sp>
      <p:sp>
        <p:nvSpPr>
          <p:cNvPr id="131" name="LP feedwater heaters">
            <a:extLst xmlns:a="http://schemas.openxmlformats.org/drawingml/2006/main">
              <a:ext uri="{FF2B5EF4-FFF2-40B4-BE49-F238E27FC236}">
                <a16:creationId xmlns:a16="http://schemas.microsoft.com/office/drawing/2014/main" id="{56E4ADCA-351F-4E08-8AA1-978EAB48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88011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 feedwater heaters</a:t>
            </a:r>
          </a:p>
        </p:txBody>
      </p:sp>
      <p:sp>
        <p:nvSpPr>
          <p:cNvPr id="132" name="Extraction route 72">
            <a:extLst xmlns:a="http://schemas.openxmlformats.org/drawingml/2006/main">
              <a:ext uri="{FF2B5EF4-FFF2-40B4-BE49-F238E27FC236}">
                <a16:creationId xmlns:a16="http://schemas.microsoft.com/office/drawing/2014/main" id="{00FEF262-F877-4175-89B7-A95279C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38600"/>
            <a:ext cx="2733675" cy="3819525"/>
          </a:xfrm>
          <a:custGeom xmlns:a="http://schemas.openxmlformats.org/drawingml/2006/main">
            <a:pathLst>
              <a:path w="2733675" h="3819525">
                <a:moveTo>
                  <a:pt x="2638425" y="95250"/>
                </a:moveTo>
                <a:lnTo>
                  <a:pt x="2638425" y="1390650"/>
                </a:lnTo>
                <a:lnTo>
                  <a:pt x="1066800" y="1390650"/>
                </a:lnTo>
                <a:lnTo>
                  <a:pt x="1066800" y="2914650"/>
                </a:lnTo>
                <a:lnTo>
                  <a:pt x="95250" y="2914650"/>
                </a:lnTo>
                <a:lnTo>
                  <a:pt x="95250" y="372427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33" name="Extraction route 72">
            <a:extLst xmlns:a="http://schemas.openxmlformats.org/drawingml/2006/main">
              <a:ext uri="{FF2B5EF4-FFF2-40B4-BE49-F238E27FC236}">
                <a16:creationId xmlns:a16="http://schemas.microsoft.com/office/drawing/2014/main" id="{81A593E2-E0BF-404E-B563-FA539306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38600"/>
            <a:ext cx="2733675" cy="3819525"/>
          </a:xfrm>
          <a:custGeom xmlns:a="http://schemas.openxmlformats.org/drawingml/2006/main">
            <a:pathLst>
              <a:path w="2733675" h="3819525">
                <a:moveTo>
                  <a:pt x="2638425" y="95250"/>
                </a:moveTo>
                <a:lnTo>
                  <a:pt x="2638425" y="1390650"/>
                </a:lnTo>
                <a:lnTo>
                  <a:pt x="1066800" y="1390650"/>
                </a:lnTo>
                <a:lnTo>
                  <a:pt x="1066800" y="2914650"/>
                </a:lnTo>
                <a:lnTo>
                  <a:pt x="95250" y="2914650"/>
                </a:lnTo>
                <a:lnTo>
                  <a:pt x="95250" y="37242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34" name="flow arrow-73">
            <a:extLst xmlns:a="http://schemas.openxmlformats.org/drawingml/2006/main">
              <a:ext uri="{FF2B5EF4-FFF2-40B4-BE49-F238E27FC236}">
                <a16:creationId xmlns:a16="http://schemas.microsoft.com/office/drawing/2014/main" id="{CAD28E69-184C-4241-A32E-DA9BCC3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35" name="Extraction route 74">
            <a:extLst xmlns:a="http://schemas.openxmlformats.org/drawingml/2006/main">
              <a:ext uri="{FF2B5EF4-FFF2-40B4-BE49-F238E27FC236}">
                <a16:creationId xmlns:a16="http://schemas.microsoft.com/office/drawing/2014/main" id="{78FECDA7-4C52-4D33-8405-CF67F07A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4048125" cy="714375"/>
          </a:xfrm>
          <a:custGeom xmlns:a="http://schemas.openxmlformats.org/drawingml/2006/main">
            <a:pathLst>
              <a:path w="4048125" h="714375">
                <a:moveTo>
                  <a:pt x="95250" y="95250"/>
                </a:moveTo>
                <a:lnTo>
                  <a:pt x="3667125" y="95250"/>
                </a:lnTo>
                <a:lnTo>
                  <a:pt x="3667125" y="619125"/>
                </a:lnTo>
                <a:lnTo>
                  <a:pt x="3952875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36" name="Extraction route 74">
            <a:extLst xmlns:a="http://schemas.openxmlformats.org/drawingml/2006/main">
              <a:ext uri="{FF2B5EF4-FFF2-40B4-BE49-F238E27FC236}">
                <a16:creationId xmlns:a16="http://schemas.microsoft.com/office/drawing/2014/main" id="{091E8FFF-EA9B-40F8-BF37-986E863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4048125" cy="714375"/>
          </a:xfrm>
          <a:custGeom xmlns:a="http://schemas.openxmlformats.org/drawingml/2006/main">
            <a:pathLst>
              <a:path w="4048125" h="714375">
                <a:moveTo>
                  <a:pt x="95250" y="95250"/>
                </a:moveTo>
                <a:lnTo>
                  <a:pt x="3667125" y="95250"/>
                </a:lnTo>
                <a:lnTo>
                  <a:pt x="3667125" y="619125"/>
                </a:lnTo>
                <a:lnTo>
                  <a:pt x="3952875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37" name="flow arrow-75">
            <a:extLst xmlns:a="http://schemas.openxmlformats.org/drawingml/2006/main">
              <a:ext uri="{FF2B5EF4-FFF2-40B4-BE49-F238E27FC236}">
                <a16:creationId xmlns:a16="http://schemas.microsoft.com/office/drawing/2014/main" id="{84DDD98D-FE70-4B2E-965F-6C31AC1A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905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38" name="ellipse-76">
            <a:extLst xmlns:a="http://schemas.openxmlformats.org/drawingml/2006/main">
              <a:ext uri="{FF2B5EF4-FFF2-40B4-BE49-F238E27FC236}">
                <a16:creationId xmlns:a16="http://schemas.microsoft.com/office/drawing/2014/main" id="{A41AADB6-3346-46F0-8CA9-2C7C1BE1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8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28"/>
          </a:solidFill>
          <a:ln xmlns:a="http://schemas.openxmlformats.org/drawingml/2006/main" w="0">
            <a:solidFill>
              <a:srgbClr val="967228"/>
            </a:solidFill>
            <a:prstDash val="solid"/>
          </a:ln>
        </p:spPr>
      </p:sp>
      <p:sp>
        <p:nvSpPr>
          <p:cNvPr id="139" name="Extraction route 77">
            <a:extLst xmlns:a="http://schemas.openxmlformats.org/drawingml/2006/main">
              <a:ext uri="{FF2B5EF4-FFF2-40B4-BE49-F238E27FC236}">
                <a16:creationId xmlns:a16="http://schemas.microsoft.com/office/drawing/2014/main" id="{D5751D5E-741C-4A7F-975B-13A45632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48075"/>
            <a:ext cx="3019425" cy="4210050"/>
          </a:xfrm>
          <a:custGeom xmlns:a="http://schemas.openxmlformats.org/drawingml/2006/main">
            <a:pathLst>
              <a:path w="3019425" h="4210050">
                <a:moveTo>
                  <a:pt x="2924175" y="95250"/>
                </a:moveTo>
                <a:lnTo>
                  <a:pt x="2924175" y="952500"/>
                </a:lnTo>
                <a:cubicBezTo>
                  <a:pt x="3028950" y="952500"/>
                  <a:pt x="3028950" y="1085850"/>
                  <a:pt x="2924175" y="1085850"/>
                </a:cubicBezTo>
                <a:lnTo>
                  <a:pt x="2924175" y="1714500"/>
                </a:lnTo>
                <a:cubicBezTo>
                  <a:pt x="3028950" y="1714500"/>
                  <a:pt x="3028950" y="1847850"/>
                  <a:pt x="2924175" y="1847850"/>
                </a:cubicBezTo>
                <a:lnTo>
                  <a:pt x="2924175" y="2066925"/>
                </a:lnTo>
                <a:lnTo>
                  <a:pt x="95250" y="2066925"/>
                </a:lnTo>
                <a:lnTo>
                  <a:pt x="9525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40" name="Extraction route 77">
            <a:extLst xmlns:a="http://schemas.openxmlformats.org/drawingml/2006/main">
              <a:ext uri="{FF2B5EF4-FFF2-40B4-BE49-F238E27FC236}">
                <a16:creationId xmlns:a16="http://schemas.microsoft.com/office/drawing/2014/main" id="{AF71574B-08FB-449E-842E-F04D439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48075"/>
            <a:ext cx="3019425" cy="4210050"/>
          </a:xfrm>
          <a:custGeom xmlns:a="http://schemas.openxmlformats.org/drawingml/2006/main">
            <a:pathLst>
              <a:path w="3019425" h="4210050">
                <a:moveTo>
                  <a:pt x="2924175" y="95250"/>
                </a:moveTo>
                <a:lnTo>
                  <a:pt x="2924175" y="952500"/>
                </a:lnTo>
                <a:cubicBezTo>
                  <a:pt x="3028950" y="952500"/>
                  <a:pt x="3028950" y="1085850"/>
                  <a:pt x="2924175" y="1085850"/>
                </a:cubicBezTo>
                <a:lnTo>
                  <a:pt x="2924175" y="1714500"/>
                </a:lnTo>
                <a:cubicBezTo>
                  <a:pt x="3028950" y="1714500"/>
                  <a:pt x="3028950" y="1847850"/>
                  <a:pt x="2924175" y="1847850"/>
                </a:cubicBezTo>
                <a:lnTo>
                  <a:pt x="2924175" y="2066925"/>
                </a:lnTo>
                <a:lnTo>
                  <a:pt x="95250" y="2066925"/>
                </a:lnTo>
                <a:lnTo>
                  <a:pt x="9525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41" name="flow arrow-78">
            <a:extLst xmlns:a="http://schemas.openxmlformats.org/drawingml/2006/main">
              <a:ext uri="{FF2B5EF4-FFF2-40B4-BE49-F238E27FC236}">
                <a16:creationId xmlns:a16="http://schemas.microsoft.com/office/drawing/2014/main" id="{79987D74-7CA9-4EB4-B045-9D63B47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42" name="ellipse-79">
            <a:extLst xmlns:a="http://schemas.openxmlformats.org/drawingml/2006/main">
              <a:ext uri="{FF2B5EF4-FFF2-40B4-BE49-F238E27FC236}">
                <a16:creationId xmlns:a16="http://schemas.microsoft.com/office/drawing/2014/main" id="{E1570E61-601D-4455-97B5-8B50C74F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22"/>
          </a:solidFill>
          <a:ln xmlns:a="http://schemas.openxmlformats.org/drawingml/2006/main" w="0">
            <a:solidFill>
              <a:srgbClr val="B44722"/>
            </a:solidFill>
            <a:prstDash val="solid"/>
          </a:ln>
        </p:spPr>
      </p:sp>
      <p:sp>
        <p:nvSpPr>
          <p:cNvPr id="143" name="Extraction route 80">
            <a:extLst xmlns:a="http://schemas.openxmlformats.org/drawingml/2006/main">
              <a:ext uri="{FF2B5EF4-FFF2-40B4-BE49-F238E27FC236}">
                <a16:creationId xmlns:a16="http://schemas.microsoft.com/office/drawing/2014/main" id="{2AB2E319-FFA1-46B4-8D68-84C1F0B1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91000"/>
            <a:ext cx="6019800" cy="2857500"/>
          </a:xfrm>
          <a:custGeom xmlns:a="http://schemas.openxmlformats.org/drawingml/2006/main">
            <a:pathLst>
              <a:path w="6019800" h="2857500">
                <a:moveTo>
                  <a:pt x="5924550" y="95250"/>
                </a:moveTo>
                <a:lnTo>
                  <a:pt x="5924550" y="409575"/>
                </a:lnTo>
                <a:cubicBezTo>
                  <a:pt x="6029325" y="409575"/>
                  <a:pt x="6029325" y="542925"/>
                  <a:pt x="5924550" y="542925"/>
                </a:cubicBezTo>
                <a:lnTo>
                  <a:pt x="5924550" y="857250"/>
                </a:lnTo>
                <a:lnTo>
                  <a:pt x="4419600" y="857250"/>
                </a:lnTo>
                <a:cubicBezTo>
                  <a:pt x="4419600" y="752475"/>
                  <a:pt x="4286250" y="752475"/>
                  <a:pt x="4286250" y="857250"/>
                </a:cubicBezTo>
                <a:lnTo>
                  <a:pt x="2705100" y="857250"/>
                </a:lnTo>
                <a:cubicBezTo>
                  <a:pt x="2705100" y="752475"/>
                  <a:pt x="2571750" y="752475"/>
                  <a:pt x="2571750" y="857250"/>
                </a:cubicBezTo>
                <a:lnTo>
                  <a:pt x="781050" y="857250"/>
                </a:lnTo>
                <a:lnTo>
                  <a:pt x="781050" y="2571750"/>
                </a:lnTo>
                <a:lnTo>
                  <a:pt x="95250" y="2571750"/>
                </a:lnTo>
                <a:lnTo>
                  <a:pt x="95250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44" name="Extraction route 80">
            <a:extLst xmlns:a="http://schemas.openxmlformats.org/drawingml/2006/main">
              <a:ext uri="{FF2B5EF4-FFF2-40B4-BE49-F238E27FC236}">
                <a16:creationId xmlns:a16="http://schemas.microsoft.com/office/drawing/2014/main" id="{7CE8EA0E-334A-4227-9A29-8539AFE3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91000"/>
            <a:ext cx="6019800" cy="2857500"/>
          </a:xfrm>
          <a:custGeom xmlns:a="http://schemas.openxmlformats.org/drawingml/2006/main">
            <a:pathLst>
              <a:path w="6019800" h="2857500">
                <a:moveTo>
                  <a:pt x="5924550" y="95250"/>
                </a:moveTo>
                <a:lnTo>
                  <a:pt x="5924550" y="409575"/>
                </a:lnTo>
                <a:cubicBezTo>
                  <a:pt x="6029325" y="409575"/>
                  <a:pt x="6029325" y="542925"/>
                  <a:pt x="5924550" y="542925"/>
                </a:cubicBezTo>
                <a:lnTo>
                  <a:pt x="5924550" y="857250"/>
                </a:lnTo>
                <a:lnTo>
                  <a:pt x="4419600" y="857250"/>
                </a:lnTo>
                <a:cubicBezTo>
                  <a:pt x="4419600" y="752475"/>
                  <a:pt x="4286250" y="752475"/>
                  <a:pt x="4286250" y="857250"/>
                </a:cubicBezTo>
                <a:lnTo>
                  <a:pt x="2705100" y="857250"/>
                </a:lnTo>
                <a:cubicBezTo>
                  <a:pt x="2705100" y="752475"/>
                  <a:pt x="2571750" y="752475"/>
                  <a:pt x="2571750" y="857250"/>
                </a:cubicBezTo>
                <a:lnTo>
                  <a:pt x="781050" y="857250"/>
                </a:lnTo>
                <a:lnTo>
                  <a:pt x="781050" y="2571750"/>
                </a:lnTo>
                <a:lnTo>
                  <a:pt x="95250" y="2571750"/>
                </a:lnTo>
                <a:lnTo>
                  <a:pt x="95250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45" name="flow arrow-81">
            <a:extLst xmlns:a="http://schemas.openxmlformats.org/drawingml/2006/main">
              <a:ext uri="{FF2B5EF4-FFF2-40B4-BE49-F238E27FC236}">
                <a16:creationId xmlns:a16="http://schemas.microsoft.com/office/drawing/2014/main" id="{EB1E191D-8875-450B-9A50-673AC33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838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46" name="ellipse-82">
            <a:extLst xmlns:a="http://schemas.openxmlformats.org/drawingml/2006/main">
              <a:ext uri="{FF2B5EF4-FFF2-40B4-BE49-F238E27FC236}">
                <a16:creationId xmlns:a16="http://schemas.microsoft.com/office/drawing/2014/main" id="{A6CF6D90-816E-4DC5-86E2-D6FA92DA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90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28"/>
          </a:solidFill>
          <a:ln xmlns:a="http://schemas.openxmlformats.org/drawingml/2006/main" w="0">
            <a:solidFill>
              <a:srgbClr val="967228"/>
            </a:solidFill>
            <a:prstDash val="solid"/>
          </a:ln>
        </p:spPr>
      </p:sp>
      <p:sp>
        <p:nvSpPr>
          <p:cNvPr id="147" name="Throttle valve-83">
            <a:extLst xmlns:a="http://schemas.openxmlformats.org/drawingml/2006/main">
              <a:ext uri="{FF2B5EF4-FFF2-40B4-BE49-F238E27FC236}">
                <a16:creationId xmlns:a16="http://schemas.microsoft.com/office/drawing/2014/main" id="{84EEC4DC-CD52-49AC-89F3-9281CA3B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43625"/>
            <a:ext cx="171450" cy="190500"/>
          </a:xfrm>
          <a:custGeom xmlns:a="http://schemas.openxmlformats.org/drawingml/2006/main">
            <a:pathLst>
              <a:path w="171450" h="190500">
                <a:moveTo>
                  <a:pt x="0" y="0"/>
                </a:moveTo>
                <a:lnTo>
                  <a:pt x="171450" y="190500"/>
                </a:lnTo>
                <a:lnTo>
                  <a:pt x="0" y="1905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48" name="Extraction route 84">
            <a:extLst xmlns:a="http://schemas.openxmlformats.org/drawingml/2006/main">
              <a:ext uri="{FF2B5EF4-FFF2-40B4-BE49-F238E27FC236}">
                <a16:creationId xmlns:a16="http://schemas.microsoft.com/office/drawing/2014/main" id="{8E518E09-9049-4949-BD4F-464027E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6429375"/>
            <a:ext cx="4114800" cy="1428750"/>
          </a:xfrm>
          <a:custGeom xmlns:a="http://schemas.openxmlformats.org/drawingml/2006/main">
            <a:pathLst>
              <a:path w="4114800" h="1428750">
                <a:moveTo>
                  <a:pt x="4019550" y="95250"/>
                </a:moveTo>
                <a:lnTo>
                  <a:pt x="4019550" y="190500"/>
                </a:lnTo>
                <a:lnTo>
                  <a:pt x="95250" y="190500"/>
                </a:lnTo>
                <a:lnTo>
                  <a:pt x="9525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49" name="Extraction route 84">
            <a:extLst xmlns:a="http://schemas.openxmlformats.org/drawingml/2006/main">
              <a:ext uri="{FF2B5EF4-FFF2-40B4-BE49-F238E27FC236}">
                <a16:creationId xmlns:a16="http://schemas.microsoft.com/office/drawing/2014/main" id="{32C9B5BA-E54E-4378-B18A-745B9320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6429375"/>
            <a:ext cx="4114800" cy="1428750"/>
          </a:xfrm>
          <a:custGeom xmlns:a="http://schemas.openxmlformats.org/drawingml/2006/main">
            <a:pathLst>
              <a:path w="4114800" h="1428750">
                <a:moveTo>
                  <a:pt x="4019550" y="95250"/>
                </a:moveTo>
                <a:lnTo>
                  <a:pt x="4019550" y="190500"/>
                </a:lnTo>
                <a:lnTo>
                  <a:pt x="95250" y="190500"/>
                </a:lnTo>
                <a:lnTo>
                  <a:pt x="9525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0" name="flow arrow-85">
            <a:extLst xmlns:a="http://schemas.openxmlformats.org/drawingml/2006/main">
              <a:ext uri="{FF2B5EF4-FFF2-40B4-BE49-F238E27FC236}">
                <a16:creationId xmlns:a16="http://schemas.microsoft.com/office/drawing/2014/main" id="{D3676D40-B410-4AE6-90A7-054199E7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1" name="Extraction route 86">
            <a:extLst xmlns:a="http://schemas.openxmlformats.org/drawingml/2006/main">
              <a:ext uri="{FF2B5EF4-FFF2-40B4-BE49-F238E27FC236}">
                <a16:creationId xmlns:a16="http://schemas.microsoft.com/office/drawing/2014/main" id="{47023FE3-B24B-4F7F-A744-CDC4AFC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429375"/>
            <a:ext cx="3209925" cy="1428750"/>
          </a:xfrm>
          <a:custGeom xmlns:a="http://schemas.openxmlformats.org/drawingml/2006/main">
            <a:pathLst>
              <a:path w="3209925" h="1428750">
                <a:moveTo>
                  <a:pt x="3114675" y="95250"/>
                </a:moveTo>
                <a:lnTo>
                  <a:pt x="3114675" y="476250"/>
                </a:lnTo>
                <a:lnTo>
                  <a:pt x="95250" y="476250"/>
                </a:lnTo>
                <a:lnTo>
                  <a:pt x="9525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52" name="Extraction route 86">
            <a:extLst xmlns:a="http://schemas.openxmlformats.org/drawingml/2006/main">
              <a:ext uri="{FF2B5EF4-FFF2-40B4-BE49-F238E27FC236}">
                <a16:creationId xmlns:a16="http://schemas.microsoft.com/office/drawing/2014/main" id="{2E60199F-32AC-4DD0-A3ED-820AB74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429375"/>
            <a:ext cx="3209925" cy="1428750"/>
          </a:xfrm>
          <a:custGeom xmlns:a="http://schemas.openxmlformats.org/drawingml/2006/main">
            <a:pathLst>
              <a:path w="3209925" h="1428750">
                <a:moveTo>
                  <a:pt x="3114675" y="95250"/>
                </a:moveTo>
                <a:lnTo>
                  <a:pt x="3114675" y="476250"/>
                </a:lnTo>
                <a:lnTo>
                  <a:pt x="95250" y="476250"/>
                </a:lnTo>
                <a:lnTo>
                  <a:pt x="9525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3" name="flow arrow-87">
            <a:extLst xmlns:a="http://schemas.openxmlformats.org/drawingml/2006/main">
              <a:ext uri="{FF2B5EF4-FFF2-40B4-BE49-F238E27FC236}">
                <a16:creationId xmlns:a16="http://schemas.microsoft.com/office/drawing/2014/main" id="{4D8D40C9-DF02-44F0-84F3-E9F3559A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4" name="Extraction route 88">
            <a:extLst xmlns:a="http://schemas.openxmlformats.org/drawingml/2006/main">
              <a:ext uri="{FF2B5EF4-FFF2-40B4-BE49-F238E27FC236}">
                <a16:creationId xmlns:a16="http://schemas.microsoft.com/office/drawing/2014/main" id="{572FE18E-637D-4A33-84CD-98DE70B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1362075"/>
          </a:xfrm>
          <a:custGeom xmlns:a="http://schemas.openxmlformats.org/drawingml/2006/main">
            <a:pathLst>
              <a:path w="857250" h="1362075">
                <a:moveTo>
                  <a:pt x="762000" y="95250"/>
                </a:moveTo>
                <a:lnTo>
                  <a:pt x="762000" y="666750"/>
                </a:lnTo>
                <a:lnTo>
                  <a:pt x="95250" y="666750"/>
                </a:lnTo>
                <a:lnTo>
                  <a:pt x="9525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55" name="Extraction route 88">
            <a:extLst xmlns:a="http://schemas.openxmlformats.org/drawingml/2006/main">
              <a:ext uri="{FF2B5EF4-FFF2-40B4-BE49-F238E27FC236}">
                <a16:creationId xmlns:a16="http://schemas.microsoft.com/office/drawing/2014/main" id="{88F80C4E-44CE-4D31-B95D-9E36AAE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857250" cy="1362075"/>
          </a:xfrm>
          <a:custGeom xmlns:a="http://schemas.openxmlformats.org/drawingml/2006/main">
            <a:pathLst>
              <a:path w="857250" h="1362075">
                <a:moveTo>
                  <a:pt x="762000" y="95250"/>
                </a:moveTo>
                <a:lnTo>
                  <a:pt x="762000" y="666750"/>
                </a:lnTo>
                <a:lnTo>
                  <a:pt x="95250" y="666750"/>
                </a:lnTo>
                <a:lnTo>
                  <a:pt x="9525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6" name="flow arrow-89">
            <a:extLst xmlns:a="http://schemas.openxmlformats.org/drawingml/2006/main">
              <a:ext uri="{FF2B5EF4-FFF2-40B4-BE49-F238E27FC236}">
                <a16:creationId xmlns:a16="http://schemas.microsoft.com/office/drawing/2014/main" id="{C4A3A28A-347E-461F-B01F-96CA498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5819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7" name="Extraction route 90">
            <a:extLst xmlns:a="http://schemas.openxmlformats.org/drawingml/2006/main">
              <a:ext uri="{FF2B5EF4-FFF2-40B4-BE49-F238E27FC236}">
                <a16:creationId xmlns:a16="http://schemas.microsoft.com/office/drawing/2014/main" id="{CB38D414-FD3F-4356-B703-151AA6BD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019550"/>
            <a:ext cx="2733675" cy="3838575"/>
          </a:xfrm>
          <a:custGeom xmlns:a="http://schemas.openxmlformats.org/drawingml/2006/main">
            <a:pathLst>
              <a:path w="2733675" h="3838575">
                <a:moveTo>
                  <a:pt x="2638425" y="95250"/>
                </a:moveTo>
                <a:lnTo>
                  <a:pt x="2638425" y="581025"/>
                </a:lnTo>
                <a:cubicBezTo>
                  <a:pt x="2743200" y="581025"/>
                  <a:pt x="2743200" y="714375"/>
                  <a:pt x="2638425" y="714375"/>
                </a:cubicBezTo>
                <a:lnTo>
                  <a:pt x="2638425" y="1200150"/>
                </a:lnTo>
                <a:lnTo>
                  <a:pt x="95250" y="1200150"/>
                </a:lnTo>
                <a:lnTo>
                  <a:pt x="95250" y="37433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58" name="Extraction route 90">
            <a:extLst xmlns:a="http://schemas.openxmlformats.org/drawingml/2006/main">
              <a:ext uri="{FF2B5EF4-FFF2-40B4-BE49-F238E27FC236}">
                <a16:creationId xmlns:a16="http://schemas.microsoft.com/office/drawing/2014/main" id="{884240EF-33A3-4BA8-9AD9-BABBC823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019550"/>
            <a:ext cx="2733675" cy="3838575"/>
          </a:xfrm>
          <a:custGeom xmlns:a="http://schemas.openxmlformats.org/drawingml/2006/main">
            <a:pathLst>
              <a:path w="2733675" h="3838575">
                <a:moveTo>
                  <a:pt x="2638425" y="95250"/>
                </a:moveTo>
                <a:lnTo>
                  <a:pt x="2638425" y="581025"/>
                </a:lnTo>
                <a:cubicBezTo>
                  <a:pt x="2743200" y="581025"/>
                  <a:pt x="2743200" y="714375"/>
                  <a:pt x="2638425" y="714375"/>
                </a:cubicBezTo>
                <a:lnTo>
                  <a:pt x="2638425" y="1200150"/>
                </a:lnTo>
                <a:lnTo>
                  <a:pt x="95250" y="1200150"/>
                </a:lnTo>
                <a:lnTo>
                  <a:pt x="95250" y="3743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9" name="flow arrow-91">
            <a:extLst xmlns:a="http://schemas.openxmlformats.org/drawingml/2006/main">
              <a:ext uri="{FF2B5EF4-FFF2-40B4-BE49-F238E27FC236}">
                <a16:creationId xmlns:a16="http://schemas.microsoft.com/office/drawing/2014/main" id="{953709E6-C941-42F1-B271-6E1650E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60" name="Extraction route 92">
            <a:extLst xmlns:a="http://schemas.openxmlformats.org/drawingml/2006/main">
              <a:ext uri="{FF2B5EF4-FFF2-40B4-BE49-F238E27FC236}">
                <a16:creationId xmlns:a16="http://schemas.microsoft.com/office/drawing/2014/main" id="{80AC22A0-8C8B-48E9-A813-6ABC098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143375"/>
            <a:ext cx="2762250" cy="3714750"/>
          </a:xfrm>
          <a:custGeom xmlns:a="http://schemas.openxmlformats.org/drawingml/2006/main">
            <a:pathLst>
              <a:path w="2762250" h="3714750">
                <a:moveTo>
                  <a:pt x="2667000" y="95250"/>
                </a:moveTo>
                <a:lnTo>
                  <a:pt x="2667000" y="1362075"/>
                </a:lnTo>
                <a:lnTo>
                  <a:pt x="95250" y="1362075"/>
                </a:lnTo>
                <a:lnTo>
                  <a:pt x="95250" y="2476500"/>
                </a:lnTo>
                <a:lnTo>
                  <a:pt x="1076325" y="2476500"/>
                </a:lnTo>
                <a:lnTo>
                  <a:pt x="1076325" y="3619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61" name="Extraction route 92">
            <a:extLst xmlns:a="http://schemas.openxmlformats.org/drawingml/2006/main">
              <a:ext uri="{FF2B5EF4-FFF2-40B4-BE49-F238E27FC236}">
                <a16:creationId xmlns:a16="http://schemas.microsoft.com/office/drawing/2014/main" id="{7340BC78-83C1-4892-8EE8-5FD580BD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143375"/>
            <a:ext cx="2762250" cy="3714750"/>
          </a:xfrm>
          <a:custGeom xmlns:a="http://schemas.openxmlformats.org/drawingml/2006/main">
            <a:pathLst>
              <a:path w="2762250" h="3714750">
                <a:moveTo>
                  <a:pt x="2667000" y="95250"/>
                </a:moveTo>
                <a:lnTo>
                  <a:pt x="2667000" y="1362075"/>
                </a:lnTo>
                <a:lnTo>
                  <a:pt x="95250" y="1362075"/>
                </a:lnTo>
                <a:lnTo>
                  <a:pt x="95250" y="2476500"/>
                </a:lnTo>
                <a:lnTo>
                  <a:pt x="1076325" y="2476500"/>
                </a:lnTo>
                <a:lnTo>
                  <a:pt x="1076325" y="3619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62" name="flow arrow-93">
            <a:extLst xmlns:a="http://schemas.openxmlformats.org/drawingml/2006/main">
              <a:ext uri="{FF2B5EF4-FFF2-40B4-BE49-F238E27FC236}">
                <a16:creationId xmlns:a16="http://schemas.microsoft.com/office/drawing/2014/main" id="{D62F6413-2B69-41C7-8A4B-A19DA68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63" name="Extraction route 94">
            <a:extLst xmlns:a="http://schemas.openxmlformats.org/drawingml/2006/main">
              <a:ext uri="{FF2B5EF4-FFF2-40B4-BE49-F238E27FC236}">
                <a16:creationId xmlns:a16="http://schemas.microsoft.com/office/drawing/2014/main" id="{EE3D868A-3C22-492B-BE20-3968823C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238625"/>
            <a:ext cx="1047750" cy="3619500"/>
          </a:xfrm>
          <a:custGeom xmlns:a="http://schemas.openxmlformats.org/drawingml/2006/main">
            <a:pathLst>
              <a:path w="1047750" h="3619500">
                <a:moveTo>
                  <a:pt x="952500" y="95250"/>
                </a:moveTo>
                <a:lnTo>
                  <a:pt x="952500" y="1095375"/>
                </a:lnTo>
                <a:lnTo>
                  <a:pt x="542925" y="1095375"/>
                </a:lnTo>
                <a:cubicBezTo>
                  <a:pt x="542925" y="990600"/>
                  <a:pt x="409575" y="990600"/>
                  <a:pt x="409575" y="1095375"/>
                </a:cubicBezTo>
                <a:lnTo>
                  <a:pt x="95250" y="1095375"/>
                </a:lnTo>
                <a:lnTo>
                  <a:pt x="95250" y="1200150"/>
                </a:lnTo>
                <a:cubicBezTo>
                  <a:pt x="200025" y="1200150"/>
                  <a:pt x="200025" y="1333500"/>
                  <a:pt x="95250" y="1333500"/>
                </a:cubicBezTo>
                <a:lnTo>
                  <a:pt x="95250" y="2333625"/>
                </a:lnTo>
                <a:lnTo>
                  <a:pt x="409575" y="2333625"/>
                </a:lnTo>
                <a:lnTo>
                  <a:pt x="409575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64" name="Extraction route 94">
            <a:extLst xmlns:a="http://schemas.openxmlformats.org/drawingml/2006/main">
              <a:ext uri="{FF2B5EF4-FFF2-40B4-BE49-F238E27FC236}">
                <a16:creationId xmlns:a16="http://schemas.microsoft.com/office/drawing/2014/main" id="{B866891D-1D9E-4BD1-BFD9-54A1ED1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238625"/>
            <a:ext cx="1047750" cy="3619500"/>
          </a:xfrm>
          <a:custGeom xmlns:a="http://schemas.openxmlformats.org/drawingml/2006/main">
            <a:pathLst>
              <a:path w="1047750" h="3619500">
                <a:moveTo>
                  <a:pt x="952500" y="95250"/>
                </a:moveTo>
                <a:lnTo>
                  <a:pt x="952500" y="1095375"/>
                </a:lnTo>
                <a:lnTo>
                  <a:pt x="542925" y="1095375"/>
                </a:lnTo>
                <a:cubicBezTo>
                  <a:pt x="542925" y="990600"/>
                  <a:pt x="409575" y="990600"/>
                  <a:pt x="409575" y="1095375"/>
                </a:cubicBezTo>
                <a:lnTo>
                  <a:pt x="95250" y="1095375"/>
                </a:lnTo>
                <a:lnTo>
                  <a:pt x="95250" y="1200150"/>
                </a:lnTo>
                <a:cubicBezTo>
                  <a:pt x="200025" y="1200150"/>
                  <a:pt x="200025" y="1333500"/>
                  <a:pt x="95250" y="1333500"/>
                </a:cubicBezTo>
                <a:lnTo>
                  <a:pt x="95250" y="2333625"/>
                </a:lnTo>
                <a:lnTo>
                  <a:pt x="409575" y="2333625"/>
                </a:lnTo>
                <a:lnTo>
                  <a:pt x="409575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65" name="flow arrow-95">
            <a:extLst xmlns:a="http://schemas.openxmlformats.org/drawingml/2006/main">
              <a:ext uri="{FF2B5EF4-FFF2-40B4-BE49-F238E27FC236}">
                <a16:creationId xmlns:a16="http://schemas.microsoft.com/office/drawing/2014/main" id="{3571351D-7C0A-4B5B-AC2C-7CEFE4CD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66" name="rect-96">
            <a:extLst xmlns:a="http://schemas.openxmlformats.org/drawingml/2006/main">
              <a:ext uri="{FF2B5EF4-FFF2-40B4-BE49-F238E27FC236}">
                <a16:creationId xmlns:a16="http://schemas.microsoft.com/office/drawing/2014/main" id="{EEDC369B-A384-41A4-9850-BF952F2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77375"/>
            <a:ext cx="1729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97">
            <a:extLst xmlns:a="http://schemas.openxmlformats.org/drawingml/2006/main">
              <a:ext uri="{FF2B5EF4-FFF2-40B4-BE49-F238E27FC236}">
                <a16:creationId xmlns:a16="http://schemas.microsoft.com/office/drawing/2014/main" id="{40432617-7FA3-4EE6-9284-8190D2E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68" name="Steam">
            <a:extLst xmlns:a="http://schemas.openxmlformats.org/drawingml/2006/main">
              <a:ext uri="{FF2B5EF4-FFF2-40B4-BE49-F238E27FC236}">
                <a16:creationId xmlns:a16="http://schemas.microsoft.com/office/drawing/2014/main" id="{968EE2DC-7548-49A8-A593-2D3C70DF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6012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Steam</a:t>
            </a:r>
          </a:p>
        </p:txBody>
      </p:sp>
      <p:sp>
        <p:nvSpPr>
          <p:cNvPr id="169" name="path-98">
            <a:extLst xmlns:a="http://schemas.openxmlformats.org/drawingml/2006/main">
              <a:ext uri="{FF2B5EF4-FFF2-40B4-BE49-F238E27FC236}">
                <a16:creationId xmlns:a16="http://schemas.microsoft.com/office/drawing/2014/main" id="{16BED6DF-7941-4D0D-9501-71E81DAC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70" name="Water">
            <a:extLst xmlns:a="http://schemas.openxmlformats.org/drawingml/2006/main">
              <a:ext uri="{FF2B5EF4-FFF2-40B4-BE49-F238E27FC236}">
                <a16:creationId xmlns:a16="http://schemas.microsoft.com/office/drawing/2014/main" id="{1516DAEE-4D15-4F24-95B1-AD2CD5D5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96012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171" name="path-99">
            <a:extLst xmlns:a="http://schemas.openxmlformats.org/drawingml/2006/main">
              <a:ext uri="{FF2B5EF4-FFF2-40B4-BE49-F238E27FC236}">
                <a16:creationId xmlns:a16="http://schemas.microsoft.com/office/drawing/2014/main" id="{70BBC6B5-F464-45E7-905E-00E40AEA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72" name="Heating / extraction">
            <a:extLst xmlns:a="http://schemas.openxmlformats.org/drawingml/2006/main">
              <a:ext uri="{FF2B5EF4-FFF2-40B4-BE49-F238E27FC236}">
                <a16:creationId xmlns:a16="http://schemas.microsoft.com/office/drawing/2014/main" id="{B05F4DB9-7043-40A7-BE7F-9D994ED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9601200"/>
            <a:ext cx="262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Heating / extraction</a:t>
            </a:r>
          </a:p>
        </p:txBody>
      </p:sp>
      <p:sp>
        <p:nvSpPr>
          <p:cNvPr id="173" name="Pressures absolute • Gross output; net auxiliaries pending">
            <a:extLst xmlns:a="http://schemas.openxmlformats.org/drawingml/2006/main">
              <a:ext uri="{FF2B5EF4-FFF2-40B4-BE49-F238E27FC236}">
                <a16:creationId xmlns:a16="http://schemas.microsoft.com/office/drawing/2014/main" id="{EC588EDC-5185-44D0-9DFD-A73AD5D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582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Pressures absolute • Gross output; net auxiliaries pending</a:t>
            </a:r>
          </a:p>
        </p:txBody>
      </p:sp>
      <p:sp>
        <p:nvSpPr>
          <p:cNvPr id="174" name="Dots = junctions; bridges = crossings. ¹ Return throttles into HP4. Drains cascade to deaerator (HP) / condenser (LP), not drawn.">
            <a:extLst xmlns:a="http://schemas.openxmlformats.org/drawingml/2006/main">
              <a:ext uri="{FF2B5EF4-FFF2-40B4-BE49-F238E27FC236}">
                <a16:creationId xmlns:a16="http://schemas.microsoft.com/office/drawing/2014/main" id="{57C2C38A-2CDF-490B-833E-170F2D3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53625"/>
            <a:ext cx="1724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Dots = junctions; bridges = crossings. ¹ Return throttles into HP4. Drains cascade to deaerator (HP) / condenser (LP), not drawn.</a:t>
            </a:r>
          </a:p>
        </p:txBody>
      </p:sp>
    </p:spTree>
    <p:extLst>
      <p:ext uri="{BB962C8B-B14F-4D97-AF65-F5344CB8AC3E}">
        <p14:creationId xmlns:p14="http://schemas.microsoft.com/office/powerpoint/2010/main" val="2109632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2026-10-11T22:21:47.2620000Z</dcterms:created>
  <dcterms:modified xsi:type="dcterms:W3CDTF">2026-10-11T22:21:47.2620000Z</dcterms:modified>
</coreProperties>
</file>