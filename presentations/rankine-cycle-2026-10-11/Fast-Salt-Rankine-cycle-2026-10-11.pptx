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308c5df50489e" /><Relationship Type="http://schemas.openxmlformats.org/officeDocument/2006/relationships/extended-properties" Target="/docProps/app.xml" Id="R2f581268226b4edc" /><Relationship Type="http://schemas.openxmlformats.org/officeDocument/2006/relationships/officeDocument" Target="/ppt/presentation.xml" Id="Rb600b8639fae4f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89859fa1ed427d"/>
  </p:sldMasterIdLst>
  <p:notesMasterIdLst>
    <p:notesMasterId xmlns:r="http://schemas.openxmlformats.org/officeDocument/2006/relationships" r:id="Rb17c8b3605f5419e"/>
  </p:notesMasterIdLst>
  <p:sldIdLst>
    <p:sldId xmlns:r="http://schemas.openxmlformats.org/officeDocument/2006/relationships" id="256" r:id="Rcf98a81f083d4a7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52ea8904744c9" /><Relationship Type="http://schemas.openxmlformats.org/officeDocument/2006/relationships/slideMaster" Target="/ppt/slideMasters/slideMaster1.xml" Id="R8e89859fa1ed427d" /><Relationship Type="http://schemas.openxmlformats.org/officeDocument/2006/relationships/notesMaster" Target="/ppt/notesMasters/notesMaster1.xml" Id="Rb17c8b3605f5419e" /><Relationship Type="http://schemas.openxmlformats.org/officeDocument/2006/relationships/presProps" Target="/ppt/presProps.xml" Id="Rd4bf0f37714541ba" /><Relationship Type="http://schemas.openxmlformats.org/officeDocument/2006/relationships/tableStyles" Target="/ppt/tableStyles.xml" Id="Ra29bd0d34b6d428f" /><Relationship Type="http://schemas.openxmlformats.org/officeDocument/2006/relationships/slide" Target="/ppt/slides/slide1.xml" Id="Rcf98a81f083d4a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591347a11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2ec96f4b946a8" /><Relationship Type="http://schemas.openxmlformats.org/officeDocument/2006/relationships/notesMaster" Target="/ppt/notesMasters/notesMaster1.xml" Id="Rfc694d98ae88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 Salt System — preliminary Rankine cycle, 11 October 2026. Layout redrawn from Thomas J. Wielenga's supplied Diagram.pdf (23 April 2025), /Users/thomaswielenga/Documents/Ideas/Nuclear Reactor/Steam Generator/graphics/Diagram.pdf. Calculated states: /Users/thomaswielenga/Documents/dev/fastSalt/calculations/power-cycle/reheat-selection.json, selected_at_5kPa. SHA-256: eda8391e0fef20ae71c36a711a8f8fc8142972914360429a6b1b6119fb9be455. Official calculation commentary: calculations/power-cycle/Selected reheat and wetness - Hurmet.md. All pressures absolute. The 5 kPa reference, not the coupled 20°C cooling case, is used consistently. Main steam 711.670 kg/s, heating branch 187.006 kg/s, hot reheat 415.329 kg/s, LP exhaust 361.044 kg/s. Gross 678.723 MW (45.248%); no net power claim. Feed-pump turbine shaft 21.435 MW is already allowed in the cycle flow calculation. Reheater minimum approach 20.276 K. HP exhaust 2.8 MPa/253°C becomes 2.66 MPa/250.7°C after the reheater inlet loss. Heating fluid remains at 24 MPa until throttled into HP4; it is not an isothermal condensing stream. LP moisture is equilibrium exhaust moisture, not a supplier wetness guarantee. Condenser reference cooling water 19.820/27.932°C and 23.763 m³/s. SG salt 875/810 K from the inherited generator design. Three SG represented in aggregate. HP/IP and LP generator symbols preserve the source schematic, not a selected shaft-line design. Bleed and drain lines are summarized: HP4 at7.644 MPa also takes heating return; HP3 at2.8 MPa; HP2/HP1 at1.6/1.0 MPa from feed pump turbine; its0.6 MPa exhaust supplies deaerator. LP3/2/1 at0.155246/0.1/0.03 MPa. HP drains cascade4→3→2→1→DA; LP drains3→2→1→condenser. Feedwater pressure losses other than modeled pumps are not yet resolved. Preliminary performance and equipment arrangement; supplier verification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c547837a747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b4ff76dd048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71165f95943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83468fac04f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543ea408649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06eed99d547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6A204F-D058-4B9F-AF2F-7509326DF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E09028-96FF-41B3-8C9C-855139DC0C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19BD1D-D03C-4FFC-83A8-4A9C6BA83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2E83E1-ABD8-4A77-91CA-94955A8A0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14CBFA-955B-4472-91D9-2388BDE45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6EE291-91F5-4BC3-AD09-3F10A3319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3EA460-C85C-42D3-AE01-3C4D3BC65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5B9A55-054B-4B7E-9412-68F0F79B82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AF87F7-3AD0-46A7-AF3F-B790043F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A28981-894B-4FD3-B763-A002E8FA57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fddcd9c9c4aad" /><Relationship Type="http://schemas.openxmlformats.org/officeDocument/2006/relationships/slideLayout" Target="/ppt/slideLayouts/slideLayout1.xml" Id="R95ef48543a7d49a1" /><Relationship Type="http://schemas.openxmlformats.org/officeDocument/2006/relationships/slideLayout" Target="/ppt/slideLayouts/slideLayout2.xml" Id="Rdfd60bec65eb484e" /><Relationship Type="http://schemas.openxmlformats.org/officeDocument/2006/relationships/slideLayout" Target="/ppt/slideLayouts/slideLayout3.xml" Id="R742dc8b5586b4dd8" /><Relationship Type="http://schemas.openxmlformats.org/officeDocument/2006/relationships/slideLayout" Target="/ppt/slideLayouts/slideLayout4.xml" Id="Rfa988d50d5634de8" /><Relationship Type="http://schemas.openxmlformats.org/officeDocument/2006/relationships/slideLayout" Target="/ppt/slideLayouts/slideLayout5.xml" Id="R8549b004db524275" /><Relationship Type="http://schemas.openxmlformats.org/officeDocument/2006/relationships/slideLayout" Target="/ppt/slideLayouts/slideLayout6.xml" Id="R90e22a657019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ef48543a7d49a1"/>
    <p:sldLayoutId xmlns:r="http://schemas.openxmlformats.org/officeDocument/2006/relationships" id="2147483650" r:id="Rdfd60bec65eb484e"/>
    <p:sldLayoutId xmlns:r="http://schemas.openxmlformats.org/officeDocument/2006/relationships" id="2147483651" r:id="R742dc8b5586b4dd8"/>
    <p:sldLayoutId xmlns:r="http://schemas.openxmlformats.org/officeDocument/2006/relationships" id="2147483652" r:id="Rfa988d50d5634de8"/>
    <p:sldLayoutId xmlns:r="http://schemas.openxmlformats.org/officeDocument/2006/relationships" id="2147483653" r:id="R8549b004db524275"/>
    <p:sldLayoutId xmlns:r="http://schemas.openxmlformats.org/officeDocument/2006/relationships" id="2147483654" r:id="R90e22a657019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f55c79cbf422f" /><Relationship Type="http://schemas.openxmlformats.org/officeDocument/2006/relationships/notesSlide" Target="/ppt/notesSlides/notesSlide1.xml" Id="R28486f30745f43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Fast Salt System | Rankine power cycle">
            <a:extLst xmlns:a="http://schemas.openxmlformats.org/drawingml/2006/main">
              <a:ext uri="{FF2B5EF4-FFF2-40B4-BE49-F238E27FC236}">
                <a16:creationId xmlns:a16="http://schemas.microsoft.com/office/drawing/2014/main" id="{D3C1D53B-4DFB-4C01-A119-5E58147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Fast Salt System | Rankine power cycle</a:t>
            </a:r>
          </a:p>
        </p:txBody>
      </p:sp>
      <p:sp>
        <p:nvSpPr>
          <p:cNvPr id="2" name="Selected preliminary design • 5 kPa condenser reference case">
            <a:extLst xmlns:a="http://schemas.openxmlformats.org/drawingml/2006/main">
              <a:ext uri="{FF2B5EF4-FFF2-40B4-BE49-F238E27FC236}">
                <a16:creationId xmlns:a16="http://schemas.microsoft.com/office/drawing/2014/main" id="{E93ACC07-4E22-4B39-A63C-9DE6F66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2975"/>
            <a:ext cx="1533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Selected preliminary design • 5 kPa condenser reference case</a:t>
            </a:r>
          </a:p>
        </p:txBody>
      </p:sp>
      <p:sp>
        <p:nvSpPr>
          <p:cNvPr id="3" name="rect-1">
            <a:extLst xmlns:a="http://schemas.openxmlformats.org/drawingml/2006/main">
              <a:ext uri="{FF2B5EF4-FFF2-40B4-BE49-F238E27FC236}">
                <a16:creationId xmlns:a16="http://schemas.microsoft.com/office/drawing/2014/main" id="{547238B6-F70B-4F9F-89EF-4257917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0175"/>
            <a:ext cx="17297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1,500 MW thermal     →     679 MW gross electric     |     45.2% gross efficiency">
            <a:extLst xmlns:a="http://schemas.openxmlformats.org/drawingml/2006/main">
              <a:ext uri="{FF2B5EF4-FFF2-40B4-BE49-F238E27FC236}">
                <a16:creationId xmlns:a16="http://schemas.microsoft.com/office/drawing/2014/main" id="{4087A55C-68C2-4C67-90FE-6132D75A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676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1,500 MW thermal     →     679 MW gross electric     |     45.2% gross efficiency</a:t>
            </a:r>
          </a:p>
        </p:txBody>
      </p:sp>
      <p:sp>
        <p:nvSpPr>
          <p:cNvPr id="5" name="path-2">
            <a:extLst xmlns:a="http://schemas.openxmlformats.org/drawingml/2006/main">
              <a:ext uri="{FF2B5EF4-FFF2-40B4-BE49-F238E27FC236}">
                <a16:creationId xmlns:a16="http://schemas.microsoft.com/office/drawing/2014/main" id="{EF26A2AE-DF1A-4821-BBA9-432ED2E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43150"/>
            <a:ext cx="2333625" cy="1400175"/>
          </a:xfrm>
          <a:custGeom xmlns:a="http://schemas.openxmlformats.org/drawingml/2006/main">
            <a:pathLst>
              <a:path w="2333625" h="1400175">
                <a:moveTo>
                  <a:pt x="0" y="1228725"/>
                </a:moveTo>
                <a:lnTo>
                  <a:pt x="0" y="0"/>
                </a:lnTo>
                <a:lnTo>
                  <a:pt x="2143125" y="0"/>
                </a:lnTo>
                <a:lnTo>
                  <a:pt x="2143125" y="1400175"/>
                </a:lnTo>
                <a:lnTo>
                  <a:pt x="2333625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6" name="flow arrow-3">
            <a:extLst xmlns:a="http://schemas.openxmlformats.org/drawingml/2006/main">
              <a:ext uri="{FF2B5EF4-FFF2-40B4-BE49-F238E27FC236}">
                <a16:creationId xmlns:a16="http://schemas.microsoft.com/office/drawing/2014/main" id="{3D0CA50A-3235-41B9-862F-75166719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7" name="path-4">
            <a:extLst xmlns:a="http://schemas.openxmlformats.org/drawingml/2006/main">
              <a:ext uri="{FF2B5EF4-FFF2-40B4-BE49-F238E27FC236}">
                <a16:creationId xmlns:a16="http://schemas.microsoft.com/office/drawing/2014/main" id="{6060D811-AFE7-4A46-A0B4-7BA188D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3762375" cy="847725"/>
          </a:xfrm>
          <a:custGeom xmlns:a="http://schemas.openxmlformats.org/drawingml/2006/main">
            <a:pathLst>
              <a:path w="3762375" h="847725">
                <a:moveTo>
                  <a:pt x="0" y="0"/>
                </a:moveTo>
                <a:lnTo>
                  <a:pt x="3762375" y="0"/>
                </a:lnTo>
                <a:lnTo>
                  <a:pt x="3762375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8" name="flow arrow-5">
            <a:extLst xmlns:a="http://schemas.openxmlformats.org/drawingml/2006/main">
              <a:ext uri="{FF2B5EF4-FFF2-40B4-BE49-F238E27FC236}">
                <a16:creationId xmlns:a16="http://schemas.microsoft.com/office/drawing/2014/main" id="{0E37FFA8-22D5-4C9C-96F8-23AF4E5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9" name="ellipse-6">
            <a:extLst xmlns:a="http://schemas.openxmlformats.org/drawingml/2006/main">
              <a:ext uri="{FF2B5EF4-FFF2-40B4-BE49-F238E27FC236}">
                <a16:creationId xmlns:a16="http://schemas.microsoft.com/office/drawing/2014/main" id="{18EB739B-240D-44BB-8FA4-4DEB7CEA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722"/>
          </a:solidFill>
          <a:ln xmlns:a="http://schemas.openxmlformats.org/drawingml/2006/main" w="0">
            <a:solidFill>
              <a:srgbClr val="B44722"/>
            </a:solidFill>
            <a:prstDash val="solid"/>
          </a:ln>
        </p:spPr>
      </p:sp>
      <p:sp>
        <p:nvSpPr>
          <p:cNvPr id="10" name="path-7">
            <a:extLst xmlns:a="http://schemas.openxmlformats.org/drawingml/2006/main">
              <a:ext uri="{FF2B5EF4-FFF2-40B4-BE49-F238E27FC236}">
                <a16:creationId xmlns:a16="http://schemas.microsoft.com/office/drawing/2014/main" id="{11EE7AC8-2BB4-4086-A873-6FDB6631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1" name="flow arrow-8">
            <a:extLst xmlns:a="http://schemas.openxmlformats.org/drawingml/2006/main">
              <a:ext uri="{FF2B5EF4-FFF2-40B4-BE49-F238E27FC236}">
                <a16:creationId xmlns:a16="http://schemas.microsoft.com/office/drawing/2014/main" id="{D8DAFC20-ADB9-4BA6-ACA0-9D96376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2" name="path-9">
            <a:extLst xmlns:a="http://schemas.openxmlformats.org/drawingml/2006/main">
              <a:ext uri="{FF2B5EF4-FFF2-40B4-BE49-F238E27FC236}">
                <a16:creationId xmlns:a16="http://schemas.microsoft.com/office/drawing/2014/main" id="{8F8B9543-B49A-4134-9ED9-2C141F8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43325"/>
            <a:ext cx="1524000" cy="9525"/>
          </a:xfrm>
          <a:custGeom xmlns:a="http://schemas.openxmlformats.org/drawingml/2006/main"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3" name="flow arrow-10">
            <a:extLst xmlns:a="http://schemas.openxmlformats.org/drawingml/2006/main">
              <a:ext uri="{FF2B5EF4-FFF2-40B4-BE49-F238E27FC236}">
                <a16:creationId xmlns:a16="http://schemas.microsoft.com/office/drawing/2014/main" id="{88D42268-6055-4B31-8DDF-E4125790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4" name="path-11">
            <a:extLst xmlns:a="http://schemas.openxmlformats.org/drawingml/2006/main">
              <a:ext uri="{FF2B5EF4-FFF2-40B4-BE49-F238E27FC236}">
                <a16:creationId xmlns:a16="http://schemas.microsoft.com/office/drawing/2014/main" id="{E429DBE6-3AFF-49AB-81AF-7BDD8B6A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74332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5" name="flow arrow-12">
            <a:extLst xmlns:a="http://schemas.openxmlformats.org/drawingml/2006/main">
              <a:ext uri="{FF2B5EF4-FFF2-40B4-BE49-F238E27FC236}">
                <a16:creationId xmlns:a16="http://schemas.microsoft.com/office/drawing/2014/main" id="{FDA73711-7BE5-446C-A4FE-B2E6AB5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6957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6" name="path-13">
            <a:extLst xmlns:a="http://schemas.openxmlformats.org/drawingml/2006/main">
              <a:ext uri="{FF2B5EF4-FFF2-40B4-BE49-F238E27FC236}">
                <a16:creationId xmlns:a16="http://schemas.microsoft.com/office/drawing/2014/main" id="{B761D0E9-BAE4-4277-B39B-485EF209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3743325"/>
            <a:ext cx="2143125" cy="2305050"/>
          </a:xfrm>
          <a:custGeom xmlns:a="http://schemas.openxmlformats.org/drawingml/2006/main">
            <a:pathLst>
              <a:path w="2143125" h="2305050">
                <a:moveTo>
                  <a:pt x="0" y="0"/>
                </a:moveTo>
                <a:lnTo>
                  <a:pt x="2143125" y="0"/>
                </a:lnTo>
                <a:lnTo>
                  <a:pt x="2143125" y="2305050"/>
                </a:lnTo>
                <a:lnTo>
                  <a:pt x="1857375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7" name="flow arrow-14">
            <a:extLst xmlns:a="http://schemas.openxmlformats.org/drawingml/2006/main">
              <a:ext uri="{FF2B5EF4-FFF2-40B4-BE49-F238E27FC236}">
                <a16:creationId xmlns:a16="http://schemas.microsoft.com/office/drawing/2014/main" id="{1459F9A6-C36E-4D43-B875-D7B8EED4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6000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B44722"/>
          </a:solidFill>
          <a:ln xmlns:a="http://schemas.openxmlformats.org/drawingml/2006/main" w="9525">
            <a:solidFill>
              <a:srgbClr val="B44722"/>
            </a:solidFill>
            <a:prstDash val="solid"/>
          </a:ln>
        </p:spPr>
      </p:sp>
      <p:sp>
        <p:nvSpPr>
          <p:cNvPr id="18" name="roundRect-15">
            <a:extLst xmlns:a="http://schemas.openxmlformats.org/drawingml/2006/main">
              <a:ext uri="{FF2B5EF4-FFF2-40B4-BE49-F238E27FC236}">
                <a16:creationId xmlns:a16="http://schemas.microsoft.com/office/drawing/2014/main" id="{2A8F50E1-B69A-4E0F-879D-57DFBC3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71875"/>
            <a:ext cx="9525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19" name="Steam / generators / (3 × 500 MWt)">
            <a:extLst xmlns:a="http://schemas.openxmlformats.org/drawingml/2006/main">
              <a:ext uri="{FF2B5EF4-FFF2-40B4-BE49-F238E27FC236}">
                <a16:creationId xmlns:a16="http://schemas.microsoft.com/office/drawing/2014/main" id="{661A5774-44BF-4C8C-82FB-B02CAD1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495925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Steam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generators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(3 × 500 MWt)</a:t>
            </a:r>
          </a:p>
        </p:txBody>
      </p:sp>
      <p:sp>
        <p:nvSpPr>
          <p:cNvPr id="20" name="path-16">
            <a:extLst xmlns:a="http://schemas.openxmlformats.org/drawingml/2006/main">
              <a:ext uri="{FF2B5EF4-FFF2-40B4-BE49-F238E27FC236}">
                <a16:creationId xmlns:a16="http://schemas.microsoft.com/office/drawing/2014/main" id="{37068FA3-7D84-4C45-9555-01175CEC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76250" cy="1428750"/>
          </a:xfrm>
          <a:custGeom xmlns:a="http://schemas.openxmlformats.org/drawingml/2006/main">
            <a:pathLst>
              <a:path w="476250" h="1428750">
                <a:moveTo>
                  <a:pt x="0" y="0"/>
                </a:moveTo>
                <a:lnTo>
                  <a:pt x="476250" y="285750"/>
                </a:lnTo>
                <a:lnTo>
                  <a:pt x="0" y="571500"/>
                </a:lnTo>
                <a:lnTo>
                  <a:pt x="476250" y="857250"/>
                </a:lnTo>
                <a:lnTo>
                  <a:pt x="0" y="1143000"/>
                </a:lnTo>
                <a:lnTo>
                  <a:pt x="47625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21" name="path-17">
            <a:extLst xmlns:a="http://schemas.openxmlformats.org/drawingml/2006/main">
              <a:ext uri="{FF2B5EF4-FFF2-40B4-BE49-F238E27FC236}">
                <a16:creationId xmlns:a16="http://schemas.microsoft.com/office/drawing/2014/main" id="{71E15ED0-F21C-4B38-AF8B-44E4CF19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2" name="HP">
            <a:extLst xmlns:a="http://schemas.openxmlformats.org/drawingml/2006/main">
              <a:ext uri="{FF2B5EF4-FFF2-40B4-BE49-F238E27FC236}">
                <a16:creationId xmlns:a16="http://schemas.microsoft.com/office/drawing/2014/main" id="{28F88F1B-F7C7-4463-8919-A57AE2B7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052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</a:t>
            </a:r>
          </a:p>
        </p:txBody>
      </p:sp>
      <p:sp>
        <p:nvSpPr>
          <p:cNvPr id="23" name="rect-18">
            <a:extLst xmlns:a="http://schemas.openxmlformats.org/drawingml/2006/main">
              <a:ext uri="{FF2B5EF4-FFF2-40B4-BE49-F238E27FC236}">
                <a16:creationId xmlns:a16="http://schemas.microsoft.com/office/drawing/2014/main" id="{1AC9E913-9A0E-4F7A-BB61-872E054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428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24" name="Steam / reheater">
            <a:extLst xmlns:a="http://schemas.openxmlformats.org/drawingml/2006/main">
              <a:ext uri="{FF2B5EF4-FFF2-40B4-BE49-F238E27FC236}">
                <a16:creationId xmlns:a16="http://schemas.microsoft.com/office/drawing/2014/main" id="{D6A8BA8A-CCEC-4350-8747-3DB67378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133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Steam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reheater</a:t>
            </a:r>
          </a:p>
        </p:txBody>
      </p:sp>
      <p:sp>
        <p:nvSpPr>
          <p:cNvPr id="25" name="path-19">
            <a:extLst xmlns:a="http://schemas.openxmlformats.org/drawingml/2006/main">
              <a:ext uri="{FF2B5EF4-FFF2-40B4-BE49-F238E27FC236}">
                <a16:creationId xmlns:a16="http://schemas.microsoft.com/office/drawing/2014/main" id="{E7D859EF-FE0A-4801-85D0-34679C3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6" name="IP">
            <a:extLst xmlns:a="http://schemas.openxmlformats.org/drawingml/2006/main">
              <a:ext uri="{FF2B5EF4-FFF2-40B4-BE49-F238E27FC236}">
                <a16:creationId xmlns:a16="http://schemas.microsoft.com/office/drawing/2014/main" id="{9E0F9CA3-B37D-4C82-91A8-E1ABF36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5052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27" name="path-20">
            <a:extLst xmlns:a="http://schemas.openxmlformats.org/drawingml/2006/main">
              <a:ext uri="{FF2B5EF4-FFF2-40B4-BE49-F238E27FC236}">
                <a16:creationId xmlns:a16="http://schemas.microsoft.com/office/drawing/2014/main" id="{AF4514E2-4EC8-4DEA-A03F-28753BE6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124200"/>
            <a:ext cx="1381125" cy="1238250"/>
          </a:xfrm>
          <a:custGeom xmlns:a="http://schemas.openxmlformats.org/drawingml/2006/main">
            <a:pathLst>
              <a:path w="1381125" h="1238250">
                <a:moveTo>
                  <a:pt x="0" y="285750"/>
                </a:moveTo>
                <a:lnTo>
                  <a:pt x="1381125" y="0"/>
                </a:lnTo>
                <a:lnTo>
                  <a:pt x="1381125" y="123825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2F6F8"/>
          </a:solidFill>
          <a:ln xmlns:a="http://schemas.openxmlformats.org/drawingml/2006/main" w="28575">
            <a:solidFill>
              <a:srgbClr val="183044"/>
            </a:solidFill>
            <a:prstDash val="solid"/>
          </a:ln>
        </p:spPr>
      </p:sp>
      <p:sp>
        <p:nvSpPr>
          <p:cNvPr id="28" name="LP">
            <a:extLst xmlns:a="http://schemas.openxmlformats.org/drawingml/2006/main">
              <a:ext uri="{FF2B5EF4-FFF2-40B4-BE49-F238E27FC236}">
                <a16:creationId xmlns:a16="http://schemas.microsoft.com/office/drawing/2014/main" id="{71074373-8712-457A-A2D2-8EF5A36E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5052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</a:t>
            </a:r>
          </a:p>
        </p:txBody>
      </p:sp>
      <p:sp>
        <p:nvSpPr>
          <p:cNvPr id="29" name="HP turbine">
            <a:extLst xmlns:a="http://schemas.openxmlformats.org/drawingml/2006/main">
              <a:ext uri="{FF2B5EF4-FFF2-40B4-BE49-F238E27FC236}">
                <a16:creationId xmlns:a16="http://schemas.microsoft.com/office/drawing/2014/main" id="{BCAB74C6-830E-4CC7-A0DD-33B8E22A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386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 turbine</a:t>
            </a:r>
          </a:p>
        </p:txBody>
      </p:sp>
      <p:sp>
        <p:nvSpPr>
          <p:cNvPr id="30" name="Reheat turbine">
            <a:extLst xmlns:a="http://schemas.openxmlformats.org/drawingml/2006/main">
              <a:ext uri="{FF2B5EF4-FFF2-40B4-BE49-F238E27FC236}">
                <a16:creationId xmlns:a16="http://schemas.microsoft.com/office/drawing/2014/main" id="{F4A5B80A-515A-41FC-9D2B-FCB2B88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38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Reheat turbine</a:t>
            </a:r>
          </a:p>
        </p:txBody>
      </p:sp>
      <p:sp>
        <p:nvSpPr>
          <p:cNvPr id="31" name="LP turbine">
            <a:extLst xmlns:a="http://schemas.openxmlformats.org/drawingml/2006/main">
              <a:ext uri="{FF2B5EF4-FFF2-40B4-BE49-F238E27FC236}">
                <a16:creationId xmlns:a16="http://schemas.microsoft.com/office/drawing/2014/main" id="{31D67B7A-FFAC-4E7E-9A77-B372598B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4386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 turbine</a:t>
            </a:r>
          </a:p>
        </p:txBody>
      </p:sp>
      <p:sp>
        <p:nvSpPr>
          <p:cNvPr id="32" name="Main steam / 24 MPa • 557°C / 711.7 kg/s">
            <a:extLst xmlns:a="http://schemas.openxmlformats.org/drawingml/2006/main">
              <a:ext uri="{FF2B5EF4-FFF2-40B4-BE49-F238E27FC236}">
                <a16:creationId xmlns:a16="http://schemas.microsoft.com/office/drawing/2014/main" id="{FC2BB48C-371A-4DA5-8CE4-F58E9661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384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Main steam</a:t>
            </a:r>
          </a:p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24 MPa • 557°C</a:t>
            </a:r>
          </a:p>
          <a:p xmlns:a="http://schemas.openxmlformats.org/drawingml/2006/main">
            <a:pPr algn="l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711.7 kg/s</a:t>
            </a:r>
          </a:p>
        </p:txBody>
      </p:sp>
      <p:sp>
        <p:nvSpPr>
          <p:cNvPr id="33" name="Heating branch / 187.0 kg/s">
            <a:extLst xmlns:a="http://schemas.openxmlformats.org/drawingml/2006/main">
              <a:ext uri="{FF2B5EF4-FFF2-40B4-BE49-F238E27FC236}">
                <a16:creationId xmlns:a16="http://schemas.microsoft.com/office/drawing/2014/main" id="{F930FFA2-28A6-466B-8E38-F5F4E562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66975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Heating branch</a:t>
            </a:r>
          </a:p>
          <a:p xmlns:a="http://schemas.openxmlformats.org/drawingml/2006/main">
            <a:pPr algn="l">
              <a:defRPr sz="195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187.0 kg/s</a:t>
            </a:r>
          </a:p>
        </p:txBody>
      </p:sp>
      <p:sp>
        <p:nvSpPr>
          <p:cNvPr id="34" name="2.8 MPa / 253°C">
            <a:extLst xmlns:a="http://schemas.openxmlformats.org/drawingml/2006/main">
              <a:ext uri="{FF2B5EF4-FFF2-40B4-BE49-F238E27FC236}">
                <a16:creationId xmlns:a16="http://schemas.microsoft.com/office/drawing/2014/main" id="{125E2DD8-3443-44F4-8B5D-C1AE8A4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33725"/>
            <a:ext cx="130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2.8 MPa</a:t>
            </a:r>
          </a:p>
          <a:p xmlns:a="http://schemas.openxmlformats.org/drawingml/2006/main">
            <a:pPr algn="ctr">
              <a:defRPr sz="1875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253°C</a:t>
            </a:r>
          </a:p>
        </p:txBody>
      </p:sp>
      <p:sp>
        <p:nvSpPr>
          <p:cNvPr id="35" name="2.66 MPa / 510°C / 415.3 kg/s">
            <a:extLst xmlns:a="http://schemas.openxmlformats.org/drawingml/2006/main">
              <a:ext uri="{FF2B5EF4-FFF2-40B4-BE49-F238E27FC236}">
                <a16:creationId xmlns:a16="http://schemas.microsoft.com/office/drawing/2014/main" id="{8D54C5D9-ED0D-4F80-9B00-AB24FC3D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2.66 MPa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510°C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415.3 kg/s</a:t>
            </a:r>
          </a:p>
        </p:txBody>
      </p:sp>
      <p:sp>
        <p:nvSpPr>
          <p:cNvPr id="36" name="0.60 MPa / 308°C">
            <a:extLst xmlns:a="http://schemas.openxmlformats.org/drawingml/2006/main">
              <a:ext uri="{FF2B5EF4-FFF2-40B4-BE49-F238E27FC236}">
                <a16:creationId xmlns:a16="http://schemas.microsoft.com/office/drawing/2014/main" id="{02CCF9EC-D812-4E6D-B7FE-2FEEF18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2981325"/>
            <a:ext cx="1247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ctr">
              <a:defRPr sz="1875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308°C</a:t>
            </a:r>
          </a:p>
        </p:txBody>
      </p:sp>
      <p:sp>
        <p:nvSpPr>
          <p:cNvPr id="37" name="253 MW reheat">
            <a:extLst xmlns:a="http://schemas.openxmlformats.org/drawingml/2006/main">
              <a:ext uri="{FF2B5EF4-FFF2-40B4-BE49-F238E27FC236}">
                <a16:creationId xmlns:a16="http://schemas.microsoft.com/office/drawing/2014/main" id="{5AF20957-E585-48D1-90D5-B5C0A168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672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253 MW reheat</a:t>
            </a:r>
          </a:p>
        </p:txBody>
      </p:sp>
      <p:sp>
        <p:nvSpPr>
          <p:cNvPr id="38" name="LP exhaust / 5 kPa • 33°C / 9.0% moisture">
            <a:extLst xmlns:a="http://schemas.openxmlformats.org/drawingml/2006/main">
              <a:ext uri="{FF2B5EF4-FFF2-40B4-BE49-F238E27FC236}">
                <a16:creationId xmlns:a16="http://schemas.microsoft.com/office/drawing/2014/main" id="{C8283710-45CE-4804-B3BD-D6B5385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4514850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LP exhaust</a:t>
            </a:r>
          </a:p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5 kPa • 33°C</a:t>
            </a:r>
          </a:p>
          <a:p xmlns:a="http://schemas.openxmlformats.org/drawingml/2006/main">
            <a:pPr algn="ctr">
              <a:defRPr sz="1950" b="1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722"/>
                </a:solidFill>
                <a:latin typeface="Arial"/>
                <a:ea typeface="Arial"/>
                <a:cs typeface="Arial"/>
              </a:rPr>
              <a:t>9.0% moisture</a:t>
            </a:r>
          </a:p>
        </p:txBody>
      </p:sp>
      <p:sp>
        <p:nvSpPr>
          <p:cNvPr id="39" name="rect-21">
            <a:extLst xmlns:a="http://schemas.openxmlformats.org/drawingml/2006/main">
              <a:ext uri="{FF2B5EF4-FFF2-40B4-BE49-F238E27FC236}">
                <a16:creationId xmlns:a16="http://schemas.microsoft.com/office/drawing/2014/main" id="{2D9E7C13-605A-4EF1-8620-7FB647F0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238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40" name="WISTR">
            <a:extLst xmlns:a="http://schemas.openxmlformats.org/drawingml/2006/main">
              <a:ext uri="{FF2B5EF4-FFF2-40B4-BE49-F238E27FC236}">
                <a16:creationId xmlns:a16="http://schemas.microsoft.com/office/drawing/2014/main" id="{0C707E2A-CCB5-41E7-BB86-72541A54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14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WISTR</a:t>
            </a:r>
          </a:p>
        </p:txBody>
      </p:sp>
      <p:sp>
        <p:nvSpPr>
          <p:cNvPr id="41" name="path-22">
            <a:extLst xmlns:a="http://schemas.openxmlformats.org/drawingml/2006/main">
              <a:ext uri="{FF2B5EF4-FFF2-40B4-BE49-F238E27FC236}">
                <a16:creationId xmlns:a16="http://schemas.microsoft.com/office/drawing/2014/main" id="{87F0DAB5-FE63-4AFA-95FA-BFFCB959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1762125" cy="600075"/>
          </a:xfrm>
          <a:custGeom xmlns:a="http://schemas.openxmlformats.org/drawingml/2006/main">
            <a:pathLst>
              <a:path w="1762125" h="600075">
                <a:moveTo>
                  <a:pt x="0" y="600075"/>
                </a:moveTo>
                <a:lnTo>
                  <a:pt x="0" y="0"/>
                </a:lnTo>
                <a:lnTo>
                  <a:pt x="1762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46038"/>
            </a:solidFill>
            <a:prstDash val="solid"/>
          </a:ln>
        </p:spPr>
      </p:sp>
      <p:sp>
        <p:nvSpPr>
          <p:cNvPr id="42" name="flow arrow-23">
            <a:extLst xmlns:a="http://schemas.openxmlformats.org/drawingml/2006/main">
              <a:ext uri="{FF2B5EF4-FFF2-40B4-BE49-F238E27FC236}">
                <a16:creationId xmlns:a16="http://schemas.microsoft.com/office/drawing/2014/main" id="{68049726-FA59-4D09-A356-8658F9A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846038"/>
          </a:solidFill>
          <a:ln xmlns:a="http://schemas.openxmlformats.org/drawingml/2006/main" w="9525">
            <a:solidFill>
              <a:srgbClr val="846038"/>
            </a:solidFill>
            <a:prstDash val="solid"/>
          </a:ln>
        </p:spPr>
      </p:sp>
      <p:sp>
        <p:nvSpPr>
          <p:cNvPr id="43" name="path-24">
            <a:extLst xmlns:a="http://schemas.openxmlformats.org/drawingml/2006/main">
              <a:ext uri="{FF2B5EF4-FFF2-40B4-BE49-F238E27FC236}">
                <a16:creationId xmlns:a16="http://schemas.microsoft.com/office/drawing/2014/main" id="{C5AA5F25-F24B-492C-BB04-817D207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62575"/>
            <a:ext cx="1762125" cy="257175"/>
          </a:xfrm>
          <a:custGeom xmlns:a="http://schemas.openxmlformats.org/drawingml/2006/main">
            <a:pathLst>
              <a:path w="1762125" h="257175">
                <a:moveTo>
                  <a:pt x="1762125" y="19050"/>
                </a:moveTo>
                <a:lnTo>
                  <a:pt x="1285875" y="19050"/>
                </a:lnTo>
                <a:lnTo>
                  <a:pt x="1285875" y="257175"/>
                </a:lnTo>
                <a:lnTo>
                  <a:pt x="0" y="2571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46038"/>
            </a:solidFill>
            <a:prstDash val="solid"/>
          </a:ln>
        </p:spPr>
      </p:sp>
      <p:sp>
        <p:nvSpPr>
          <p:cNvPr id="44" name="flow arrow-25">
            <a:extLst xmlns:a="http://schemas.openxmlformats.org/drawingml/2006/main">
              <a:ext uri="{FF2B5EF4-FFF2-40B4-BE49-F238E27FC236}">
                <a16:creationId xmlns:a16="http://schemas.microsoft.com/office/drawing/2014/main" id="{32CE9106-CDC8-4226-8FF3-7036F67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62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846038"/>
          </a:solidFill>
          <a:ln xmlns:a="http://schemas.openxmlformats.org/drawingml/2006/main" w="9525">
            <a:solidFill>
              <a:srgbClr val="846038"/>
            </a:solidFill>
            <a:prstDash val="solid"/>
          </a:ln>
        </p:spPr>
      </p:sp>
      <p:sp>
        <p:nvSpPr>
          <p:cNvPr id="45" name="ellipse-26">
            <a:extLst xmlns:a="http://schemas.openxmlformats.org/drawingml/2006/main">
              <a:ext uri="{FF2B5EF4-FFF2-40B4-BE49-F238E27FC236}">
                <a16:creationId xmlns:a16="http://schemas.microsoft.com/office/drawing/2014/main" id="{6C99944A-EDEA-4148-966D-1ED3771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1435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46038"/>
            </a:solidFill>
            <a:prstDash val="solid"/>
          </a:ln>
        </p:spPr>
      </p:sp>
      <p:sp>
        <p:nvSpPr>
          <p:cNvPr id="46" name="P">
            <a:extLst xmlns:a="http://schemas.openxmlformats.org/drawingml/2006/main">
              <a:ext uri="{FF2B5EF4-FFF2-40B4-BE49-F238E27FC236}">
                <a16:creationId xmlns:a16="http://schemas.microsoft.com/office/drawing/2014/main" id="{F3BABCEE-49E4-4301-B166-E3E9528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181600"/>
            <a:ext cx="447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46038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7" name="Salt / 602°C">
            <a:extLst xmlns:a="http://schemas.openxmlformats.org/drawingml/2006/main">
              <a:ext uri="{FF2B5EF4-FFF2-40B4-BE49-F238E27FC236}">
                <a16:creationId xmlns:a16="http://schemas.microsoft.com/office/drawing/2014/main" id="{4CD18A69-FCA9-4188-A476-94EECB0B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Salt</a:t>
            </a:r>
          </a:p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602°C</a:t>
            </a:r>
          </a:p>
        </p:txBody>
      </p:sp>
      <p:sp>
        <p:nvSpPr>
          <p:cNvPr id="48" name="537°C">
            <a:extLst xmlns:a="http://schemas.openxmlformats.org/drawingml/2006/main">
              <a:ext uri="{FF2B5EF4-FFF2-40B4-BE49-F238E27FC236}">
                <a16:creationId xmlns:a16="http://schemas.microsoft.com/office/drawing/2014/main" id="{12D83F62-40BA-431D-9B56-162D1440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70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537°C</a:t>
            </a:r>
          </a:p>
        </p:txBody>
      </p:sp>
      <p:sp>
        <p:nvSpPr>
          <p:cNvPr id="49" name="Coolant pump">
            <a:extLst xmlns:a="http://schemas.openxmlformats.org/drawingml/2006/main">
              <a:ext uri="{FF2B5EF4-FFF2-40B4-BE49-F238E27FC236}">
                <a16:creationId xmlns:a16="http://schemas.microsoft.com/office/drawing/2014/main" id="{6D891493-97BF-4FB9-A3A2-1CEDF5C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05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460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46038"/>
                </a:solidFill>
                <a:latin typeface="Arial"/>
                <a:ea typeface="Arial"/>
                <a:cs typeface="Arial"/>
              </a:rPr>
              <a:t>Coolant pump</a:t>
            </a:r>
          </a:p>
        </p:txBody>
      </p:sp>
      <p:sp>
        <p:nvSpPr>
          <p:cNvPr id="50" name="path-27">
            <a:extLst xmlns:a="http://schemas.openxmlformats.org/drawingml/2006/main">
              <a:ext uri="{FF2B5EF4-FFF2-40B4-BE49-F238E27FC236}">
                <a16:creationId xmlns:a16="http://schemas.microsoft.com/office/drawing/2014/main" id="{76819BF2-4AAD-48D2-94A8-066A99E2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6191250" cy="361950"/>
          </a:xfrm>
          <a:custGeom xmlns:a="http://schemas.openxmlformats.org/drawingml/2006/main">
            <a:pathLst>
              <a:path w="6191250" h="361950">
                <a:moveTo>
                  <a:pt x="0" y="0"/>
                </a:moveTo>
                <a:lnTo>
                  <a:pt x="0" y="361950"/>
                </a:lnTo>
                <a:lnTo>
                  <a:pt x="619125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51" name="path-28">
            <a:extLst xmlns:a="http://schemas.openxmlformats.org/drawingml/2006/main">
              <a:ext uri="{FF2B5EF4-FFF2-40B4-BE49-F238E27FC236}">
                <a16:creationId xmlns:a16="http://schemas.microsoft.com/office/drawing/2014/main" id="{AFB58FEA-122D-4843-AD54-F79AD37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72025"/>
            <a:ext cx="9525" cy="361950"/>
          </a:xfrm>
          <a:custGeom xmlns:a="http://schemas.openxmlformats.org/drawingml/2006/main"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52" name="ellipse-29">
            <a:extLst xmlns:a="http://schemas.openxmlformats.org/drawingml/2006/main">
              <a:ext uri="{FF2B5EF4-FFF2-40B4-BE49-F238E27FC236}">
                <a16:creationId xmlns:a16="http://schemas.microsoft.com/office/drawing/2014/main" id="{782234FE-1106-4DAC-94AF-34124E6F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895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3" name="G">
            <a:extLst xmlns:a="http://schemas.openxmlformats.org/drawingml/2006/main">
              <a:ext uri="{FF2B5EF4-FFF2-40B4-BE49-F238E27FC236}">
                <a16:creationId xmlns:a16="http://schemas.microsoft.com/office/drawing/2014/main" id="{CB1B796A-9747-485A-9402-BA15FEC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9434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4" name="path-30">
            <a:extLst xmlns:a="http://schemas.openxmlformats.org/drawingml/2006/main">
              <a:ext uri="{FF2B5EF4-FFF2-40B4-BE49-F238E27FC236}">
                <a16:creationId xmlns:a16="http://schemas.microsoft.com/office/drawing/2014/main" id="{375D4412-1630-43B9-84D8-0B4A54B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4772025"/>
            <a:ext cx="619125" cy="361950"/>
          </a:xfrm>
          <a:custGeom xmlns:a="http://schemas.openxmlformats.org/drawingml/2006/main">
            <a:pathLst>
              <a:path w="619125" h="361950">
                <a:moveTo>
                  <a:pt x="619125" y="0"/>
                </a:moveTo>
                <a:lnTo>
                  <a:pt x="619125" y="361950"/>
                </a:ln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A6874"/>
            </a:solidFill>
            <a:prstDash val="solid"/>
          </a:ln>
        </p:spPr>
      </p:sp>
      <p:sp>
        <p:nvSpPr>
          <p:cNvPr id="55" name="ellipse-31">
            <a:extLst xmlns:a="http://schemas.openxmlformats.org/drawingml/2006/main">
              <a:ext uri="{FF2B5EF4-FFF2-40B4-BE49-F238E27FC236}">
                <a16:creationId xmlns:a16="http://schemas.microsoft.com/office/drawing/2014/main" id="{BD096629-02CB-4527-BD69-4DD8512C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895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6" name="G">
            <a:extLst xmlns:a="http://schemas.openxmlformats.org/drawingml/2006/main">
              <a:ext uri="{FF2B5EF4-FFF2-40B4-BE49-F238E27FC236}">
                <a16:creationId xmlns:a16="http://schemas.microsoft.com/office/drawing/2014/main" id="{E87E1C3D-E15B-4031-912E-1DC9F44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9434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7" name="rect-32">
            <a:extLst xmlns:a="http://schemas.openxmlformats.org/drawingml/2006/main">
              <a:ext uri="{FF2B5EF4-FFF2-40B4-BE49-F238E27FC236}">
                <a16:creationId xmlns:a16="http://schemas.microsoft.com/office/drawing/2014/main" id="{E59A25EC-66FE-48C0-9F23-32348FB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61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58" name="Condenser">
            <a:extLst xmlns:a="http://schemas.openxmlformats.org/drawingml/2006/main">
              <a:ext uri="{FF2B5EF4-FFF2-40B4-BE49-F238E27FC236}">
                <a16:creationId xmlns:a16="http://schemas.microsoft.com/office/drawing/2014/main" id="{08C2CF37-0397-4238-A49C-03CE97D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5715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Condenser</a:t>
            </a:r>
          </a:p>
        </p:txBody>
      </p:sp>
      <p:sp>
        <p:nvSpPr>
          <p:cNvPr id="59" name="804 MW rejected">
            <a:extLst xmlns:a="http://schemas.openxmlformats.org/drawingml/2006/main">
              <a:ext uri="{FF2B5EF4-FFF2-40B4-BE49-F238E27FC236}">
                <a16:creationId xmlns:a16="http://schemas.microsoft.com/office/drawing/2014/main" id="{C69A9132-57D5-44DF-A4D6-C31EEEB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6124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804 MW rejected</a:t>
            </a:r>
          </a:p>
        </p:txBody>
      </p:sp>
      <p:sp>
        <p:nvSpPr>
          <p:cNvPr id="60" name="path-33">
            <a:extLst xmlns:a="http://schemas.openxmlformats.org/drawingml/2006/main">
              <a:ext uri="{FF2B5EF4-FFF2-40B4-BE49-F238E27FC236}">
                <a16:creationId xmlns:a16="http://schemas.microsoft.com/office/drawing/2014/main" id="{44293A5B-8DDB-4527-AAE2-DFF2C9DF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8102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877E"/>
            </a:solidFill>
            <a:prstDash val="solid"/>
          </a:ln>
        </p:spPr>
      </p:sp>
      <p:sp>
        <p:nvSpPr>
          <p:cNvPr id="61" name="flow arrow-34">
            <a:extLst xmlns:a="http://schemas.openxmlformats.org/drawingml/2006/main">
              <a:ext uri="{FF2B5EF4-FFF2-40B4-BE49-F238E27FC236}">
                <a16:creationId xmlns:a16="http://schemas.microsoft.com/office/drawing/2014/main" id="{4EA6CC39-D682-40C6-B589-D307CF60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5762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E877E"/>
          </a:solidFill>
          <a:ln xmlns:a="http://schemas.openxmlformats.org/drawingml/2006/main" w="9525">
            <a:solidFill>
              <a:srgbClr val="3E877E"/>
            </a:solidFill>
            <a:prstDash val="solid"/>
          </a:ln>
        </p:spPr>
      </p:sp>
      <p:sp>
        <p:nvSpPr>
          <p:cNvPr id="62" name="path-35">
            <a:extLst xmlns:a="http://schemas.openxmlformats.org/drawingml/2006/main">
              <a:ext uri="{FF2B5EF4-FFF2-40B4-BE49-F238E27FC236}">
                <a16:creationId xmlns:a16="http://schemas.microsoft.com/office/drawing/2014/main" id="{6F76A78A-F8E7-4E65-A947-0F679CF6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286500"/>
            <a:ext cx="381000" cy="9525"/>
          </a:xfrm>
          <a:custGeom xmlns:a="http://schemas.openxmlformats.org/drawingml/2006/main">
            <a:pathLst>
              <a:path w="381000" h="9525">
                <a:moveTo>
                  <a:pt x="381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E877E"/>
            </a:solidFill>
            <a:prstDash val="solid"/>
          </a:ln>
        </p:spPr>
      </p:sp>
      <p:sp>
        <p:nvSpPr>
          <p:cNvPr id="63" name="flow arrow-36">
            <a:extLst xmlns:a="http://schemas.openxmlformats.org/drawingml/2006/main">
              <a:ext uri="{FF2B5EF4-FFF2-40B4-BE49-F238E27FC236}">
                <a16:creationId xmlns:a16="http://schemas.microsoft.com/office/drawing/2014/main" id="{F5D0358F-9C3F-4C64-987E-49752F03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238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3E877E"/>
          </a:solidFill>
          <a:ln xmlns:a="http://schemas.openxmlformats.org/drawingml/2006/main" w="9525">
            <a:solidFill>
              <a:srgbClr val="3E877E"/>
            </a:solidFill>
            <a:prstDash val="solid"/>
          </a:ln>
        </p:spPr>
      </p:sp>
      <p:sp>
        <p:nvSpPr>
          <p:cNvPr id="64" name="Cooling water / 19.8 → 27.9°C / 23.8 m³/s">
            <a:extLst xmlns:a="http://schemas.openxmlformats.org/drawingml/2006/main">
              <a:ext uri="{FF2B5EF4-FFF2-40B4-BE49-F238E27FC236}">
                <a16:creationId xmlns:a16="http://schemas.microsoft.com/office/drawing/2014/main" id="{E13BDB93-9470-4A91-937D-4E822F18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00700"/>
            <a:ext cx="1971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Cooling water</a:t>
            </a:r>
          </a:p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19.8 → 27.9°C</a:t>
            </a:r>
          </a:p>
          <a:p xmlns:a="http://schemas.openxmlformats.org/drawingml/2006/main">
            <a:pPr algn="ctr">
              <a:defRPr sz="1875" b="0">
                <a:solidFill>
                  <a:srgbClr val="3E87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E877E"/>
                </a:solidFill>
                <a:latin typeface="Arial"/>
                <a:ea typeface="Arial"/>
                <a:cs typeface="Arial"/>
              </a:rPr>
              <a:t>23.8 m³/s</a:t>
            </a:r>
          </a:p>
        </p:txBody>
      </p:sp>
      <p:sp>
        <p:nvSpPr>
          <p:cNvPr id="65" name="path-37">
            <a:extLst xmlns:a="http://schemas.openxmlformats.org/drawingml/2006/main">
              <a:ext uri="{FF2B5EF4-FFF2-40B4-BE49-F238E27FC236}">
                <a16:creationId xmlns:a16="http://schemas.microsoft.com/office/drawing/2014/main" id="{68D3EE89-7948-4501-A721-03C88BDF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86250"/>
            <a:ext cx="238125" cy="714375"/>
          </a:xfrm>
          <a:custGeom xmlns:a="http://schemas.openxmlformats.org/drawingml/2006/main">
            <a:pathLst>
              <a:path w="238125" h="714375">
                <a:moveTo>
                  <a:pt x="238125" y="0"/>
                </a:moveTo>
                <a:lnTo>
                  <a:pt x="238125" y="714375"/>
                </a:ln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66" name="flow arrow-38">
            <a:extLst xmlns:a="http://schemas.openxmlformats.org/drawingml/2006/main">
              <a:ext uri="{FF2B5EF4-FFF2-40B4-BE49-F238E27FC236}">
                <a16:creationId xmlns:a16="http://schemas.microsoft.com/office/drawing/2014/main" id="{42934BA7-2A06-44E3-B522-3B75BEB8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53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67" name="Heating return → HP4 / 24 MPa • 380°C¹">
            <a:extLst xmlns:a="http://schemas.openxmlformats.org/drawingml/2006/main">
              <a:ext uri="{FF2B5EF4-FFF2-40B4-BE49-F238E27FC236}">
                <a16:creationId xmlns:a16="http://schemas.microsoft.com/office/drawing/2014/main" id="{6ADF881D-27E8-43C2-94AF-D448AD2D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578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Heating return → HP4</a:t>
            </a:r>
          </a:p>
          <a:p xmlns:a="http://schemas.openxmlformats.org/drawingml/2006/main">
            <a:pPr algn="l">
              <a:defRPr sz="18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24 MPa • 380°C¹</a:t>
            </a:r>
          </a:p>
        </p:txBody>
      </p:sp>
      <p:sp>
        <p:nvSpPr>
          <p:cNvPr id="68" name="rect-39">
            <a:extLst xmlns:a="http://schemas.openxmlformats.org/drawingml/2006/main">
              <a:ext uri="{FF2B5EF4-FFF2-40B4-BE49-F238E27FC236}">
                <a16:creationId xmlns:a16="http://schemas.microsoft.com/office/drawing/2014/main" id="{A7B7EB8D-5F70-44D2-B16A-45B62684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19750"/>
            <a:ext cx="180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69" name="Feed-pump / turbine">
            <a:extLst xmlns:a="http://schemas.openxmlformats.org/drawingml/2006/main">
              <a:ext uri="{FF2B5EF4-FFF2-40B4-BE49-F238E27FC236}">
                <a16:creationId xmlns:a16="http://schemas.microsoft.com/office/drawing/2014/main" id="{B0876B9E-4BAA-4D47-9EB5-856AA759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73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Feed-pump</a:t>
            </a:r>
          </a:p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70" name="From HP: 7.64 MPa / 378°C">
            <a:extLst xmlns:a="http://schemas.openxmlformats.org/drawingml/2006/main">
              <a:ext uri="{FF2B5EF4-FFF2-40B4-BE49-F238E27FC236}">
                <a16:creationId xmlns:a16="http://schemas.microsoft.com/office/drawing/2014/main" id="{B862B0B3-AA1C-4F43-915C-9116636F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6732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From HP: 7.64 MPa / 378°C</a:t>
            </a:r>
          </a:p>
        </p:txBody>
      </p:sp>
      <p:sp>
        <p:nvSpPr>
          <p:cNvPr id="71" name="path-40">
            <a:extLst xmlns:a="http://schemas.openxmlformats.org/drawingml/2006/main">
              <a:ext uri="{FF2B5EF4-FFF2-40B4-BE49-F238E27FC236}">
                <a16:creationId xmlns:a16="http://schemas.microsoft.com/office/drawing/2014/main" id="{877A1901-B61B-4791-93FD-E23AF8F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245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72" name="flow arrow-41">
            <a:extLst xmlns:a="http://schemas.openxmlformats.org/drawingml/2006/main">
              <a:ext uri="{FF2B5EF4-FFF2-40B4-BE49-F238E27FC236}">
                <a16:creationId xmlns:a16="http://schemas.microsoft.com/office/drawing/2014/main" id="{6BD8DFB4-B84E-41EA-ACA7-521C9F9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054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73" name="21.4 MW shaft">
            <a:extLst xmlns:a="http://schemas.openxmlformats.org/drawingml/2006/main">
              <a:ext uri="{FF2B5EF4-FFF2-40B4-BE49-F238E27FC236}">
                <a16:creationId xmlns:a16="http://schemas.microsoft.com/office/drawing/2014/main" id="{5E0CAE24-87B7-463C-A43F-CB63921E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37222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21.4 MW shaft</a:t>
            </a:r>
          </a:p>
        </p:txBody>
      </p:sp>
      <p:sp>
        <p:nvSpPr>
          <p:cNvPr id="74" name="path-42">
            <a:extLst xmlns:a="http://schemas.openxmlformats.org/drawingml/2006/main">
              <a:ext uri="{FF2B5EF4-FFF2-40B4-BE49-F238E27FC236}">
                <a16:creationId xmlns:a16="http://schemas.microsoft.com/office/drawing/2014/main" id="{9B0FF01C-1FFB-49C2-B066-7EBC4EE4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476250" cy="1362075"/>
          </a:xfrm>
          <a:custGeom xmlns:a="http://schemas.openxmlformats.org/drawingml/2006/main">
            <a:pathLst>
              <a:path w="476250" h="1362075">
                <a:moveTo>
                  <a:pt x="476250" y="0"/>
                </a:moveTo>
                <a:lnTo>
                  <a:pt x="476250" y="571500"/>
                </a:lnTo>
                <a:lnTo>
                  <a:pt x="0" y="571500"/>
                </a:lnTo>
                <a:lnTo>
                  <a:pt x="0" y="13620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75" name="flow arrow-43">
            <a:extLst xmlns:a="http://schemas.openxmlformats.org/drawingml/2006/main">
              <a:ext uri="{FF2B5EF4-FFF2-40B4-BE49-F238E27FC236}">
                <a16:creationId xmlns:a16="http://schemas.microsoft.com/office/drawing/2014/main" id="{91388D3F-E9BA-4070-9347-43158A4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5819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76" name="Exhaust / 0.60 MPa">
            <a:extLst xmlns:a="http://schemas.openxmlformats.org/drawingml/2006/main">
              <a:ext uri="{FF2B5EF4-FFF2-40B4-BE49-F238E27FC236}">
                <a16:creationId xmlns:a16="http://schemas.microsoft.com/office/drawing/2014/main" id="{894EA8D4-271C-430D-A78E-CA3A8A7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246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Exhaust</a:t>
            </a:r>
          </a:p>
          <a:p xmlns:a="http://schemas.openxmlformats.org/drawingml/2006/main">
            <a:pPr algn="l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0.60 MPa</a:t>
            </a:r>
          </a:p>
        </p:txBody>
      </p:sp>
      <p:sp>
        <p:nvSpPr>
          <p:cNvPr id="77" name="path-44">
            <a:extLst xmlns:a="http://schemas.openxmlformats.org/drawingml/2006/main">
              <a:ext uri="{FF2B5EF4-FFF2-40B4-BE49-F238E27FC236}">
                <a16:creationId xmlns:a16="http://schemas.microsoft.com/office/drawing/2014/main" id="{E004C26F-815E-4481-911E-2C213F80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6477000"/>
            <a:ext cx="9525" cy="1238250"/>
          </a:xfrm>
          <a:custGeom xmlns:a="http://schemas.openxmlformats.org/drawingml/2006/main"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78" name="flow arrow-45">
            <a:extLst xmlns:a="http://schemas.openxmlformats.org/drawingml/2006/main">
              <a:ext uri="{FF2B5EF4-FFF2-40B4-BE49-F238E27FC236}">
                <a16:creationId xmlns:a16="http://schemas.microsoft.com/office/drawing/2014/main" id="{DA5CD3B1-73A5-41DA-95DC-83FEDB9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76009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79" name="ellipse-46">
            <a:extLst xmlns:a="http://schemas.openxmlformats.org/drawingml/2006/main">
              <a:ext uri="{FF2B5EF4-FFF2-40B4-BE49-F238E27FC236}">
                <a16:creationId xmlns:a16="http://schemas.microsoft.com/office/drawing/2014/main" id="{70789CB5-F989-4AB8-AE29-B9915FDF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7762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80" name="path-47">
            <a:extLst xmlns:a="http://schemas.openxmlformats.org/drawingml/2006/main">
              <a:ext uri="{FF2B5EF4-FFF2-40B4-BE49-F238E27FC236}">
                <a16:creationId xmlns:a16="http://schemas.microsoft.com/office/drawing/2014/main" id="{5A74A05B-9A3F-44DD-A708-3ACD95B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7877175"/>
            <a:ext cx="228600" cy="247650"/>
          </a:xfrm>
          <a:custGeom xmlns:a="http://schemas.openxmlformats.org/drawingml/2006/main">
            <a:pathLst>
              <a:path w="228600" h="247650">
                <a:moveTo>
                  <a:pt x="228600" y="0"/>
                </a:moveTo>
                <a:lnTo>
                  <a:pt x="0" y="123825"/>
                </a:lnTo>
                <a:lnTo>
                  <a:pt x="228600" y="24765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19050">
            <a:solidFill>
              <a:srgbClr val="166C9A"/>
            </a:solidFill>
            <a:prstDash val="solid"/>
          </a:ln>
        </p:spPr>
      </p:sp>
      <p:sp>
        <p:nvSpPr>
          <p:cNvPr id="81" name="Cond. pump">
            <a:extLst xmlns:a="http://schemas.openxmlformats.org/drawingml/2006/main">
              <a:ext uri="{FF2B5EF4-FFF2-40B4-BE49-F238E27FC236}">
                <a16:creationId xmlns:a16="http://schemas.microsoft.com/office/drawing/2014/main" id="{3BE815AA-34BF-4942-80E8-73CF4A08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8305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Cond. pump</a:t>
            </a:r>
          </a:p>
        </p:txBody>
      </p:sp>
      <p:sp>
        <p:nvSpPr>
          <p:cNvPr id="82" name="path-48">
            <a:extLst xmlns:a="http://schemas.openxmlformats.org/drawingml/2006/main">
              <a:ext uri="{FF2B5EF4-FFF2-40B4-BE49-F238E27FC236}">
                <a16:creationId xmlns:a16="http://schemas.microsoft.com/office/drawing/2014/main" id="{03929EDA-A476-46E3-947E-F6B62AD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8001000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83" name="flow arrow-49">
            <a:extLst xmlns:a="http://schemas.openxmlformats.org/drawingml/2006/main">
              <a:ext uri="{FF2B5EF4-FFF2-40B4-BE49-F238E27FC236}">
                <a16:creationId xmlns:a16="http://schemas.microsoft.com/office/drawing/2014/main" id="{CF837052-F37B-4FBB-9C0F-F7795762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84" name="path-50">
            <a:extLst xmlns:a="http://schemas.openxmlformats.org/drawingml/2006/main">
              <a:ext uri="{FF2B5EF4-FFF2-40B4-BE49-F238E27FC236}">
                <a16:creationId xmlns:a16="http://schemas.microsoft.com/office/drawing/2014/main" id="{24A88674-4248-4882-BC37-02E6B31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85" name="flow arrow-51">
            <a:extLst xmlns:a="http://schemas.openxmlformats.org/drawingml/2006/main">
              <a:ext uri="{FF2B5EF4-FFF2-40B4-BE49-F238E27FC236}">
                <a16:creationId xmlns:a16="http://schemas.microsoft.com/office/drawing/2014/main" id="{C139EB96-F66F-43BA-91F0-7456174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86" name="path-52">
            <a:extLst xmlns:a="http://schemas.openxmlformats.org/drawingml/2006/main">
              <a:ext uri="{FF2B5EF4-FFF2-40B4-BE49-F238E27FC236}">
                <a16:creationId xmlns:a16="http://schemas.microsoft.com/office/drawing/2014/main" id="{D494C73B-3511-4088-B9FF-1C9C8C5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001000"/>
            <a:ext cx="666750" cy="9525"/>
          </a:xfrm>
          <a:custGeom xmlns:a="http://schemas.openxmlformats.org/drawingml/2006/main"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87" name="flow arrow-53">
            <a:extLst xmlns:a="http://schemas.openxmlformats.org/drawingml/2006/main">
              <a:ext uri="{FF2B5EF4-FFF2-40B4-BE49-F238E27FC236}">
                <a16:creationId xmlns:a16="http://schemas.microsoft.com/office/drawing/2014/main" id="{8A536FB9-546A-435B-905F-1B4F350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88" name="ellipse-54">
            <a:extLst xmlns:a="http://schemas.openxmlformats.org/drawingml/2006/main">
              <a:ext uri="{FF2B5EF4-FFF2-40B4-BE49-F238E27FC236}">
                <a16:creationId xmlns:a16="http://schemas.microsoft.com/office/drawing/2014/main" id="{E401C552-B018-4CCC-8AE7-423FD465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762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6C9A"/>
            </a:solidFill>
            <a:prstDash val="solid"/>
          </a:ln>
        </p:spPr>
      </p:sp>
      <p:sp>
        <p:nvSpPr>
          <p:cNvPr id="89" name="path-55">
            <a:extLst xmlns:a="http://schemas.openxmlformats.org/drawingml/2006/main">
              <a:ext uri="{FF2B5EF4-FFF2-40B4-BE49-F238E27FC236}">
                <a16:creationId xmlns:a16="http://schemas.microsoft.com/office/drawing/2014/main" id="{F6A4C829-B866-4BB5-A6E1-C9D51680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228600" cy="247650"/>
          </a:xfrm>
          <a:custGeom xmlns:a="http://schemas.openxmlformats.org/drawingml/2006/main">
            <a:pathLst>
              <a:path w="228600" h="247650">
                <a:moveTo>
                  <a:pt x="228600" y="0"/>
                </a:moveTo>
                <a:lnTo>
                  <a:pt x="0" y="123825"/>
                </a:lnTo>
                <a:lnTo>
                  <a:pt x="228600" y="24765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19050">
            <a:solidFill>
              <a:srgbClr val="166C9A"/>
            </a:solidFill>
            <a:prstDash val="solid"/>
          </a:ln>
        </p:spPr>
      </p:sp>
      <p:sp>
        <p:nvSpPr>
          <p:cNvPr id="90" name="Feed pump">
            <a:extLst xmlns:a="http://schemas.openxmlformats.org/drawingml/2006/main">
              <a:ext uri="{FF2B5EF4-FFF2-40B4-BE49-F238E27FC236}">
                <a16:creationId xmlns:a16="http://schemas.microsoft.com/office/drawing/2014/main" id="{2AD592B0-ABE2-44F7-B86C-4D1E3742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305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044"/>
                </a:solidFill>
                <a:latin typeface="Arial"/>
                <a:ea typeface="Arial"/>
                <a:cs typeface="Arial"/>
              </a:rPr>
              <a:t>Feed pump</a:t>
            </a:r>
          </a:p>
        </p:txBody>
      </p:sp>
      <p:sp>
        <p:nvSpPr>
          <p:cNvPr id="91" name="rect-56">
            <a:extLst xmlns:a="http://schemas.openxmlformats.org/drawingml/2006/main">
              <a:ext uri="{FF2B5EF4-FFF2-40B4-BE49-F238E27FC236}">
                <a16:creationId xmlns:a16="http://schemas.microsoft.com/office/drawing/2014/main" id="{6ACBA212-0E38-4E0B-95F3-99DB7B1A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962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92" name="Deaerator">
            <a:extLst xmlns:a="http://schemas.openxmlformats.org/drawingml/2006/main">
              <a:ext uri="{FF2B5EF4-FFF2-40B4-BE49-F238E27FC236}">
                <a16:creationId xmlns:a16="http://schemas.microsoft.com/office/drawing/2014/main" id="{93B908B7-4025-4939-8476-BB979C0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7438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Deaerator</a:t>
            </a:r>
          </a:p>
        </p:txBody>
      </p:sp>
      <p:sp>
        <p:nvSpPr>
          <p:cNvPr id="93" name="0.60 MPa / 159°C">
            <a:extLst xmlns:a="http://schemas.openxmlformats.org/drawingml/2006/main">
              <a:ext uri="{FF2B5EF4-FFF2-40B4-BE49-F238E27FC236}">
                <a16:creationId xmlns:a16="http://schemas.microsoft.com/office/drawing/2014/main" id="{456B2E34-CB03-4522-950C-355BEB60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8382000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0.60 MPa</a:t>
            </a:r>
          </a:p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159°C</a:t>
            </a:r>
          </a:p>
        </p:txBody>
      </p:sp>
      <p:sp>
        <p:nvSpPr>
          <p:cNvPr id="94" name="path-57">
            <a:extLst xmlns:a="http://schemas.openxmlformats.org/drawingml/2006/main">
              <a:ext uri="{FF2B5EF4-FFF2-40B4-BE49-F238E27FC236}">
                <a16:creationId xmlns:a16="http://schemas.microsoft.com/office/drawing/2014/main" id="{BA8A579F-360E-43F2-A5C0-71455F26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001000"/>
            <a:ext cx="238125" cy="9525"/>
          </a:xfrm>
          <a:custGeom xmlns:a="http://schemas.openxmlformats.org/drawingml/2006/main">
            <a:pathLst>
              <a:path w="238125" h="952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95" name="flow arrow-58">
            <a:extLst xmlns:a="http://schemas.openxmlformats.org/drawingml/2006/main">
              <a:ext uri="{FF2B5EF4-FFF2-40B4-BE49-F238E27FC236}">
                <a16:creationId xmlns:a16="http://schemas.microsoft.com/office/drawing/2014/main" id="{61352E5E-DD7C-4717-9340-2A24DA24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96" name="rect-59">
            <a:extLst xmlns:a="http://schemas.openxmlformats.org/drawingml/2006/main">
              <a:ext uri="{FF2B5EF4-FFF2-40B4-BE49-F238E27FC236}">
                <a16:creationId xmlns:a16="http://schemas.microsoft.com/office/drawing/2014/main" id="{DBCA07E6-8926-4556-83D6-0516C5D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97" name="HP4">
            <a:extLst xmlns:a="http://schemas.openxmlformats.org/drawingml/2006/main">
              <a:ext uri="{FF2B5EF4-FFF2-40B4-BE49-F238E27FC236}">
                <a16:creationId xmlns:a16="http://schemas.microsoft.com/office/drawing/2014/main" id="{6127AEBB-A324-42C7-91AF-77475E53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HP4</a:t>
            </a:r>
          </a:p>
        </p:txBody>
      </p:sp>
      <p:sp>
        <p:nvSpPr>
          <p:cNvPr id="98" name="287°C">
            <a:extLst xmlns:a="http://schemas.openxmlformats.org/drawingml/2006/main">
              <a:ext uri="{FF2B5EF4-FFF2-40B4-BE49-F238E27FC236}">
                <a16:creationId xmlns:a16="http://schemas.microsoft.com/office/drawing/2014/main" id="{901847F7-FE09-47A9-B2BE-6DE419C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287°C</a:t>
            </a:r>
          </a:p>
        </p:txBody>
      </p:sp>
      <p:sp>
        <p:nvSpPr>
          <p:cNvPr id="99" name="HP + RH¹">
            <a:extLst xmlns:a="http://schemas.openxmlformats.org/drawingml/2006/main">
              <a:ext uri="{FF2B5EF4-FFF2-40B4-BE49-F238E27FC236}">
                <a16:creationId xmlns:a16="http://schemas.microsoft.com/office/drawing/2014/main" id="{F0C35484-332B-4F1F-A7B4-19B7F1F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915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HP + RH¹</a:t>
            </a:r>
          </a:p>
        </p:txBody>
      </p:sp>
      <p:sp>
        <p:nvSpPr>
          <p:cNvPr id="100" name="7.64 MPa">
            <a:extLst xmlns:a="http://schemas.openxmlformats.org/drawingml/2006/main">
              <a:ext uri="{FF2B5EF4-FFF2-40B4-BE49-F238E27FC236}">
                <a16:creationId xmlns:a16="http://schemas.microsoft.com/office/drawing/2014/main" id="{7D109461-50F4-49DE-B57F-3D376BA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239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7.64 MPa</a:t>
            </a:r>
          </a:p>
        </p:txBody>
      </p:sp>
      <p:sp>
        <p:nvSpPr>
          <p:cNvPr id="101" name="path-60">
            <a:extLst xmlns:a="http://schemas.openxmlformats.org/drawingml/2006/main">
              <a:ext uri="{FF2B5EF4-FFF2-40B4-BE49-F238E27FC236}">
                <a16:creationId xmlns:a16="http://schemas.microsoft.com/office/drawing/2014/main" id="{254AA434-51B2-47C2-AF24-82767DFF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7543800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02" name="flow arrow-61">
            <a:extLst xmlns:a="http://schemas.openxmlformats.org/drawingml/2006/main">
              <a:ext uri="{FF2B5EF4-FFF2-40B4-BE49-F238E27FC236}">
                <a16:creationId xmlns:a16="http://schemas.microsoft.com/office/drawing/2014/main" id="{DA6D2D77-BAC1-493B-A802-DB11F91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03" name="path-62">
            <a:extLst xmlns:a="http://schemas.openxmlformats.org/drawingml/2006/main">
              <a:ext uri="{FF2B5EF4-FFF2-40B4-BE49-F238E27FC236}">
                <a16:creationId xmlns:a16="http://schemas.microsoft.com/office/drawing/2014/main" id="{BD4AF619-AF09-477F-8478-EF79C05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04" name="flow arrow-63">
            <a:extLst xmlns:a="http://schemas.openxmlformats.org/drawingml/2006/main">
              <a:ext uri="{FF2B5EF4-FFF2-40B4-BE49-F238E27FC236}">
                <a16:creationId xmlns:a16="http://schemas.microsoft.com/office/drawing/2014/main" id="{523FD9DA-C8CE-4043-9231-1024BF25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05" name="rect-64">
            <a:extLst xmlns:a="http://schemas.openxmlformats.org/drawingml/2006/main">
              <a:ext uri="{FF2B5EF4-FFF2-40B4-BE49-F238E27FC236}">
                <a16:creationId xmlns:a16="http://schemas.microsoft.com/office/drawing/2014/main" id="{38D0C77F-19A6-497F-8751-CCEC06D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06" name="HP3">
            <a:extLst xmlns:a="http://schemas.openxmlformats.org/drawingml/2006/main">
              <a:ext uri="{FF2B5EF4-FFF2-40B4-BE49-F238E27FC236}">
                <a16:creationId xmlns:a16="http://schemas.microsoft.com/office/drawing/2014/main" id="{7DEE00A9-54D1-4D8D-8A36-0E09641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HP3</a:t>
            </a:r>
          </a:p>
        </p:txBody>
      </p:sp>
      <p:sp>
        <p:nvSpPr>
          <p:cNvPr id="107" name="225°C">
            <a:extLst xmlns:a="http://schemas.openxmlformats.org/drawingml/2006/main">
              <a:ext uri="{FF2B5EF4-FFF2-40B4-BE49-F238E27FC236}">
                <a16:creationId xmlns:a16="http://schemas.microsoft.com/office/drawing/2014/main" id="{82DB8AD1-6C20-4613-8F87-C60B3FE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225°C</a:t>
            </a:r>
          </a:p>
        </p:txBody>
      </p:sp>
      <p:sp>
        <p:nvSpPr>
          <p:cNvPr id="108" name="HP exhaust">
            <a:extLst xmlns:a="http://schemas.openxmlformats.org/drawingml/2006/main">
              <a:ext uri="{FF2B5EF4-FFF2-40B4-BE49-F238E27FC236}">
                <a16:creationId xmlns:a16="http://schemas.microsoft.com/office/drawing/2014/main" id="{E30D1320-B513-4005-B45A-5FC3E21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915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HP exhaust</a:t>
            </a:r>
          </a:p>
        </p:txBody>
      </p:sp>
      <p:sp>
        <p:nvSpPr>
          <p:cNvPr id="109" name="2.80 MPa">
            <a:extLst xmlns:a="http://schemas.openxmlformats.org/drawingml/2006/main">
              <a:ext uri="{FF2B5EF4-FFF2-40B4-BE49-F238E27FC236}">
                <a16:creationId xmlns:a16="http://schemas.microsoft.com/office/drawing/2014/main" id="{5D0E4B32-6645-455C-A256-51C8AC18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239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2.80 MPa</a:t>
            </a:r>
          </a:p>
        </p:txBody>
      </p:sp>
      <p:sp>
        <p:nvSpPr>
          <p:cNvPr id="110" name="path-65">
            <a:extLst xmlns:a="http://schemas.openxmlformats.org/drawingml/2006/main">
              <a:ext uri="{FF2B5EF4-FFF2-40B4-BE49-F238E27FC236}">
                <a16:creationId xmlns:a16="http://schemas.microsoft.com/office/drawing/2014/main" id="{CE5FF3B2-921C-4AC1-B636-587D737F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543800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11" name="flow arrow-66">
            <a:extLst xmlns:a="http://schemas.openxmlformats.org/drawingml/2006/main">
              <a:ext uri="{FF2B5EF4-FFF2-40B4-BE49-F238E27FC236}">
                <a16:creationId xmlns:a16="http://schemas.microsoft.com/office/drawing/2014/main" id="{86826148-57B6-4E68-BF72-83C5F63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12" name="path-67">
            <a:extLst xmlns:a="http://schemas.openxmlformats.org/drawingml/2006/main">
              <a:ext uri="{FF2B5EF4-FFF2-40B4-BE49-F238E27FC236}">
                <a16:creationId xmlns:a16="http://schemas.microsoft.com/office/drawing/2014/main" id="{84DA7F91-AD48-41D6-B3DA-6E6D61F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13" name="flow arrow-68">
            <a:extLst xmlns:a="http://schemas.openxmlformats.org/drawingml/2006/main">
              <a:ext uri="{FF2B5EF4-FFF2-40B4-BE49-F238E27FC236}">
                <a16:creationId xmlns:a16="http://schemas.microsoft.com/office/drawing/2014/main" id="{57FD30B0-26F1-4BF7-BB09-29BCDAFF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14" name="rect-69">
            <a:extLst xmlns:a="http://schemas.openxmlformats.org/drawingml/2006/main">
              <a:ext uri="{FF2B5EF4-FFF2-40B4-BE49-F238E27FC236}">
                <a16:creationId xmlns:a16="http://schemas.microsoft.com/office/drawing/2014/main" id="{8E7B3DF3-40B5-4EB8-B625-4462CDD8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15" name="HP2">
            <a:extLst xmlns:a="http://schemas.openxmlformats.org/drawingml/2006/main">
              <a:ext uri="{FF2B5EF4-FFF2-40B4-BE49-F238E27FC236}">
                <a16:creationId xmlns:a16="http://schemas.microsoft.com/office/drawing/2014/main" id="{2EF30CF6-3523-4A8B-BCA6-0064ADE0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HP2</a:t>
            </a:r>
          </a:p>
        </p:txBody>
      </p:sp>
      <p:sp>
        <p:nvSpPr>
          <p:cNvPr id="116" name="196°C">
            <a:extLst xmlns:a="http://schemas.openxmlformats.org/drawingml/2006/main">
              <a:ext uri="{FF2B5EF4-FFF2-40B4-BE49-F238E27FC236}">
                <a16:creationId xmlns:a16="http://schemas.microsoft.com/office/drawing/2014/main" id="{557F85F9-AAB4-402A-A5B4-FAC218A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196°C</a:t>
            </a:r>
          </a:p>
        </p:txBody>
      </p:sp>
      <p:sp>
        <p:nvSpPr>
          <p:cNvPr id="117" name="Pump turbine">
            <a:extLst xmlns:a="http://schemas.openxmlformats.org/drawingml/2006/main">
              <a:ext uri="{FF2B5EF4-FFF2-40B4-BE49-F238E27FC236}">
                <a16:creationId xmlns:a16="http://schemas.microsoft.com/office/drawing/2014/main" id="{17B00AE1-A2DA-40F3-9211-AE7233AD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915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Pump turbine</a:t>
            </a:r>
          </a:p>
        </p:txBody>
      </p:sp>
      <p:sp>
        <p:nvSpPr>
          <p:cNvPr id="118" name="1.60 MPa">
            <a:extLst xmlns:a="http://schemas.openxmlformats.org/drawingml/2006/main">
              <a:ext uri="{FF2B5EF4-FFF2-40B4-BE49-F238E27FC236}">
                <a16:creationId xmlns:a16="http://schemas.microsoft.com/office/drawing/2014/main" id="{1E569AAF-47EA-412C-8DA4-A52552F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39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1.60 MPa</a:t>
            </a:r>
          </a:p>
        </p:txBody>
      </p:sp>
      <p:sp>
        <p:nvSpPr>
          <p:cNvPr id="119" name="path-70">
            <a:extLst xmlns:a="http://schemas.openxmlformats.org/drawingml/2006/main">
              <a:ext uri="{FF2B5EF4-FFF2-40B4-BE49-F238E27FC236}">
                <a16:creationId xmlns:a16="http://schemas.microsoft.com/office/drawing/2014/main" id="{797320E2-28F4-4648-A171-F4C6B2E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7543800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20" name="flow arrow-71">
            <a:extLst xmlns:a="http://schemas.openxmlformats.org/drawingml/2006/main">
              <a:ext uri="{FF2B5EF4-FFF2-40B4-BE49-F238E27FC236}">
                <a16:creationId xmlns:a16="http://schemas.microsoft.com/office/drawing/2014/main" id="{AC8658A7-DF76-4074-8BD3-12539EB5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21" name="path-72">
            <a:extLst xmlns:a="http://schemas.openxmlformats.org/drawingml/2006/main">
              <a:ext uri="{FF2B5EF4-FFF2-40B4-BE49-F238E27FC236}">
                <a16:creationId xmlns:a16="http://schemas.microsoft.com/office/drawing/2014/main" id="{3E1F769A-CAAA-491D-BBFE-F02D0DA7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001000"/>
            <a:ext cx="333375" cy="9525"/>
          </a:xfrm>
          <a:custGeom xmlns:a="http://schemas.openxmlformats.org/drawingml/2006/main">
            <a:pathLst>
              <a:path w="333375" h="9525">
                <a:moveTo>
                  <a:pt x="333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22" name="flow arrow-73">
            <a:extLst xmlns:a="http://schemas.openxmlformats.org/drawingml/2006/main">
              <a:ext uri="{FF2B5EF4-FFF2-40B4-BE49-F238E27FC236}">
                <a16:creationId xmlns:a16="http://schemas.microsoft.com/office/drawing/2014/main" id="{B95A74CC-EBF5-42C2-9F1D-CA188A34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23" name="rect-74">
            <a:extLst xmlns:a="http://schemas.openxmlformats.org/drawingml/2006/main">
              <a:ext uri="{FF2B5EF4-FFF2-40B4-BE49-F238E27FC236}">
                <a16:creationId xmlns:a16="http://schemas.microsoft.com/office/drawing/2014/main" id="{C2FBDC98-90F8-4644-A78A-7B5F588B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24" name="HP1">
            <a:extLst xmlns:a="http://schemas.openxmlformats.org/drawingml/2006/main">
              <a:ext uri="{FF2B5EF4-FFF2-40B4-BE49-F238E27FC236}">
                <a16:creationId xmlns:a16="http://schemas.microsoft.com/office/drawing/2014/main" id="{846E5060-BED3-4D6D-A2BC-BDCE57F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HP1</a:t>
            </a:r>
          </a:p>
        </p:txBody>
      </p:sp>
      <p:sp>
        <p:nvSpPr>
          <p:cNvPr id="125" name="175°C">
            <a:extLst xmlns:a="http://schemas.openxmlformats.org/drawingml/2006/main">
              <a:ext uri="{FF2B5EF4-FFF2-40B4-BE49-F238E27FC236}">
                <a16:creationId xmlns:a16="http://schemas.microsoft.com/office/drawing/2014/main" id="{9707B772-65E5-48D8-B23E-578358BD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175°C</a:t>
            </a:r>
          </a:p>
        </p:txBody>
      </p:sp>
      <p:sp>
        <p:nvSpPr>
          <p:cNvPr id="126" name="Pump turbine">
            <a:extLst xmlns:a="http://schemas.openxmlformats.org/drawingml/2006/main">
              <a:ext uri="{FF2B5EF4-FFF2-40B4-BE49-F238E27FC236}">
                <a16:creationId xmlns:a16="http://schemas.microsoft.com/office/drawing/2014/main" id="{BA9C00EB-3ED2-4BCA-9FB4-51932660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915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Pump turbine</a:t>
            </a:r>
          </a:p>
        </p:txBody>
      </p:sp>
      <p:sp>
        <p:nvSpPr>
          <p:cNvPr id="127" name="1.00 MPa">
            <a:extLst xmlns:a="http://schemas.openxmlformats.org/drawingml/2006/main">
              <a:ext uri="{FF2B5EF4-FFF2-40B4-BE49-F238E27FC236}">
                <a16:creationId xmlns:a16="http://schemas.microsoft.com/office/drawing/2014/main" id="{C081DA98-B25C-4689-BA30-CA61D235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239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1.00 MPa</a:t>
            </a:r>
          </a:p>
        </p:txBody>
      </p:sp>
      <p:sp>
        <p:nvSpPr>
          <p:cNvPr id="128" name="path-75">
            <a:extLst xmlns:a="http://schemas.openxmlformats.org/drawingml/2006/main">
              <a:ext uri="{FF2B5EF4-FFF2-40B4-BE49-F238E27FC236}">
                <a16:creationId xmlns:a16="http://schemas.microsoft.com/office/drawing/2014/main" id="{B03B0C58-BBC5-4AA2-9B8D-604AC82A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7543800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29" name="flow arrow-76">
            <a:extLst xmlns:a="http://schemas.openxmlformats.org/drawingml/2006/main">
              <a:ext uri="{FF2B5EF4-FFF2-40B4-BE49-F238E27FC236}">
                <a16:creationId xmlns:a16="http://schemas.microsoft.com/office/drawing/2014/main" id="{F73EB149-E6CD-4620-9E16-20EAD4B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30" name="rect-77">
            <a:extLst xmlns:a="http://schemas.openxmlformats.org/drawingml/2006/main">
              <a:ext uri="{FF2B5EF4-FFF2-40B4-BE49-F238E27FC236}">
                <a16:creationId xmlns:a16="http://schemas.microsoft.com/office/drawing/2014/main" id="{4528ABA4-1200-493F-ACE8-E99B7C09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31" name="LP3">
            <a:extLst xmlns:a="http://schemas.openxmlformats.org/drawingml/2006/main">
              <a:ext uri="{FF2B5EF4-FFF2-40B4-BE49-F238E27FC236}">
                <a16:creationId xmlns:a16="http://schemas.microsoft.com/office/drawing/2014/main" id="{5EFCF5E4-C66B-4151-B9DE-664A05F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LP3</a:t>
            </a:r>
          </a:p>
        </p:txBody>
      </p:sp>
      <p:sp>
        <p:nvSpPr>
          <p:cNvPr id="132" name="107°C">
            <a:extLst xmlns:a="http://schemas.openxmlformats.org/drawingml/2006/main">
              <a:ext uri="{FF2B5EF4-FFF2-40B4-BE49-F238E27FC236}">
                <a16:creationId xmlns:a16="http://schemas.microsoft.com/office/drawing/2014/main" id="{B9A3E41A-C8B6-4F5C-8172-99CD0D0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107°C</a:t>
            </a:r>
          </a:p>
        </p:txBody>
      </p:sp>
      <p:sp>
        <p:nvSpPr>
          <p:cNvPr id="133" name="0.155 MPa">
            <a:extLst xmlns:a="http://schemas.openxmlformats.org/drawingml/2006/main">
              <a:ext uri="{FF2B5EF4-FFF2-40B4-BE49-F238E27FC236}">
                <a16:creationId xmlns:a16="http://schemas.microsoft.com/office/drawing/2014/main" id="{3545B764-7F5E-489E-A2C6-DE5C38F8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726757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0.155 MPa</a:t>
            </a:r>
          </a:p>
        </p:txBody>
      </p:sp>
      <p:sp>
        <p:nvSpPr>
          <p:cNvPr id="134" name="path-78">
            <a:extLst xmlns:a="http://schemas.openxmlformats.org/drawingml/2006/main">
              <a:ext uri="{FF2B5EF4-FFF2-40B4-BE49-F238E27FC236}">
                <a16:creationId xmlns:a16="http://schemas.microsoft.com/office/drawing/2014/main" id="{4C6AE6C3-CBF9-49E7-BAE6-126AA6B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758190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35" name="flow arrow-79">
            <a:extLst xmlns:a="http://schemas.openxmlformats.org/drawingml/2006/main">
              <a:ext uri="{FF2B5EF4-FFF2-40B4-BE49-F238E27FC236}">
                <a16:creationId xmlns:a16="http://schemas.microsoft.com/office/drawing/2014/main" id="{ADA946FA-7EA9-42F5-B4E2-9487579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36" name="path-80">
            <a:extLst xmlns:a="http://schemas.openxmlformats.org/drawingml/2006/main">
              <a:ext uri="{FF2B5EF4-FFF2-40B4-BE49-F238E27FC236}">
                <a16:creationId xmlns:a16="http://schemas.microsoft.com/office/drawing/2014/main" id="{ACBAC954-C80A-4C50-A556-DDE7307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37" name="flow arrow-81">
            <a:extLst xmlns:a="http://schemas.openxmlformats.org/drawingml/2006/main">
              <a:ext uri="{FF2B5EF4-FFF2-40B4-BE49-F238E27FC236}">
                <a16:creationId xmlns:a16="http://schemas.microsoft.com/office/drawing/2014/main" id="{2C4230BE-5EBF-4731-B478-8576B667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38" name="rect-82">
            <a:extLst xmlns:a="http://schemas.openxmlformats.org/drawingml/2006/main">
              <a:ext uri="{FF2B5EF4-FFF2-40B4-BE49-F238E27FC236}">
                <a16:creationId xmlns:a16="http://schemas.microsoft.com/office/drawing/2014/main" id="{96D9F857-B61A-4729-8566-A92E71E1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39" name="LP2">
            <a:extLst xmlns:a="http://schemas.openxmlformats.org/drawingml/2006/main">
              <a:ext uri="{FF2B5EF4-FFF2-40B4-BE49-F238E27FC236}">
                <a16:creationId xmlns:a16="http://schemas.microsoft.com/office/drawing/2014/main" id="{4D55403B-6E00-44BB-8620-28F94EE9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LP2</a:t>
            </a:r>
          </a:p>
        </p:txBody>
      </p:sp>
      <p:sp>
        <p:nvSpPr>
          <p:cNvPr id="140" name="95°C">
            <a:extLst xmlns:a="http://schemas.openxmlformats.org/drawingml/2006/main">
              <a:ext uri="{FF2B5EF4-FFF2-40B4-BE49-F238E27FC236}">
                <a16:creationId xmlns:a16="http://schemas.microsoft.com/office/drawing/2014/main" id="{DD54624C-820E-4FD2-9DDF-CEE814AF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95°C</a:t>
            </a:r>
          </a:p>
        </p:txBody>
      </p:sp>
      <p:sp>
        <p:nvSpPr>
          <p:cNvPr id="141" name="0.100 MPa">
            <a:extLst xmlns:a="http://schemas.openxmlformats.org/drawingml/2006/main">
              <a:ext uri="{FF2B5EF4-FFF2-40B4-BE49-F238E27FC236}">
                <a16:creationId xmlns:a16="http://schemas.microsoft.com/office/drawing/2014/main" id="{89E9500F-2678-40FA-83EF-3C2E518C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726757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0.100 MPa</a:t>
            </a:r>
          </a:p>
        </p:txBody>
      </p:sp>
      <p:sp>
        <p:nvSpPr>
          <p:cNvPr id="142" name="path-83">
            <a:extLst xmlns:a="http://schemas.openxmlformats.org/drawingml/2006/main">
              <a:ext uri="{FF2B5EF4-FFF2-40B4-BE49-F238E27FC236}">
                <a16:creationId xmlns:a16="http://schemas.microsoft.com/office/drawing/2014/main" id="{7FA35A49-282B-4322-A6D3-0096ACBA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758190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43" name="flow arrow-84">
            <a:extLst xmlns:a="http://schemas.openxmlformats.org/drawingml/2006/main">
              <a:ext uri="{FF2B5EF4-FFF2-40B4-BE49-F238E27FC236}">
                <a16:creationId xmlns:a16="http://schemas.microsoft.com/office/drawing/2014/main" id="{7D36C8B1-6C26-4464-8195-3BDF46C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44" name="path-85">
            <a:extLst xmlns:a="http://schemas.openxmlformats.org/drawingml/2006/main">
              <a:ext uri="{FF2B5EF4-FFF2-40B4-BE49-F238E27FC236}">
                <a16:creationId xmlns:a16="http://schemas.microsoft.com/office/drawing/2014/main" id="{3ED166EE-058F-4BF3-99E9-689A2A15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01000"/>
            <a:ext cx="428625" cy="9525"/>
          </a:xfrm>
          <a:custGeom xmlns:a="http://schemas.openxmlformats.org/drawingml/2006/main">
            <a:pathLst>
              <a:path w="428625" h="952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45" name="flow arrow-86">
            <a:extLst xmlns:a="http://schemas.openxmlformats.org/drawingml/2006/main">
              <a:ext uri="{FF2B5EF4-FFF2-40B4-BE49-F238E27FC236}">
                <a16:creationId xmlns:a16="http://schemas.microsoft.com/office/drawing/2014/main" id="{495AB6B8-D997-44C7-B512-2FCC9592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533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46" name="rect-87">
            <a:extLst xmlns:a="http://schemas.openxmlformats.org/drawingml/2006/main">
              <a:ext uri="{FF2B5EF4-FFF2-40B4-BE49-F238E27FC236}">
                <a16:creationId xmlns:a16="http://schemas.microsoft.com/office/drawing/2014/main" id="{14809CEE-A1AD-4DD9-8CD2-890DDE6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7762875"/>
            <a:ext cx="1095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83044"/>
            </a:solidFill>
            <a:prstDash val="solid"/>
          </a:ln>
        </p:spPr>
      </p:sp>
      <p:sp>
        <p:nvSpPr>
          <p:cNvPr id="147" name="LP1">
            <a:extLst xmlns:a="http://schemas.openxmlformats.org/drawingml/2006/main">
              <a:ext uri="{FF2B5EF4-FFF2-40B4-BE49-F238E27FC236}">
                <a16:creationId xmlns:a16="http://schemas.microsoft.com/office/drawing/2014/main" id="{0C3CEBB9-7007-4436-87C7-91637119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78105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LP1</a:t>
            </a:r>
          </a:p>
        </p:txBody>
      </p:sp>
      <p:sp>
        <p:nvSpPr>
          <p:cNvPr id="148" name="64°C">
            <a:extLst xmlns:a="http://schemas.openxmlformats.org/drawingml/2006/main">
              <a:ext uri="{FF2B5EF4-FFF2-40B4-BE49-F238E27FC236}">
                <a16:creationId xmlns:a16="http://schemas.microsoft.com/office/drawing/2014/main" id="{92C89803-DB38-4C37-932C-5024811C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83534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64°C</a:t>
            </a:r>
          </a:p>
        </p:txBody>
      </p:sp>
      <p:sp>
        <p:nvSpPr>
          <p:cNvPr id="149" name="0.030 MPa">
            <a:extLst xmlns:a="http://schemas.openxmlformats.org/drawingml/2006/main">
              <a:ext uri="{FF2B5EF4-FFF2-40B4-BE49-F238E27FC236}">
                <a16:creationId xmlns:a16="http://schemas.microsoft.com/office/drawing/2014/main" id="{09B3A7FF-461A-46A7-9E49-0A5DFC48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726757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0.030 MPa</a:t>
            </a:r>
          </a:p>
        </p:txBody>
      </p:sp>
      <p:sp>
        <p:nvSpPr>
          <p:cNvPr id="150" name="path-88">
            <a:extLst xmlns:a="http://schemas.openxmlformats.org/drawingml/2006/main">
              <a:ext uri="{FF2B5EF4-FFF2-40B4-BE49-F238E27FC236}">
                <a16:creationId xmlns:a16="http://schemas.microsoft.com/office/drawing/2014/main" id="{1E7F2095-BD77-4A39-BE82-D75FE2C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758190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67228"/>
            </a:solidFill>
            <a:prstDash val="solid"/>
          </a:ln>
        </p:spPr>
      </p:sp>
      <p:sp>
        <p:nvSpPr>
          <p:cNvPr id="151" name="flow arrow-89">
            <a:extLst xmlns:a="http://schemas.openxmlformats.org/drawingml/2006/main">
              <a:ext uri="{FF2B5EF4-FFF2-40B4-BE49-F238E27FC236}">
                <a16:creationId xmlns:a16="http://schemas.microsoft.com/office/drawing/2014/main" id="{DC095DA2-58C4-45DB-91D7-B33792D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7648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67228"/>
          </a:solidFill>
          <a:ln xmlns:a="http://schemas.openxmlformats.org/drawingml/2006/main" w="9525">
            <a:solidFill>
              <a:srgbClr val="967228"/>
            </a:solidFill>
            <a:prstDash val="solid"/>
          </a:ln>
        </p:spPr>
      </p:sp>
      <p:sp>
        <p:nvSpPr>
          <p:cNvPr id="152" name="path-90">
            <a:extLst xmlns:a="http://schemas.openxmlformats.org/drawingml/2006/main">
              <a:ext uri="{FF2B5EF4-FFF2-40B4-BE49-F238E27FC236}">
                <a16:creationId xmlns:a16="http://schemas.microsoft.com/office/drawing/2014/main" id="{04C8CB0C-4598-4801-A301-687C38A0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904875" cy="2286000"/>
          </a:xfrm>
          <a:custGeom xmlns:a="http://schemas.openxmlformats.org/drawingml/2006/main">
            <a:pathLst>
              <a:path w="904875" h="2286000">
                <a:moveTo>
                  <a:pt x="428625" y="2286000"/>
                </a:moveTo>
                <a:lnTo>
                  <a:pt x="0" y="2286000"/>
                </a:lnTo>
                <a:lnTo>
                  <a:pt x="0" y="1123950"/>
                </a:lnTo>
                <a:lnTo>
                  <a:pt x="904875" y="1123950"/>
                </a:ln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53" name="flow arrow-91">
            <a:extLst xmlns:a="http://schemas.openxmlformats.org/drawingml/2006/main">
              <a:ext uri="{FF2B5EF4-FFF2-40B4-BE49-F238E27FC236}">
                <a16:creationId xmlns:a16="http://schemas.microsoft.com/office/drawing/2014/main" id="{6245BCC8-8935-4A76-B607-FBF459D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66C9A"/>
          </a:solidFill>
          <a:ln xmlns:a="http://schemas.openxmlformats.org/drawingml/2006/main" w="9525">
            <a:solidFill>
              <a:srgbClr val="166C9A"/>
            </a:solidFill>
            <a:prstDash val="solid"/>
          </a:ln>
        </p:spPr>
      </p:sp>
      <p:sp>
        <p:nvSpPr>
          <p:cNvPr id="154" name="Feedwater → SG / 24 MPa • 287°C">
            <a:extLst xmlns:a="http://schemas.openxmlformats.org/drawingml/2006/main">
              <a:ext uri="{FF2B5EF4-FFF2-40B4-BE49-F238E27FC236}">
                <a16:creationId xmlns:a16="http://schemas.microsoft.com/office/drawing/2014/main" id="{41A9AAD8-343E-48E9-A23A-E1B30844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200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Feedwater → SG</a:t>
            </a:r>
          </a:p>
          <a:p xmlns:a="http://schemas.openxmlformats.org/drawingml/2006/main">
            <a:pPr algn="l">
              <a:defRPr sz="1875" b="1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C9A"/>
                </a:solidFill>
                <a:latin typeface="Arial"/>
                <a:ea typeface="Arial"/>
                <a:cs typeface="Arial"/>
              </a:rPr>
              <a:t>24 MPa • 287°C</a:t>
            </a:r>
          </a:p>
        </p:txBody>
      </p:sp>
      <p:sp>
        <p:nvSpPr>
          <p:cNvPr id="155" name="24 MPa / 163°C">
            <a:extLst xmlns:a="http://schemas.openxmlformats.org/drawingml/2006/main">
              <a:ext uri="{FF2B5EF4-FFF2-40B4-BE49-F238E27FC236}">
                <a16:creationId xmlns:a16="http://schemas.microsoft.com/office/drawing/2014/main" id="{A0DD19BC-8BA9-4948-A0D6-52974C79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72525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24 MPa</a:t>
            </a:r>
          </a:p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163°C</a:t>
            </a:r>
          </a:p>
        </p:txBody>
      </p:sp>
      <p:sp>
        <p:nvSpPr>
          <p:cNvPr id="156" name="0.72 MPa / 33°C">
            <a:extLst xmlns:a="http://schemas.openxmlformats.org/drawingml/2006/main">
              <a:ext uri="{FF2B5EF4-FFF2-40B4-BE49-F238E27FC236}">
                <a16:creationId xmlns:a16="http://schemas.microsoft.com/office/drawing/2014/main" id="{85A03273-109A-42E4-91F8-573208A8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86582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0.72 MPa</a:t>
            </a:r>
          </a:p>
          <a:p xmlns:a="http://schemas.openxmlformats.org/drawingml/2006/main">
            <a:pPr algn="ctr">
              <a:defRPr sz="187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33°C</a:t>
            </a:r>
          </a:p>
        </p:txBody>
      </p:sp>
      <p:sp>
        <p:nvSpPr>
          <p:cNvPr id="157" name="HP feedwater heaters">
            <a:extLst xmlns:a="http://schemas.openxmlformats.org/drawingml/2006/main">
              <a:ext uri="{FF2B5EF4-FFF2-40B4-BE49-F238E27FC236}">
                <a16:creationId xmlns:a16="http://schemas.microsoft.com/office/drawing/2014/main" id="{C065CD38-08AB-4E85-A074-08B8E335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47700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HP feedwater heaters</a:t>
            </a:r>
          </a:p>
        </p:txBody>
      </p:sp>
      <p:sp>
        <p:nvSpPr>
          <p:cNvPr id="158" name="LP feedwater heaters">
            <a:extLst xmlns:a="http://schemas.openxmlformats.org/drawingml/2006/main">
              <a:ext uri="{FF2B5EF4-FFF2-40B4-BE49-F238E27FC236}">
                <a16:creationId xmlns:a16="http://schemas.microsoft.com/office/drawing/2014/main" id="{4926CF05-F063-4E7A-AA6E-79472C0E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67532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044"/>
                </a:solidFill>
                <a:latin typeface="Arial"/>
                <a:ea typeface="Arial"/>
                <a:cs typeface="Arial"/>
              </a:rPr>
              <a:t>LP feedwater heaters</a:t>
            </a:r>
          </a:p>
        </p:txBody>
      </p:sp>
      <p:sp>
        <p:nvSpPr>
          <p:cNvPr id="159" name="LP turbine bleeds">
            <a:extLst xmlns:a="http://schemas.openxmlformats.org/drawingml/2006/main">
              <a:ext uri="{FF2B5EF4-FFF2-40B4-BE49-F238E27FC236}">
                <a16:creationId xmlns:a16="http://schemas.microsoft.com/office/drawing/2014/main" id="{34B70348-F1AB-4D3F-9D3B-93B294F2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05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LP turbine bleeds</a:t>
            </a:r>
          </a:p>
        </p:txBody>
      </p:sp>
      <p:sp>
        <p:nvSpPr>
          <p:cNvPr id="160" name="Water outlet temperatures shown below heaters">
            <a:extLst xmlns:a="http://schemas.openxmlformats.org/drawingml/2006/main">
              <a:ext uri="{FF2B5EF4-FFF2-40B4-BE49-F238E27FC236}">
                <a16:creationId xmlns:a16="http://schemas.microsoft.com/office/drawing/2014/main" id="{B3D3978D-C62C-47D6-9690-89F49417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880110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Water outlet temperatures shown below heaters</a:t>
            </a:r>
          </a:p>
        </p:txBody>
      </p:sp>
      <p:sp>
        <p:nvSpPr>
          <p:cNvPr id="161" name="rect-92">
            <a:extLst xmlns:a="http://schemas.openxmlformats.org/drawingml/2006/main">
              <a:ext uri="{FF2B5EF4-FFF2-40B4-BE49-F238E27FC236}">
                <a16:creationId xmlns:a16="http://schemas.microsoft.com/office/drawing/2014/main" id="{1F895603-3D6E-491D-A926-1C1BB907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477375"/>
            <a:ext cx="1729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93">
            <a:extLst xmlns:a="http://schemas.openxmlformats.org/drawingml/2006/main">
              <a:ext uri="{FF2B5EF4-FFF2-40B4-BE49-F238E27FC236}">
                <a16:creationId xmlns:a16="http://schemas.microsoft.com/office/drawing/2014/main" id="{7683B554-D3FA-4273-A929-BCD26A9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44722"/>
            </a:solidFill>
            <a:prstDash val="solid"/>
          </a:ln>
        </p:spPr>
      </p:sp>
      <p:sp>
        <p:nvSpPr>
          <p:cNvPr id="163" name="Steam">
            <a:extLst xmlns:a="http://schemas.openxmlformats.org/drawingml/2006/main">
              <a:ext uri="{FF2B5EF4-FFF2-40B4-BE49-F238E27FC236}">
                <a16:creationId xmlns:a16="http://schemas.microsoft.com/office/drawing/2014/main" id="{A050685E-CB0B-4AE3-8BA0-1966AEC8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96012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447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4722"/>
                </a:solidFill>
                <a:latin typeface="Arial"/>
                <a:ea typeface="Arial"/>
                <a:cs typeface="Arial"/>
              </a:rPr>
              <a:t>Steam</a:t>
            </a:r>
          </a:p>
        </p:txBody>
      </p:sp>
      <p:sp>
        <p:nvSpPr>
          <p:cNvPr id="164" name="path-94">
            <a:extLst xmlns:a="http://schemas.openxmlformats.org/drawingml/2006/main">
              <a:ext uri="{FF2B5EF4-FFF2-40B4-BE49-F238E27FC236}">
                <a16:creationId xmlns:a16="http://schemas.microsoft.com/office/drawing/2014/main" id="{20AE3CEE-5044-4011-86DD-561E166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6C9A"/>
            </a:solidFill>
            <a:prstDash val="solid"/>
          </a:ln>
        </p:spPr>
      </p:sp>
      <p:sp>
        <p:nvSpPr>
          <p:cNvPr id="165" name="Water">
            <a:extLst xmlns:a="http://schemas.openxmlformats.org/drawingml/2006/main">
              <a:ext uri="{FF2B5EF4-FFF2-40B4-BE49-F238E27FC236}">
                <a16:creationId xmlns:a16="http://schemas.microsoft.com/office/drawing/2014/main" id="{8A47A294-74A3-41F2-8011-B9FC33D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96012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6C9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6C9A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166" name="path-95">
            <a:extLst xmlns:a="http://schemas.openxmlformats.org/drawingml/2006/main">
              <a:ext uri="{FF2B5EF4-FFF2-40B4-BE49-F238E27FC236}">
                <a16:creationId xmlns:a16="http://schemas.microsoft.com/office/drawing/2014/main" id="{D52B0A39-12A1-4546-86DD-63F56ADF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76312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67228"/>
            </a:solidFill>
            <a:prstDash val="solid"/>
          </a:ln>
        </p:spPr>
      </p:sp>
      <p:sp>
        <p:nvSpPr>
          <p:cNvPr id="167" name="Heating / extraction">
            <a:extLst xmlns:a="http://schemas.openxmlformats.org/drawingml/2006/main">
              <a:ext uri="{FF2B5EF4-FFF2-40B4-BE49-F238E27FC236}">
                <a16:creationId xmlns:a16="http://schemas.microsoft.com/office/drawing/2014/main" id="{78027094-C686-4493-965B-85EE71A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9601200"/>
            <a:ext cx="262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9672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67228"/>
                </a:solidFill>
                <a:latin typeface="Arial"/>
                <a:ea typeface="Arial"/>
                <a:cs typeface="Arial"/>
              </a:rPr>
              <a:t>Heating / extraction</a:t>
            </a:r>
          </a:p>
        </p:txBody>
      </p:sp>
      <p:sp>
        <p:nvSpPr>
          <p:cNvPr id="168" name="Pressures absolute • Gross output; net auxiliaries pending">
            <a:extLst xmlns:a="http://schemas.openxmlformats.org/drawingml/2006/main">
              <a:ext uri="{FF2B5EF4-FFF2-40B4-BE49-F238E27FC236}">
                <a16:creationId xmlns:a16="http://schemas.microsoft.com/office/drawing/2014/main" id="{F78AAB8A-129F-4F5B-9EA4-E6D855F0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582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800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Pressures absolute • Gross output; net auxiliaries pending</a:t>
            </a:r>
          </a:p>
        </p:txBody>
      </p:sp>
      <p:sp>
        <p:nvSpPr>
          <p:cNvPr id="169" name="¹ Heating return throttles into HP4. Heater drains cascade to deaerator (HP) / condenser (LP); small lines summarized.">
            <a:extLst xmlns:a="http://schemas.openxmlformats.org/drawingml/2006/main">
              <a:ext uri="{FF2B5EF4-FFF2-40B4-BE49-F238E27FC236}">
                <a16:creationId xmlns:a16="http://schemas.microsoft.com/office/drawing/2014/main" id="{A9CDCCB0-166D-458C-9B1A-8653A78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53625"/>
            <a:ext cx="1724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A68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6874"/>
                </a:solidFill>
                <a:latin typeface="Arial"/>
                <a:ea typeface="Arial"/>
                <a:cs typeface="Arial"/>
              </a:rPr>
              <a:t>¹ Heating return throttles into HP4. Heater drains cascade to deaerator (HP) / condenser (LP); small lines summarized.</a:t>
            </a:r>
          </a:p>
        </p:txBody>
      </p:sp>
    </p:spTree>
    <p:extLst>
      <p:ext uri="{BB962C8B-B14F-4D97-AF65-F5344CB8AC3E}">
        <p14:creationId xmlns:p14="http://schemas.microsoft.com/office/powerpoint/2010/main" val="40425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2026-10-11T21:50:55.5170000Z</dcterms:created>
  <dcterms:modified xsi:type="dcterms:W3CDTF">2026-10-11T21:50:55.5170000Z</dcterms:modified>
</coreProperties>
</file>